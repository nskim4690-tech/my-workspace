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2468879"/>
            <a:ext cx="6583680" cy="65836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926079"/>
            <a:ext cx="5669280" cy="56692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383279"/>
            <a:ext cx="4754880" cy="47548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840479"/>
            <a:ext cx="3840480" cy="38404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297679"/>
            <a:ext cx="2926080" cy="29260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4754879"/>
            <a:ext cx="2011680" cy="20116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5212079"/>
            <a:ext cx="1097280" cy="10972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97312" y="5650992"/>
            <a:ext cx="219456" cy="219456"/>
          </a:xfrm>
          <a:prstGeom prst="ellipse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"/>
            <a:ext cx="1280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44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5200" b="1" i="0">
                <a:solidFill>
                  <a:srgbClr val="FBF6EC"/>
                </a:solidFill>
                <a:latin typeface="Cambria"/>
              </a:rPr>
              <a:t>목재의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50" b="0" i="0">
                <a:solidFill>
                  <a:srgbClr val="D9BC94"/>
                </a:solidFill>
                <a:latin typeface="Calibri"/>
              </a:rPr>
              <a:t>나무의 특성부터 가공·접합·마감, 목재 구매까지 — 책 전체 17개 장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D6E4B"/>
                </a:solidFill>
                <a:latin typeface="Calibri"/>
              </a:rPr>
              <a:t>고등학생 · 목공 입문자를 위한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CONTENTS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목차 (1장 ~ 9장)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81328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81328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생장·조직·분류, 밀도와 비중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11680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무늬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옹이·이상재·균류·곤충피해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42032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42032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식별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42032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색상·조직·도관 배열로 수종 구분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72384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72384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72384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72384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압축·인장·휨강도와 구조 등급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02736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02736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목재의 다른 특성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02736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열전도·연소·형광성·심리적 특성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33087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33087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33087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목재와 수분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133087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자유수·결합수·함수율·평형함수율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63440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663440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치수변화와 대처법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63440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수축률·팽윤율과 실무 대응법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93792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93792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193792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건조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193792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천연건조·인공건조·제재목 보관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724144"/>
            <a:ext cx="11247120" cy="420623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24144"/>
            <a:ext cx="5029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724144"/>
            <a:ext cx="347472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절삭과 휨가공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5724144"/>
            <a:ext cx="65836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결 방향 절삭, 증기휨·적층휨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CONTENTS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목차 (10장 ~ 17장)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접합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08760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이음의 기본 형태와 체결접합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12264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12264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12264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접착과 접착제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12264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PVA·에폭시·폴리우레탄 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5768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5768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도장과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15768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표면 마감 방식과 보존처리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19272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19272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제재목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319272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제재 방식과 등급(정목·판목)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22776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22776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22776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단판과 합판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22776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단판 제조와 합판의 구조·등급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26280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26280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복합재 패널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526280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파티클보드·OSB·섬유판(MDF)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9783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29783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129783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집성접합 제재목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129783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구조용 집성재(Glulam)와 I자보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33288"/>
            <a:ext cx="11247120" cy="475488"/>
          </a:xfrm>
          <a:prstGeom prst="roundRect">
            <a:avLst>
              <a:gd name="adj" fmla="val 16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733288"/>
            <a:ext cx="594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33288"/>
            <a:ext cx="3474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2A1D16"/>
                </a:solidFill>
                <a:latin typeface="Calibri"/>
              </a:rPr>
              <a:t>목재 구매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733288"/>
            <a:ext cx="6583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제재율, 구매처, 구매 체크포인트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1장  목재 특성 · 식물학적 기원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30000"/>
              </a:lnSpc>
              <a:spcAft>
                <a:spcPts val="1200"/>
              </a:spcAft>
              <a:buFont typeface="Arial"/>
              <a:buChar char="•"/>
            </a:pPr>
            <a:r>
              <a:rPr sz="1500" b="0">
                <a:solidFill>
                  <a:srgbClr val="2A1D16"/>
                </a:solidFill>
                <a:latin typeface="Calibri"/>
              </a:rPr>
              <a:t>목재는 살아 있는 나무의 줄기(수간)를 이루는 세포 조직이다.</a:t>
            </a:r>
          </a:p>
          <a:p>
            <a:pPr algn="l" indent="-182880" marL="182880">
              <a:lnSpc>
                <a:spcPct val="130000"/>
              </a:lnSpc>
              <a:spcAft>
                <a:spcPts val="1200"/>
              </a:spcAft>
              <a:buFont typeface="Arial"/>
              <a:buChar char="•"/>
            </a:pPr>
            <a:r>
              <a:rPr sz="1500" b="0">
                <a:solidFill>
                  <a:srgbClr val="2A1D16"/>
                </a:solidFill>
                <a:latin typeface="Calibri"/>
              </a:rPr>
              <a:t>뿌리가 흡수한 물·양분과 잎의 광합성 산물을 이용해 형성층이 매년 새로운 목질 세포를 만들어낸다.</a:t>
            </a:r>
          </a:p>
          <a:p>
            <a:pPr algn="l" indent="-182880" marL="182880">
              <a:lnSpc>
                <a:spcPct val="130000"/>
              </a:lnSpc>
              <a:spcAft>
                <a:spcPts val="1200"/>
              </a:spcAft>
              <a:buFont typeface="Arial"/>
              <a:buChar char="•"/>
            </a:pPr>
            <a:r>
              <a:rPr sz="1500" b="0">
                <a:solidFill>
                  <a:srgbClr val="2A1D16"/>
                </a:solidFill>
                <a:latin typeface="Calibri"/>
              </a:rPr>
              <a:t>이렇게 쌓인 세포층이 나이테가 되며, 목재 한 조각에는 그 나무가 자란 시간과 환경이 기록된다.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59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나무가 자라는 원리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23317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400" b="0" i="0">
                <a:solidFill>
                  <a:srgbClr val="2A1D16"/>
                </a:solidFill>
                <a:latin typeface="Calibri"/>
              </a:rPr>
              <a:t>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3317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햇빛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32461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400" b="0" i="0">
                <a:solidFill>
                  <a:srgbClr val="2A1D16"/>
                </a:solidFill>
                <a:latin typeface="Calibri"/>
              </a:rPr>
              <a:t>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2461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이산화탄소</a:t>
            </a:r>
          </a:p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(잎에서 흡수)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41605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4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1605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물·양분</a:t>
            </a:r>
          </a:p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(뿌리에서 흡수)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81159" y="3291839"/>
            <a:ext cx="822960" cy="548640"/>
          </a:xfrm>
          <a:prstGeom prst="rightArrow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95559" y="2971800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59" y="3017520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26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611880"/>
            <a:ext cx="1234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목질 세포</a:t>
            </a:r>
          </a:p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07492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8D6E4B"/>
                </a:solidFill>
                <a:latin typeface="Calibri"/>
              </a:rPr>
              <a:t>→ 형성층에서 만들어진 세포가 매년 켜켜이 쌓여 나이테가 되고, 나무의 몸통(목재)을 이룬다.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1장  목재 특성 · 나무의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나무의 구조 — 수관 · 수간 · 뿌리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3474720" cy="18288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051560"/>
            <a:ext cx="2011680" cy="1371600"/>
          </a:xfrm>
          <a:prstGeom prst="ellipse">
            <a:avLst/>
          </a:prstGeom>
          <a:solidFill>
            <a:srgbClr val="82A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1554480"/>
            <a:ext cx="1737360" cy="1188720"/>
          </a:xfrm>
          <a:prstGeom prst="ellipse">
            <a:avLst/>
          </a:prstGeom>
          <a:solidFill>
            <a:srgbClr val="82A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3063240"/>
            <a:ext cx="640080" cy="1965960"/>
          </a:xfrm>
          <a:prstGeom prst="rect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1253891" y="5029200"/>
            <a:ext cx="1123549" cy="78671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691640" y="5029200"/>
            <a:ext cx="685800" cy="118784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139264" y="5029200"/>
            <a:ext cx="238176" cy="1350762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77440" y="5029200"/>
            <a:ext cx="238175" cy="1350762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5029200"/>
            <a:ext cx="685800" cy="118784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77440" y="5029200"/>
            <a:ext cx="1123548" cy="78671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240280" y="4892040"/>
            <a:ext cx="274320" cy="27432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57200" y="5029200"/>
            <a:ext cx="3840480" cy="0"/>
          </a:xfrm>
          <a:prstGeom prst="line">
            <a:avLst/>
          </a:prstGeom>
          <a:ln w="1905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77440" y="1737360"/>
            <a:ext cx="2286000" cy="0"/>
          </a:xfrm>
          <a:prstGeom prst="line">
            <a:avLst/>
          </a:prstGeom>
          <a:ln w="12700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40864" y="1700784"/>
            <a:ext cx="73152" cy="73152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880360" y="3931920"/>
            <a:ext cx="1783080" cy="0"/>
          </a:xfrm>
          <a:prstGeom prst="line">
            <a:avLst/>
          </a:prstGeom>
          <a:ln w="12700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843784" y="3895344"/>
            <a:ext cx="73152" cy="73152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377440" y="5394960"/>
            <a:ext cx="2286000" cy="411480"/>
          </a:xfrm>
          <a:prstGeom prst="line">
            <a:avLst/>
          </a:prstGeom>
          <a:ln w="12700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340864" y="5358384"/>
            <a:ext cx="73152" cy="73152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1417320"/>
            <a:ext cx="6675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52704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45601F"/>
                </a:solidFill>
                <a:latin typeface="Cambria"/>
              </a:rPr>
              <a:t>수관 (樹冠)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920240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2A1D16"/>
                </a:solidFill>
                <a:latin typeface="Calibri"/>
              </a:rPr>
              <a:t>가지와 잎이 모여있는 나무의 윗부분. 햇빛을 받아 광합성을 한다.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46120"/>
            <a:ext cx="6675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35584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8D6E4B"/>
                </a:solidFill>
                <a:latin typeface="Cambria"/>
              </a:rPr>
              <a:t>수간 (樹幹)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2A1D16"/>
                </a:solidFill>
                <a:latin typeface="Calibri"/>
              </a:rPr>
              <a:t>줄기, 즉 우리가 '목재'로 사용하는 부분. 물과 양분의 통로이자 몸을 지탱한다.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5212080"/>
            <a:ext cx="6675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532180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8D6E4B"/>
                </a:solidFill>
                <a:latin typeface="Cambria"/>
              </a:rPr>
              <a:t>뿌리 (根)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715000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2A1D16"/>
                </a:solidFill>
                <a:latin typeface="Calibri"/>
              </a:rPr>
              <a:t>땅속에서 물과 무기양분을 흡수하고, 나무를 지면에 고정시킨다.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1장  목재 특성 · 단면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수간의 단면 구조 — 나이테 들여다보기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4206240" cy="420624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53312" y="1993391"/>
            <a:ext cx="3877056" cy="3877056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148839"/>
            <a:ext cx="3566160" cy="3566160"/>
          </a:xfrm>
          <a:prstGeom prst="ellipse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240279"/>
            <a:ext cx="3383280" cy="3383280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5648" y="2395727"/>
            <a:ext cx="3072384" cy="3072384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11095" y="2551175"/>
            <a:ext cx="2761488" cy="2761488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66543" y="2706623"/>
            <a:ext cx="2450592" cy="2450592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21991" y="2862071"/>
            <a:ext cx="2139696" cy="2139696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7439" y="3017519"/>
            <a:ext cx="1828800" cy="1828800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32887" y="3172967"/>
            <a:ext cx="1517904" cy="1517904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88335" y="3328415"/>
            <a:ext cx="1207008" cy="1207008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43784" y="3483863"/>
            <a:ext cx="896112" cy="896112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03120" y="2743200"/>
            <a:ext cx="2377440" cy="2377440"/>
          </a:xfrm>
          <a:prstGeom prst="ellipse">
            <a:avLst/>
          </a:prstGeom>
          <a:solidFill>
            <a:srgbClr val="B89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94560" y="2834639"/>
            <a:ext cx="2194560" cy="2194560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0008" y="2990087"/>
            <a:ext cx="1883664" cy="1883664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05456" y="3145536"/>
            <a:ext cx="1572768" cy="1572768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60904" y="3300984"/>
            <a:ext cx="1261872" cy="1261872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16352" y="3456432"/>
            <a:ext cx="950975" cy="950975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71800" y="3611880"/>
            <a:ext cx="640079" cy="640079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27248" y="3767328"/>
            <a:ext cx="329183" cy="329183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18688" y="3858768"/>
            <a:ext cx="146304" cy="146304"/>
          </a:xfrm>
          <a:prstGeom prst="ellipse">
            <a:avLst/>
          </a:prstGeom>
          <a:solidFill>
            <a:srgbClr val="4A3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291840" y="3931920"/>
            <a:ext cx="1959101" cy="713054"/>
          </a:xfrm>
          <a:prstGeom prst="line">
            <a:avLst/>
          </a:prstGeom>
          <a:ln w="9525">
            <a:solidFill>
              <a:srgbClr val="7C5A34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9812" y="3931920"/>
            <a:ext cx="362028" cy="2053158"/>
          </a:xfrm>
          <a:prstGeom prst="line">
            <a:avLst/>
          </a:prstGeom>
          <a:ln w="9525">
            <a:solidFill>
              <a:srgbClr val="7C5A34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332738" y="3931920"/>
            <a:ext cx="1959102" cy="713054"/>
          </a:xfrm>
          <a:prstGeom prst="line">
            <a:avLst/>
          </a:prstGeom>
          <a:ln w="9525">
            <a:solidFill>
              <a:srgbClr val="7C5A34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78785" y="1972818"/>
            <a:ext cx="713055" cy="1959102"/>
          </a:xfrm>
          <a:prstGeom prst="line">
            <a:avLst/>
          </a:prstGeom>
          <a:ln w="9525">
            <a:solidFill>
              <a:srgbClr val="7C5A34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91840" y="2591815"/>
            <a:ext cx="1597073" cy="1340105"/>
          </a:xfrm>
          <a:prstGeom prst="line">
            <a:avLst/>
          </a:prstGeom>
          <a:ln w="9525">
            <a:solidFill>
              <a:srgbClr val="7C5A34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0" y="1444752"/>
            <a:ext cx="201168" cy="201168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13258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수피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1645920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바깥쪽 껍질. 나무를 보호한다.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2340864"/>
            <a:ext cx="201168" cy="201168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22199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형성층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542032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세포가 새로 만들어지는 얇은 층.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0" y="3236976"/>
            <a:ext cx="201168" cy="201168"/>
          </a:xfrm>
          <a:prstGeom prst="ellipse">
            <a:avLst/>
          </a:prstGeom>
          <a:solidFill>
            <a:srgbClr val="C9A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11810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변재 (백태)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438144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최근에 만들어진 부분. 수분이 이동해 색이 연하다.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4133087"/>
            <a:ext cx="201168" cy="201168"/>
          </a:xfrm>
          <a:prstGeom prst="ellipse">
            <a:avLst/>
          </a:prstGeom>
          <a:solidFill>
            <a:srgbClr val="9C7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4014215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심재 (속재)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334255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오래되어 색이 짙고 단단한 중심부. 강도가 높다.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0" y="5029200"/>
            <a:ext cx="201168" cy="201168"/>
          </a:xfrm>
          <a:prstGeom prst="ellipse">
            <a:avLst/>
          </a:prstGeom>
          <a:solidFill>
            <a:srgbClr val="B99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49103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나이테 · 방사조직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230368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생장 속도 차이로 생기는 나이테와, 그와 직각으로 뻗어 양분을 이동시키는 방사조직.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1장  목재 특성 · 계통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침엽수재와 활엽수재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5257800" cy="42976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20240"/>
            <a:ext cx="914400" cy="914400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400" b="0" i="0">
                <a:solidFill>
                  <a:srgbClr val="2A1D16"/>
                </a:solidFill>
                <a:latin typeface="Calibri"/>
              </a:rPr>
              <a:t>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3611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45601F"/>
                </a:solidFill>
                <a:latin typeface="Cambria"/>
              </a:rPr>
              <a:t>침엽수 (針葉樹)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나자식물 · 소프트우드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526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잎이 바늘처럼 뾰족하다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줄기가 곧고 높이 자란다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조직이 단순하고 가볍다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예: 소나무, 잣나무, 전나무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350" b="1">
                <a:solidFill>
                  <a:srgbClr val="45601F"/>
                </a:solidFill>
                <a:latin typeface="Calibri"/>
              </a:rPr>
              <a:t>→ 건축재, 종이 펄프에 많이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00200"/>
            <a:ext cx="5257800" cy="42976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79" y="1920240"/>
            <a:ext cx="914400" cy="91440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9202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400" b="0" i="0">
                <a:solidFill>
                  <a:srgbClr val="2A1D16"/>
                </a:solidFill>
                <a:latin typeface="Calibri"/>
              </a:rPr>
              <a:t>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20240"/>
            <a:ext cx="3611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활엽수 (闊葉樹)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4231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피자식물 · 하드우드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4526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잎이 넓고 평평하다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가지가 옆으로 넓게 퍼진다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조직이 치밀하고 단단하다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예: 참나무, 단풍나무, 자작나무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350" b="1">
                <a:solidFill>
                  <a:srgbClr val="8D6E4B"/>
                </a:solidFill>
                <a:latin typeface="Calibri"/>
              </a:rPr>
              <a:t>→ 가구, 마루판에 많이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1장  목재 특성 · 밀도와 비중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목재의 밀도와 비중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1" i="0">
                <a:solidFill>
                  <a:srgbClr val="45601F"/>
                </a:solidFill>
                <a:latin typeface="Calibri"/>
              </a:rPr>
              <a:t>밀도</a:t>
            </a:r>
            <a:r>
              <a:rPr sz="1450" b="0" i="0">
                <a:solidFill>
                  <a:srgbClr val="2A1D16"/>
                </a:solidFill>
                <a:latin typeface="Calibri"/>
              </a:rPr>
              <a:t>란 같은 부피에 들어있는 무게다. (밀도 = 질량 ÷ 부피)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1" i="0">
                <a:solidFill>
                  <a:srgbClr val="45601F"/>
                </a:solidFill>
                <a:latin typeface="Calibri"/>
              </a:rPr>
              <a:t>비중</a:t>
            </a:r>
            <a:r>
              <a:rPr sz="1450" b="0" i="0">
                <a:solidFill>
                  <a:srgbClr val="2A1D16"/>
                </a:solidFill>
                <a:latin typeface="Calibri"/>
              </a:rPr>
              <a:t>은 목재의 밀도를 물의 밀도와 비교한 값이다. 비중이 1보다 작으면 물에 뜨고, 크면 가라앉는다.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0" i="0">
                <a:solidFill>
                  <a:srgbClr val="2A1D16"/>
                </a:solidFill>
                <a:latin typeface="Calibri"/>
              </a:rPr>
              <a:t>같은 수종이라도 심재·변재, 생장 속도에 따라 밀도가 달라질 수 있다.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0" i="0">
                <a:solidFill>
                  <a:srgbClr val="2A1D16"/>
                </a:solidFill>
                <a:latin typeface="Calibri"/>
              </a:rPr>
              <a:t>일반적으로 </a:t>
            </a:r>
            <a:r>
              <a:rPr sz="1450" b="1" i="0">
                <a:solidFill>
                  <a:srgbClr val="2A1D16"/>
                </a:solidFill>
                <a:latin typeface="Calibri"/>
              </a:rPr>
              <a:t>밀도가 높을수록 단단하고 강도가 높은</a:t>
            </a:r>
            <a:r>
              <a:rPr sz="1450" b="0" i="0">
                <a:solidFill>
                  <a:srgbClr val="2A1D16"/>
                </a:solidFill>
                <a:latin typeface="Calibri"/>
              </a:rPr>
              <a:t> 경향이 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59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나무마다 다른 '뜨는 정도'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31720"/>
            <a:ext cx="4937760" cy="2011680"/>
          </a:xfrm>
          <a:prstGeom prst="roundRect">
            <a:avLst>
              <a:gd name="adj" fmla="val 6000"/>
            </a:avLst>
          </a:prstGeom>
          <a:solidFill>
            <a:srgbClr val="CF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0" y="2880360"/>
            <a:ext cx="4937760" cy="0"/>
          </a:xfrm>
          <a:prstGeom prst="line">
            <a:avLst/>
          </a:prstGeom>
          <a:ln w="19050">
            <a:solidFill>
              <a:srgbClr val="8FBE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10528" y="23865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3E7CB1"/>
                </a:solidFill>
                <a:latin typeface="Calibri"/>
              </a:rPr>
              <a:t>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6570" y="242316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9409" y="4453128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2A1D16"/>
                </a:solidFill>
                <a:latin typeface="Calibri"/>
              </a:rPr>
              <a:t>발사나무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9409" y="470001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비중 약 0.15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3900" y="265176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6740" y="4453128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2A1D16"/>
                </a:solidFill>
                <a:latin typeface="Calibri"/>
              </a:rPr>
              <a:t>소나무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6740" y="470001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비중 약 0.45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41230" y="283464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04069" y="4453128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2A1D16"/>
                </a:solidFill>
                <a:latin typeface="Calibri"/>
              </a:rPr>
              <a:t>참나무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4069" y="470001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비중 약 0.75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02005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1">
                <a:solidFill>
                  <a:srgbClr val="8D6E4B"/>
                </a:solidFill>
                <a:latin typeface="Calibri"/>
              </a:rPr>
              <a:t>※ 비중이 낮을수록(발사나무) 물 위로 많이 뜨고, 높을수록(참나무) 물에 깊이 잠긴다. (수치는 예시)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1장  목재 특성 · 생장률·조직·분류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생장률, 세포조직과 계통 분류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777240" cy="777240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800" b="0" i="0">
                <a:solidFill>
                  <a:srgbClr val="2A1D16"/>
                </a:solidFill>
                <a:latin typeface="Calibri"/>
              </a:rPr>
              <a:t>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4708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45601F"/>
                </a:solidFill>
                <a:latin typeface="Cambria"/>
              </a:rPr>
              <a:t>생장률과 나이테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63440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나이테 폭 = 그 해의 생장 속도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폭이 넓으면 빠르게, 좁으면 천천히 자란 것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생장 속도와 밀도의 관계는 수종마다 달라 일괄 적용은 어렵다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1828800"/>
            <a:ext cx="777240" cy="7772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288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800" b="0" i="0">
                <a:solidFill>
                  <a:srgbClr val="2A1D16"/>
                </a:solidFill>
                <a:latin typeface="Calibri"/>
              </a:rPr>
              <a:t>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4708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8D6E4B"/>
                </a:solidFill>
                <a:latin typeface="Cambria"/>
              </a:rPr>
              <a:t>계통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88920"/>
            <a:ext cx="4663440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나자식물(겉씨식물) → 침엽수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피자식물(속씨식물) → 활엽수</a:t>
            </a:r>
          </a:p>
          <a:p>
            <a:pPr algn="l" indent="-182880" marL="18288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잎·씨앗 구조의 차이가 목재 조직 차이로 이어진다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11247120" cy="21031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세포조직의 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45601F"/>
                </a:solidFill>
                <a:latin typeface="Calibri"/>
              </a:rPr>
              <a:t>침엽수 — 헛물관(가도관) 중심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헛물관(가도관, tracheid) 하나가 수분 이동과 지지 역할을 함께 담당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조직이 비교적 단순하고 규칙적이다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7091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8D6E4B"/>
                </a:solidFill>
                <a:latin typeface="Calibri"/>
              </a:rPr>
              <a:t>활엽수 — 도관 + 섬유의 분업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0292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도관(vessel, 물 이동 전담)과 섬유(fiber, 강도 담당)로 역할이 분리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방사조직이 발달해 독특한 표면 무늬(메디큘러 레이 등)를 만들기도 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2장  목재 무늬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무늬 — 옹이, 이상재, 균류, 곤충피해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목재의 무늬와 결함은 나무가 자란 과정을 보여주며, 강도와 가공성에도 영향을 준다.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옹이 (Knot)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가지가 박혀 생긴 부분. 살아있던 가지의 산옹이는 단단히 붙어있고, 죽은 가지의 사옹이는 잘 빠진다. 결이 흐트러져 주변 강도가 낮아진다.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938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6620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이상재 (Reaction Wood)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852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나무가 기울거나 바람에 대응해 만드는 비정상 조직. 침엽수는 압축이상재, 활엽수는 인장이상재가 생기며 치수변화가 크고 뒤틀리기 쉽다.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45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균류 (Fungi)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변색균은 색만 바꾸지만 부후균은 성분을 분해한다. 갈색부후는 셀룰로오스를, 백색부후는 리그닌까지 분해해 강도를 크게 떨어뜨린다.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938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9380" y="43845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6620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곤충피해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852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흰개미는 습한 구조재를, 개나무좀 등은 건조한 목재를 공격해 작은 구멍을 남긴다. 방충처리와 건조 유지로 예방한다.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3장  목재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식별 — 수종을 구별하는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30000"/>
              </a:lnSpc>
              <a:spcAft>
                <a:spcPts val="12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식별 특성: 색상, 향, 촉감(질감), 무게감으로 1차 구분</a:t>
            </a:r>
          </a:p>
          <a:p>
            <a:pPr algn="l" indent="-182880" marL="182880">
              <a:lnSpc>
                <a:spcPct val="130000"/>
              </a:lnSpc>
              <a:spcAft>
                <a:spcPts val="12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물리적 특성: 밀도, 경도(단단한 정도) 측정으로 보조 확인</a:t>
            </a:r>
          </a:p>
          <a:p>
            <a:pPr algn="l" indent="-182880" marL="182880">
              <a:lnSpc>
                <a:spcPct val="130000"/>
              </a:lnSpc>
              <a:spcAft>
                <a:spcPts val="12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목재기술: 현미경으로 세포조직·도관 배열을 관찰해 정확히 동정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59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도관 배열로 구분하기</a:t>
            </a:r>
          </a:p>
        </p:txBody>
      </p:sp>
      <p:sp>
        <p:nvSpPr>
          <p:cNvPr id="7" name="Oval 6"/>
          <p:cNvSpPr/>
          <p:nvPr/>
        </p:nvSpPr>
        <p:spPr>
          <a:xfrm>
            <a:off x="6446519" y="2606040"/>
            <a:ext cx="2103120" cy="2103120"/>
          </a:xfrm>
          <a:prstGeom prst="ellipse">
            <a:avLst/>
          </a:prstGeom>
          <a:solidFill>
            <a:srgbClr val="D9BC94"/>
          </a:solidFill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14639" y="3611880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49002" y="3941859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62083" y="4221603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82339" y="4408522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52359" y="4474159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22380" y="4408522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42636" y="4221603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5717" y="3941859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90080" y="3611880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55717" y="3281900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42636" y="3002156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2380" y="2815237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52359" y="2749600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82339" y="2815237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2083" y="3002156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49002" y="3281900"/>
            <a:ext cx="91440" cy="91440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19" y="2606040"/>
            <a:ext cx="2103120" cy="2103120"/>
          </a:xfrm>
          <a:prstGeom prst="ellipse">
            <a:avLst/>
          </a:prstGeom>
          <a:solidFill>
            <a:srgbClr val="D9BC94"/>
          </a:solidFill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9912" y="3525098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49356" y="3348155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97738" y="3877420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77435" y="3490249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34593" y="3965352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60243" y="3794133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83692" y="3738656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87804" y="4154406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45736" y="3130096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68942" y="3049592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34766" y="3886509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60302" y="3204175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77935" y="3691014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63099" y="3761188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27612" y="3113657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37727" y="3271641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45467" y="3177697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62555" y="3418364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04236" y="4111002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51423" y="3860170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42370" y="3980227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94385" y="4236051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82129" y="3980946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33603" y="3399457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09499" y="3266538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830082" y="3314906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040726" y="3568811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58224" y="4205778"/>
            <a:ext cx="82296" cy="82296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8920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2A1D16"/>
                </a:solidFill>
                <a:latin typeface="Calibri"/>
              </a:rPr>
              <a:t>환공재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8920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2A1D16"/>
                </a:solidFill>
                <a:latin typeface="Calibri"/>
              </a:rPr>
              <a:t>산공재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521208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환공재: 이른재에 큰 도관이 줄지어 분포 (예: 참나무, 느티나무)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산공재: 도관이 단면 전체에 고르게 분포 (예: 자작나무, 단풍나무)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4장  목재 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강도의 종류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같은 목재라도 힘을 받는 방향과 종류에 따라 견디는 정도가 크게 달라진다.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624328" cy="320040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500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종압축강도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71800"/>
            <a:ext cx="1709928" cy="502920"/>
          </a:xfrm>
          <a:prstGeom prst="roundRect">
            <a:avLst>
              <a:gd name="adj" fmla="val 8000"/>
            </a:avLst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87552" y="309753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7552" y="322326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" y="334899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" y="3223260"/>
            <a:ext cx="292608" cy="0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813816" y="3150108"/>
            <a:ext cx="146304" cy="146304"/>
          </a:xfrm>
          <a:prstGeom prst="triangl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651760" y="3223260"/>
            <a:ext cx="292608" cy="0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6200000">
            <a:off x="2578608" y="3150108"/>
            <a:ext cx="146304" cy="146304"/>
          </a:xfrm>
          <a:prstGeom prst="triangl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23500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섬유(결) 방향으로 누르는 힘. 목재가 가장 잘 견디는 방향이다.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920240"/>
            <a:ext cx="2624328" cy="320040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057400"/>
            <a:ext cx="23500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횡압축강도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2971800"/>
            <a:ext cx="1709928" cy="502920"/>
          </a:xfrm>
          <a:prstGeom prst="roundRect">
            <a:avLst>
              <a:gd name="adj" fmla="val 8000"/>
            </a:avLst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867912" y="309753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67912" y="322326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67912" y="334899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49724" y="2606040"/>
            <a:ext cx="0" cy="320040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4576572" y="2852928"/>
            <a:ext cx="146304" cy="146304"/>
          </a:xfrm>
          <a:prstGeom prst="triangl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4649724" y="3520439"/>
            <a:ext cx="0" cy="320041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>
            <a:off x="4576572" y="3447287"/>
            <a:ext cx="146304" cy="146304"/>
          </a:xfrm>
          <a:prstGeom prst="triangl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886200"/>
            <a:ext cx="23500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섬유에 수직으로 누르는 힘. 종압축보다 훨씬 약하다.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920240"/>
            <a:ext cx="2624328" cy="320040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057400"/>
            <a:ext cx="23500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인장강도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2971800"/>
            <a:ext cx="1709928" cy="502920"/>
          </a:xfrm>
          <a:prstGeom prst="roundRect">
            <a:avLst>
              <a:gd name="adj" fmla="val 8000"/>
            </a:avLst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748272" y="309753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48272" y="322326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48272" y="334899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355080" y="3223260"/>
            <a:ext cx="365760" cy="0"/>
          </a:xfrm>
          <a:prstGeom prst="line">
            <a:avLst/>
          </a:prstGeom>
          <a:ln w="2794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6200000">
            <a:off x="6281928" y="3150108"/>
            <a:ext cx="146304" cy="146304"/>
          </a:xfrm>
          <a:prstGeom prst="triangl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339328" y="3223260"/>
            <a:ext cx="365760" cy="0"/>
          </a:xfrm>
          <a:prstGeom prst="line">
            <a:avLst/>
          </a:prstGeom>
          <a:ln w="2794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8631936" y="3150108"/>
            <a:ext cx="146304" cy="146304"/>
          </a:xfrm>
          <a:prstGeom prst="triangl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886200"/>
            <a:ext cx="23500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당겨서 늘이는 힘. 섬유 방향으로 매우 강하다.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1920240"/>
            <a:ext cx="2624328" cy="320040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2057400"/>
            <a:ext cx="23500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휨강도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2971800"/>
            <a:ext cx="1709928" cy="502920"/>
          </a:xfrm>
          <a:prstGeom prst="roundRect">
            <a:avLst>
              <a:gd name="adj" fmla="val 8000"/>
            </a:avLst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628632" y="309753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28632" y="322326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28632" y="3348990"/>
            <a:ext cx="1563624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>
            <a:off x="9537192" y="3474720"/>
            <a:ext cx="201168" cy="182880"/>
          </a:xfrm>
          <a:prstGeom prst="triangl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11082528" y="3474720"/>
            <a:ext cx="201168" cy="182880"/>
          </a:xfrm>
          <a:prstGeom prst="triangl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0410444" y="2560320"/>
            <a:ext cx="0" cy="365760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10328148" y="2843784"/>
            <a:ext cx="164592" cy="164592"/>
          </a:xfrm>
          <a:prstGeom prst="triangl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886200"/>
            <a:ext cx="23500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보처럼 걸쳐 눌렀을 때 위는 압축, 아래는 인장을 받는다.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4장  목재 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강도에 영향을 주는 요인과 구조 등급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6309360" cy="44805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강도를 좌우하는 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7607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함수율: 낮을수록(섬유포화점 이하에서) 강도가 높아진다</a:t>
            </a:r>
          </a:p>
          <a:p>
            <a:pPr algn="l" indent="-182880" marL="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밀도: 밀도가 높을수록 대체로 강도가 높다</a:t>
            </a:r>
          </a:p>
          <a:p>
            <a:pPr algn="l" indent="-182880" marL="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옹이·갈라짐 등 결함: 결이 흐트러진 부분에서 강도가 급격히 떨어진다</a:t>
            </a:r>
          </a:p>
          <a:p>
            <a:pPr algn="l" indent="-182880" marL="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하중 지속 시간: 오래 눌려있을수록 견디는 힘이 줄어든다(크리프)</a:t>
            </a:r>
          </a:p>
          <a:p>
            <a:pPr algn="l" indent="-182880" marL="182880">
              <a:lnSpc>
                <a:spcPct val="115000"/>
              </a:lnSpc>
              <a:spcAft>
                <a:spcPts val="1300"/>
              </a:spcAft>
              <a:buFont typeface="Arial"/>
              <a:buChar char="•"/>
            </a:pPr>
            <a:r>
              <a:rPr sz="1350" b="0">
                <a:solidFill>
                  <a:srgbClr val="2A1D16"/>
                </a:solidFill>
                <a:latin typeface="Calibri"/>
              </a:rPr>
              <a:t>온도: 온도가 높아지면 강도가 낮아지는 경향이 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554480"/>
            <a:ext cx="4754880" cy="44805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구조 등급 (Grading)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148840"/>
            <a:ext cx="4206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육안등급: 옹이 크기·결 기울기를 눈으로 검사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기계등급(MSR): 기계로 처짐을 측정해 탄성계수 산정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977639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3977639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977639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977639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977639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3977639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3977639"/>
            <a:ext cx="914400" cy="548640"/>
          </a:xfrm>
          <a:prstGeom prst="roundRect">
            <a:avLst>
              <a:gd name="adj" fmla="val 2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3977639"/>
            <a:ext cx="914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66344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50" b="0" i="1">
                <a:solidFill>
                  <a:srgbClr val="7A6A5A"/>
                </a:solidFill>
                <a:latin typeface="Calibri"/>
              </a:rPr>
              <a:t>등급이 높을수록(SS&gt;No.1&gt;No.2…) 결함이 적고 강도가 높아, 구조재로 쓰기에 적합하다.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5장  목재의 다른 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목재의 다른 특성 — 열, 불, 빛, 그리고 느낌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39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열전도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목재는 열전도율이 낮아 금속·콘크리트보다 단열 성능이 좋다. 손잡이·바닥재에 유리하다.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6938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938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6620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연소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852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발화점은 대략 250~300도. 타면서 겉에 탄화층이 생겨 오히려 내부를 일정 시간 보호한다.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845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39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형광성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일부 수종(예: 아까시나무 심재)은 자외선 아래에서 형광빛을 내 수종 감별에 활용된다.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6938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9380" y="43845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6620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심리적 특성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852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나뭇결과 향은 안정감과 편안함을 준다. '바이오필리아' 디자인에서 널리 활용된다.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6장  목재와 수분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목재와 수분 — 함수율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450" b="0">
                <a:solidFill>
                  <a:srgbClr val="2A1D16"/>
                </a:solidFill>
                <a:latin typeface="Calibri"/>
              </a:rPr>
              <a:t>목재는 스펀지처럼 물을 빨아들이고 내보내는 흡습성이 있다.</a:t>
            </a:r>
          </a:p>
          <a:p>
            <a:pPr algn="l" indent="-182880" marL="182880">
              <a:lnSpc>
                <a:spcPct val="120000"/>
              </a:lnSpc>
              <a:spcAft>
                <a:spcPts val="800"/>
              </a:spcAft>
              <a:buFont typeface="Arial"/>
              <a:buChar char="•"/>
            </a:pPr>
            <a:r>
              <a:rPr sz="1450" b="0">
                <a:solidFill>
                  <a:srgbClr val="2A1D16"/>
                </a:solidFill>
                <a:latin typeface="Calibri"/>
              </a:rPr>
              <a:t>목재 속 수분의 양을 함수율이라 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5120640" cy="3108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5601F"/>
                </a:solidFill>
                <a:latin typeface="Cambria"/>
              </a:rPr>
              <a:t>나무 세포 속 물의 두 얼굴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1554480" cy="146304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8D6E4B"/>
                </a:solidFill>
                <a:latin typeface="Calibri"/>
              </a:rPr>
              <a:t>자유수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4206240"/>
            <a:ext cx="548640" cy="5486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4206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703320"/>
            <a:ext cx="1554480" cy="146304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8D6E4B"/>
                </a:solidFill>
                <a:latin typeface="Calibri"/>
              </a:rPr>
              <a:t>결합수</a:t>
            </a:r>
          </a:p>
        </p:txBody>
      </p:sp>
      <p:sp>
        <p:nvSpPr>
          <p:cNvPr id="13" name="Oval 12"/>
          <p:cNvSpPr/>
          <p:nvPr/>
        </p:nvSpPr>
        <p:spPr>
          <a:xfrm>
            <a:off x="2788920" y="4617720"/>
            <a:ext cx="320040" cy="3200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0" y="4617720"/>
            <a:ext cx="320040" cy="3200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4617720"/>
            <a:ext cx="320040" cy="3200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44805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자유수: 세포 사이 빈 공간에 고인 물 → 먼저 쉽게 빠져나간다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결합수: 세포벽 속에 붙어있는 물 → 빠지면 목재가 수축한다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002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A1D16"/>
                </a:solidFill>
                <a:latin typeface="Cambria"/>
              </a:rPr>
              <a:t>섬유포화점(FSP)이란?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05740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자유수가 모두 빠지고 결합수만 남는 순간의 함수율(보통 약 28~30%). 이 지점을 지나야 목재의 크기가 실제로 변하기 시작한다.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154680"/>
            <a:ext cx="5394960" cy="502920"/>
          </a:xfrm>
          <a:prstGeom prst="roundRect">
            <a:avLst>
              <a:gd name="adj" fmla="val 50000"/>
            </a:avLst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3154680"/>
            <a:ext cx="1726387" cy="502920"/>
          </a:xfrm>
          <a:prstGeom prst="roundRect">
            <a:avLst>
              <a:gd name="adj" fmla="val 5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761427" y="3017520"/>
            <a:ext cx="0" cy="777240"/>
          </a:xfrm>
          <a:prstGeom prst="line">
            <a:avLst/>
          </a:prstGeom>
          <a:ln w="19050">
            <a:solidFill>
              <a:srgbClr val="3E272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0" y="37490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0%</a:t>
            </a:r>
          </a:p>
          <a:p>
            <a:pPr algn="l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(전건)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347" y="3749039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3E2723"/>
                </a:solidFill>
                <a:latin typeface="Calibri"/>
              </a:rPr>
              <a:t>약 28~30%</a:t>
            </a:r>
          </a:p>
          <a:p>
            <a:pPr algn="ctr">
              <a:buNone/>
            </a:pPr>
            <a:r>
              <a:rPr sz="1050" b="1" i="0">
                <a:solidFill>
                  <a:srgbClr val="3E2723"/>
                </a:solidFill>
                <a:latin typeface="Calibri"/>
              </a:rPr>
              <a:t>(섬유포화점)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749039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100%↑</a:t>
            </a:r>
          </a:p>
          <a:p>
            <a:pPr algn="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(생나무)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788920"/>
            <a:ext cx="17263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8D6E4B"/>
                </a:solidFill>
                <a:latin typeface="Calibri"/>
              </a:rPr>
              <a:t>치수 변화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9326" y="2788920"/>
            <a:ext cx="32369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3E7CB1"/>
                </a:solidFill>
                <a:latin typeface="Calibri"/>
              </a:rPr>
              <a:t>치수 변화 시작 (자유수 증감)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3484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45601F"/>
                </a:solidFill>
                <a:latin typeface="Calibri"/>
              </a:rPr>
              <a:t>핵심: 함수율이 섬유포화점 아래로 내려갈 때부터 수축, 올라갈 때 팽창한다.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029200"/>
            <a:ext cx="5669280" cy="105156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14807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8D6E4B"/>
                </a:solidFill>
                <a:latin typeface="Cambria"/>
              </a:rPr>
              <a:t>평형함수율(EMC)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4864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 i="0">
                <a:solidFill>
                  <a:srgbClr val="2A1D16"/>
                </a:solidFill>
                <a:latin typeface="Calibri"/>
              </a:rPr>
              <a:t>목재를 공기 중에 오래 두면 주변 온·습도와 균형을 이루는 함수율에 도달한다. 여름엔 높아지고 겨울엔 낮아진다.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7장  목재 치수변화와 대처법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목재의 치수 변화 — 방향마다 다르게 줄어든다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2A1D16"/>
                </a:solidFill>
                <a:latin typeface="Calibri"/>
              </a:rPr>
              <a:t>세포가 나이테 방향으로 배열되어 있어, 방향에 따라 수축·팽윤률이 크게 다르다.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2468879"/>
            <a:ext cx="3474720" cy="3474720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64208" y="2670048"/>
            <a:ext cx="3072384" cy="3072384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65376" y="2871215"/>
            <a:ext cx="2670048" cy="2670048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66543" y="3072383"/>
            <a:ext cx="2267712" cy="2267712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67712" y="3273551"/>
            <a:ext cx="1865376" cy="1865376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3474720"/>
            <a:ext cx="1463040" cy="1463040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0048" y="3675887"/>
            <a:ext cx="1060704" cy="1060704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71215" y="3877055"/>
            <a:ext cx="658368" cy="658368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40" y="2468879"/>
            <a:ext cx="3474720" cy="3474720"/>
          </a:xfrm>
          <a:prstGeom prst="ellipse">
            <a:avLst/>
          </a:prstGeom>
          <a:noFill/>
          <a:ln w="254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200400" y="2468879"/>
            <a:ext cx="0" cy="1737361"/>
          </a:xfrm>
          <a:prstGeom prst="line">
            <a:avLst/>
          </a:prstGeom>
          <a:ln w="3810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>
            <a:off x="3081528" y="2350008"/>
            <a:ext cx="237744" cy="237744"/>
          </a:xfrm>
          <a:prstGeom prst="triangl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000500" y="2820426"/>
            <a:ext cx="117737" cy="75006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8237" y="2895432"/>
            <a:ext cx="110751" cy="84983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28988" y="2980415"/>
            <a:ext cx="102924" cy="94312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31912" y="3074727"/>
            <a:ext cx="94312" cy="102924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26224" y="3177651"/>
            <a:ext cx="84983" cy="110751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11207" y="3288402"/>
            <a:ext cx="75006" cy="117737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86213" y="3406139"/>
            <a:ext cx="64460" cy="123827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50673" y="3529966"/>
            <a:ext cx="53423" cy="128973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04096" y="3658939"/>
            <a:ext cx="41978" cy="133138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46074" y="3792077"/>
            <a:ext cx="30215" cy="136291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76289" y="3928368"/>
            <a:ext cx="18221" cy="138405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94510" y="4066773"/>
            <a:ext cx="6090" cy="139467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794510" y="4206240"/>
            <a:ext cx="6090" cy="139466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776289" y="4345706"/>
            <a:ext cx="18221" cy="138405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1400000">
            <a:off x="4675705" y="4383527"/>
            <a:ext cx="201168" cy="201168"/>
          </a:xfrm>
          <a:prstGeom prst="triangl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0" y="4096511"/>
            <a:ext cx="2011680" cy="219456"/>
          </a:xfrm>
          <a:prstGeom prst="rect">
            <a:avLst/>
          </a:prstGeom>
          <a:solidFill>
            <a:srgbClr val="D9BC94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126480" y="4206240"/>
            <a:ext cx="1005840" cy="0"/>
          </a:xfrm>
          <a:prstGeom prst="line">
            <a:avLst/>
          </a:prstGeom>
          <a:ln w="31750">
            <a:solidFill>
              <a:srgbClr val="3E27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7040880" y="4114800"/>
            <a:ext cx="182880" cy="182880"/>
          </a:xfrm>
          <a:prstGeom prst="triangl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5120640" y="4206240"/>
            <a:ext cx="1005840" cy="0"/>
          </a:xfrm>
          <a:prstGeom prst="line">
            <a:avLst/>
          </a:prstGeom>
          <a:ln w="31750">
            <a:solidFill>
              <a:srgbClr val="3E27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6200000">
            <a:off x="5029200" y="4114800"/>
            <a:ext cx="182880" cy="182880"/>
          </a:xfrm>
          <a:prstGeom prst="triangl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4348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3E2723"/>
                </a:solidFill>
                <a:latin typeface="Calibri"/>
              </a:rPr>
              <a:t>길이(섬유)방향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20116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3E7CB1"/>
                </a:solidFill>
                <a:latin typeface="Calibri"/>
              </a:rPr>
              <a:t>방사방향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27889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접선방향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생재 → 전건 기준 총 수축률(추정치)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56032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libri"/>
              </a:rPr>
              <a:t>길이(섬유)방향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19" y="2587751"/>
            <a:ext cx="2651760" cy="310896"/>
          </a:xfrm>
          <a:prstGeom prst="roundRect">
            <a:avLst>
              <a:gd name="adj" fmla="val 2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32519" y="2587751"/>
            <a:ext cx="137160" cy="310896"/>
          </a:xfrm>
          <a:prstGeom prst="roundRect">
            <a:avLst>
              <a:gd name="adj" fmla="val 20000"/>
            </a:avLst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19" y="2926079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1" i="0">
                <a:solidFill>
                  <a:srgbClr val="7A6A5A"/>
                </a:solidFill>
                <a:latin typeface="Calibri"/>
              </a:rPr>
              <a:t>약 0.1 ~ 0.3%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520439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libri"/>
              </a:rPr>
              <a:t>방사방향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19" y="3547871"/>
            <a:ext cx="2651760" cy="310896"/>
          </a:xfrm>
          <a:prstGeom prst="roundRect">
            <a:avLst>
              <a:gd name="adj" fmla="val 2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32519" y="3547871"/>
            <a:ext cx="1060704" cy="310896"/>
          </a:xfrm>
          <a:prstGeom prst="roundRect">
            <a:avLst>
              <a:gd name="adj" fmla="val 20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19" y="388620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1" i="0">
                <a:solidFill>
                  <a:srgbClr val="7A6A5A"/>
                </a:solidFill>
                <a:latin typeface="Calibri"/>
              </a:rPr>
              <a:t>약 3 ~ 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48056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libri"/>
              </a:rPr>
              <a:t>접선방향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19" y="4507992"/>
            <a:ext cx="2651760" cy="310896"/>
          </a:xfrm>
          <a:prstGeom prst="roundRect">
            <a:avLst>
              <a:gd name="adj" fmla="val 2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732519" y="4507992"/>
            <a:ext cx="2651760" cy="310896"/>
          </a:xfrm>
          <a:prstGeom prst="roundRect">
            <a:avLst>
              <a:gd name="adj" fmla="val 20000"/>
            </a:avLst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19" y="48463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1" i="0">
                <a:solidFill>
                  <a:srgbClr val="7A6A5A"/>
                </a:solidFill>
                <a:latin typeface="Calibri"/>
              </a:rPr>
              <a:t>약 6 ~ 12%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62356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50" b="0" i="1">
                <a:solidFill>
                  <a:srgbClr val="8D6E4B"/>
                </a:solidFill>
                <a:latin typeface="Calibri"/>
              </a:rPr>
              <a:t>방향별 수축률 차이 때문에 판재가 접선방향으로 휘거나(컵핑), 불균일 수축으로 타원형 변형이 일어나기도 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7장  목재 치수변화와 대처법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치수 변화, 이렇게 대비한다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9385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39" y="19202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사전건조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7066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사용 환경의 평형함수율에 맞게 목재를 미리 건조시켜 변형을 줄인다.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920" y="17373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1520" y="19385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520" y="1938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8760" y="19202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수분흡수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27066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페인트·오일 등 도장으로 표면을 덮어 수분 출입 속도를 늦춘다.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8640" y="17373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7240" y="19385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7240" y="1938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4480" y="19202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기계적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6384" y="27066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이음새·프레임 구조로 목재의 움직임을 일정 범위로 제한한다.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376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3388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388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39" y="43205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화학적 안정화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51069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PEG 함침 등으로 세포벽에 물질을 채워 수축·팽윤 자체를 줄인다.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2920" y="41376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1520" y="43388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1520" y="43388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8760" y="43205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설계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0664" y="51069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결 방향을 엇갈리게 배치하고 여유 공간(유격)을 두어 뒤틀림을 줄인다.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8640" y="41376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7240" y="43388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7240" y="43388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4480" y="43205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습도 추적·자가 수분측정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6384" y="51069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습도계·함수율계로 목재와 주변 환경을 주기적으로 확인한다.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8장  목재 건조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건조 — 왜, 어떻게 말릴까?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2471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8D6E4B"/>
                </a:solidFill>
                <a:latin typeface="Calibri"/>
              </a:rPr>
              <a:t>생재</a:t>
            </a:r>
            <a:r>
              <a:rPr sz="1150" b="0" i="0">
                <a:solidFill>
                  <a:srgbClr val="7A6A5A"/>
                </a:solidFill>
                <a:latin typeface="Calibri"/>
              </a:rPr>
              <a:t> (갓 벤 나무, 함수율 높음)  →  </a:t>
            </a:r>
            <a:r>
              <a:rPr sz="1150" b="1" i="0">
                <a:solidFill>
                  <a:srgbClr val="8D6E4B"/>
                </a:solidFill>
                <a:latin typeface="Calibri"/>
              </a:rPr>
              <a:t>기건재</a:t>
            </a:r>
            <a:r>
              <a:rPr sz="1150" b="0" i="0">
                <a:solidFill>
                  <a:srgbClr val="7A6A5A"/>
                </a:solidFill>
                <a:latin typeface="Calibri"/>
              </a:rPr>
              <a:t> (자연 건조로 대기와 균형)  →  </a:t>
            </a:r>
            <a:r>
              <a:rPr sz="1150" b="1" i="0">
                <a:solidFill>
                  <a:srgbClr val="8D6E4B"/>
                </a:solidFill>
                <a:latin typeface="Calibri"/>
              </a:rPr>
              <a:t>인공건조재</a:t>
            </a:r>
            <a:r>
              <a:rPr sz="1150" b="0" i="0">
                <a:solidFill>
                  <a:srgbClr val="7A6A5A"/>
                </a:solidFill>
                <a:latin typeface="Calibri"/>
              </a:rPr>
              <a:t> (건조실에서 목표 함수율까지 건조)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120640" cy="1892807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건조하는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치수를 안정시켜 뒤틀림·갈라짐 방지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강도와 접착력을 높임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곰팡이·부패·해충 피해 예방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무게를 줄여 다루기 쉽게 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27632"/>
            <a:ext cx="5760720" cy="1892807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건조 과정의 함수율 변화(개념도)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176272"/>
            <a:ext cx="0" cy="1143000"/>
          </a:xfrm>
          <a:prstGeom prst="line">
            <a:avLst/>
          </a:prstGeom>
          <a:ln w="15875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92240" y="3319272"/>
            <a:ext cx="4754879" cy="0"/>
          </a:xfrm>
          <a:prstGeom prst="line">
            <a:avLst/>
          </a:prstGeom>
          <a:ln w="15875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492240" y="3067812"/>
            <a:ext cx="855878" cy="22860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348118" y="2747772"/>
            <a:ext cx="1046074" cy="32004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394192" y="2462022"/>
            <a:ext cx="1188719" cy="28575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582911" y="2267711"/>
            <a:ext cx="1664208" cy="194311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89320" y="20391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함수율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3374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시간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5349240" cy="26517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069080"/>
            <a:ext cx="777240" cy="7772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000" b="0" i="0">
                <a:solidFill>
                  <a:srgbClr val="2A1D16"/>
                </a:solidFill>
                <a:latin typeface="Calibri"/>
              </a:rPr>
              <a:t>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60520"/>
            <a:ext cx="3886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A1D16"/>
                </a:solidFill>
                <a:latin typeface="Cambria"/>
              </a:rPr>
              <a:t>천연건조 (자연건조)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461772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그늘지고 통풍 좋은 곳에 쌓아 자연 바람으로 건조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비용이 적게 들지만 시간이 오래 걸림(수개월~수년)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계절·날씨 영향을 많이 받음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3794760"/>
            <a:ext cx="5349240" cy="26517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9399" y="4069080"/>
            <a:ext cx="777240" cy="7772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40690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0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4160520"/>
            <a:ext cx="3886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A1D16"/>
                </a:solidFill>
                <a:latin typeface="Cambria"/>
              </a:rPr>
              <a:t>인공건조 (건조실)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029200"/>
            <a:ext cx="461772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건조실에서 온도·습도·바람을 조절해 강제로 건조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짧은 시간(며칠~수 주)에 균일하게 건조 가능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장비 비용이 들지만 품질 관리가 쉬움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8장  목재 건조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제재목 보관 — 건조한 상태를 유지하려면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6126480" cy="4434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올바른 적재 방법(스티킹)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489704"/>
            <a:ext cx="4846320" cy="384048"/>
          </a:xfrm>
          <a:prstGeom prst="rect">
            <a:avLst/>
          </a:prstGeom>
          <a:solidFill>
            <a:srgbClr val="D9BC94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4379976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4379976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94960" y="4379976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995928"/>
            <a:ext cx="4846320" cy="384048"/>
          </a:xfrm>
          <a:prstGeom prst="rect">
            <a:avLst/>
          </a:prstGeom>
          <a:solidFill>
            <a:srgbClr val="D9BC94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886200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3886200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3886200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502152"/>
            <a:ext cx="4846320" cy="384048"/>
          </a:xfrm>
          <a:prstGeom prst="rect">
            <a:avLst/>
          </a:prstGeom>
          <a:solidFill>
            <a:srgbClr val="D9BC94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3392424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3392424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94960" y="3392424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08376"/>
            <a:ext cx="4846320" cy="384048"/>
          </a:xfrm>
          <a:prstGeom prst="rect">
            <a:avLst/>
          </a:prstGeom>
          <a:solidFill>
            <a:srgbClr val="D9BC94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2898648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2898648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94960" y="2898648"/>
            <a:ext cx="274320" cy="109728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2514600"/>
            <a:ext cx="4846320" cy="384048"/>
          </a:xfrm>
          <a:prstGeom prst="rect">
            <a:avLst/>
          </a:prstGeom>
          <a:solidFill>
            <a:srgbClr val="D9BC94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4983480"/>
            <a:ext cx="320040" cy="320040"/>
          </a:xfrm>
          <a:prstGeom prst="rect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4983480"/>
            <a:ext cx="320040" cy="320040"/>
          </a:xfrm>
          <a:prstGeom prst="rect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받침대로 지면과 띄우기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1600200"/>
            <a:ext cx="4937760" cy="4434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보관 시 체크포인트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194560"/>
            <a:ext cx="4389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판재 사이에 스티커(간격재)를 일정 간격으로 끼워 통풍로 확보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지면과 떨어지도록 받침대 위에 적재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위쪽에 무게를 실어 눌러주면 뒤틀림을 줄일 수 있다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직사광선과 비를 피하도록 덮개를 씌운다</a:t>
            </a:r>
          </a:p>
          <a:p>
            <a:pPr algn="l" indent="-182880" marL="1828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250" b="0">
                <a:solidFill>
                  <a:srgbClr val="2A1D16"/>
                </a:solidFill>
                <a:latin typeface="Calibri"/>
              </a:rPr>
              <a:t>실내 보관 시에도 온·습도가 급격히 바뀌지 않게 관리한다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9장  목재 절삭과 휨가공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절삭 — 결 방향이 핵심이다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2A1D16"/>
                </a:solidFill>
                <a:latin typeface="Calibri"/>
              </a:rPr>
              <a:t>섬유(나뭇결)가 한 방향으로 길게 배열되어 있어, 자르거나 대패질할 때 결 방향에 따라 잘리는 느낌과 표면이 크게 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5601F"/>
                </a:solidFill>
                <a:latin typeface="Cambria"/>
              </a:rPr>
              <a:t>순결 방향 절삭 (결을 따라)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D9BC94"/>
          </a:solidFill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49936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271272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292608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313944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335280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1965960"/>
            <a:ext cx="5669280" cy="0"/>
          </a:xfrm>
          <a:prstGeom prst="line">
            <a:avLst/>
          </a:prstGeom>
          <a:ln w="3175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879592" y="1856231"/>
            <a:ext cx="219456" cy="219456"/>
          </a:xfrm>
          <a:prstGeom prst="triangl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대패가 매끄럽게 지나가며 깨끗한 면이 나온다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B23A2E"/>
                </a:solidFill>
                <a:latin typeface="Cambria"/>
              </a:rPr>
              <a:t>역결 방향 절삭 (결을 거슬러)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8600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D9BC94"/>
          </a:solidFill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49936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271272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292608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313944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00800" y="335280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092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378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72200" y="1965960"/>
            <a:ext cx="5669280" cy="0"/>
          </a:xfrm>
          <a:prstGeom prst="line">
            <a:avLst/>
          </a:prstGeom>
          <a:ln w="317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1731752" y="1856231"/>
            <a:ext cx="219456" cy="219456"/>
          </a:xfrm>
          <a:prstGeom prst="triangl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657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나뭇결이 뜯기며 표면이 거칠어지고 갈라지기 쉽다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46320"/>
            <a:ext cx="11247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절삭 가공의 기본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톱질·대패질은 결 방향을 확인하고 순결 방향으로 진행한다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날카로운 도구를 사용하고, 힘을 일정하게 유지한다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톱밥이 많이 날리거나 표면이 거칠면 결 방향을 바꿔본다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9장  목재 절삭과 휨가공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휨가공 — 곧은 나무를 곡선으로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2A1D16"/>
                </a:solidFill>
                <a:latin typeface="Calibri"/>
              </a:rPr>
              <a:t>목재는 원래 곧게 자라지만, 두 가지 방법을 이용하면 곡선 형태로 가공할 수 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349240" cy="41605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① 증기 휨 (스팀 벤딩)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463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6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찜통(증기)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3108960"/>
            <a:ext cx="548640" cy="457200"/>
          </a:xfrm>
          <a:prstGeom prst="rightArrow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200400"/>
            <a:ext cx="1645920" cy="0"/>
          </a:xfrm>
          <a:prstGeom prst="line">
            <a:avLst/>
          </a:prstGeom>
          <a:ln w="50800">
            <a:solidFill>
              <a:srgbClr val="3E27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63240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가열 전 (곧은 목재)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378918" y="4287857"/>
            <a:ext cx="43182" cy="95305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2100" y="4200231"/>
            <a:ext cx="57178" cy="87626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79278" y="4122322"/>
            <a:ext cx="69842" cy="7790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549120" y="4055945"/>
            <a:ext cx="80881" cy="66377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30001" y="4002644"/>
            <a:ext cx="90037" cy="5330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20038" y="3963660"/>
            <a:ext cx="97097" cy="38984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817135" y="3939901"/>
            <a:ext cx="101898" cy="2375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919033" y="3931920"/>
            <a:ext cx="104327" cy="798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23360" y="3931920"/>
            <a:ext cx="104326" cy="798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27686" y="3939901"/>
            <a:ext cx="101898" cy="2375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29584" y="3963660"/>
            <a:ext cx="97097" cy="38984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26681" y="4002644"/>
            <a:ext cx="90037" cy="5330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16718" y="4055945"/>
            <a:ext cx="80881" cy="66377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97599" y="4122322"/>
            <a:ext cx="69842" cy="7790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67441" y="4200231"/>
            <a:ext cx="57178" cy="87626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24619" y="4287857"/>
            <a:ext cx="43182" cy="95305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63240" y="5029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가열 후 틀에 고정해 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40680"/>
            <a:ext cx="4709159" cy="54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뜨거운 수증기로 섬유를 부드럽게 만든 뒤 틀(거푸집)에 고정해 굽힌다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식으면서 굳어 곡선 모양이 유지된다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52160"/>
            <a:ext cx="4709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예: 의자 등받이, 배의 선체 골격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79" y="2011680"/>
            <a:ext cx="5349240" cy="41605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399" y="21945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② 적층 휨 (라미네이션)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20840" y="2880360"/>
            <a:ext cx="1554479" cy="0"/>
          </a:xfrm>
          <a:prstGeom prst="line">
            <a:avLst/>
          </a:prstGeom>
          <a:ln w="508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20840" y="3026664"/>
            <a:ext cx="1554479" cy="0"/>
          </a:xfrm>
          <a:prstGeom prst="line">
            <a:avLst/>
          </a:prstGeom>
          <a:ln w="508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20840" y="3172968"/>
            <a:ext cx="1554479" cy="0"/>
          </a:xfrm>
          <a:prstGeom prst="line">
            <a:avLst/>
          </a:prstGeom>
          <a:ln w="508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20840" y="3319272"/>
            <a:ext cx="1554479" cy="0"/>
          </a:xfrm>
          <a:prstGeom prst="line">
            <a:avLst/>
          </a:prstGeom>
          <a:ln w="508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20840" y="36118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얇은 나무판(베니어) 여러 장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503919" y="3017520"/>
            <a:ext cx="548640" cy="457200"/>
          </a:xfrm>
          <a:prstGeom prst="rightArrow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9391415" y="2870172"/>
            <a:ext cx="69288" cy="10162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460703" y="2780007"/>
            <a:ext cx="83662" cy="90165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544365" y="2703318"/>
            <a:ext cx="96165" cy="76689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640530" y="2641818"/>
            <a:ext cx="106521" cy="615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747051" y="2596881"/>
            <a:ext cx="114497" cy="4493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861548" y="2569511"/>
            <a:ext cx="119916" cy="2737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981464" y="2560320"/>
            <a:ext cx="122655" cy="9191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104119" y="2560320"/>
            <a:ext cx="122656" cy="9191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226775" y="2569511"/>
            <a:ext cx="119916" cy="2737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346691" y="2596881"/>
            <a:ext cx="114497" cy="4493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461188" y="2641818"/>
            <a:ext cx="106521" cy="615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67709" y="2703318"/>
            <a:ext cx="96165" cy="76689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663874" y="2780007"/>
            <a:ext cx="83662" cy="90165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747536" y="2870172"/>
            <a:ext cx="69288" cy="10162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320145" y="2800574"/>
            <a:ext cx="76217" cy="11179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396362" y="2701392"/>
            <a:ext cx="92027" cy="99182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488389" y="2617034"/>
            <a:ext cx="105782" cy="8435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594171" y="2549384"/>
            <a:ext cx="117173" cy="676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711344" y="2499953"/>
            <a:ext cx="125947" cy="4943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837291" y="2469846"/>
            <a:ext cx="131907" cy="30107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969198" y="2459736"/>
            <a:ext cx="134921" cy="1011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04119" y="2459736"/>
            <a:ext cx="134922" cy="1011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239041" y="2469846"/>
            <a:ext cx="131907" cy="30107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370948" y="2499953"/>
            <a:ext cx="125947" cy="4943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496895" y="2549384"/>
            <a:ext cx="117173" cy="676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614068" y="2617034"/>
            <a:ext cx="105782" cy="8435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719850" y="2701392"/>
            <a:ext cx="92027" cy="99182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811877" y="2800574"/>
            <a:ext cx="76217" cy="111789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248874" y="2730975"/>
            <a:ext cx="83146" cy="121953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332020" y="2622777"/>
            <a:ext cx="100394" cy="10819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432414" y="2530750"/>
            <a:ext cx="115398" cy="9202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547812" y="2456950"/>
            <a:ext cx="127825" cy="738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675637" y="2403026"/>
            <a:ext cx="137396" cy="5392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813033" y="2370182"/>
            <a:ext cx="143900" cy="3284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56933" y="2359152"/>
            <a:ext cx="147186" cy="1103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104119" y="2359152"/>
            <a:ext cx="147187" cy="1103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251306" y="2370182"/>
            <a:ext cx="143900" cy="3284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395206" y="2403026"/>
            <a:ext cx="137396" cy="5392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532602" y="2456950"/>
            <a:ext cx="127825" cy="738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660427" y="2530750"/>
            <a:ext cx="115398" cy="9202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775825" y="2622777"/>
            <a:ext cx="100394" cy="10819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876219" y="2730975"/>
            <a:ext cx="83146" cy="121952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177604" y="2661376"/>
            <a:ext cx="90075" cy="132116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267679" y="2544161"/>
            <a:ext cx="108759" cy="11721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376438" y="2444466"/>
            <a:ext cx="125015" cy="9969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501453" y="2364516"/>
            <a:ext cx="138477" cy="799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639930" y="2306098"/>
            <a:ext cx="148846" cy="5841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788776" y="2270517"/>
            <a:ext cx="155891" cy="3558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944667" y="2258568"/>
            <a:ext cx="159452" cy="11949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104119" y="2258568"/>
            <a:ext cx="159453" cy="11949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263572" y="2270517"/>
            <a:ext cx="155891" cy="3558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419463" y="2306098"/>
            <a:ext cx="148846" cy="5841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568309" y="2364516"/>
            <a:ext cx="138477" cy="799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706786" y="2444466"/>
            <a:ext cx="125015" cy="9969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831801" y="2544161"/>
            <a:ext cx="108759" cy="11721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940560" y="2661376"/>
            <a:ext cx="90075" cy="13211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9098280" y="50749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접착제로 겹겹이 붙이며 곡선 틀에서 압착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75119" y="5440680"/>
            <a:ext cx="4709159" cy="54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얇게 켠 베니어에 접착제를 발라 겹친 뒤 곡선 틀에 넣고 압력을 가한다</a:t>
            </a:r>
          </a:p>
          <a:p>
            <a:pPr algn="l" indent="-182880" marL="182880">
              <a:lnSpc>
                <a:spcPct val="115000"/>
              </a:lnSpc>
              <a:spcAft>
                <a:spcPts val="4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휘어진 상태로 굳어 튼튼하고 형태가 잘 유지된다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75119" y="5852160"/>
            <a:ext cx="4709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예: 곡선 의자, 곡면 가구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10장  목재 접합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접합의 기본 형태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부재를 잇는 방식에 따라 강도와 미관, 가공 난이도가 달라진다.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2606040" cy="429768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3911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맞댄이음 (Butt)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59" y="3182111"/>
            <a:ext cx="777240" cy="402336"/>
          </a:xfrm>
          <a:prstGeom prst="rect">
            <a:avLst/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5940" y="3182111"/>
            <a:ext cx="777240" cy="402336"/>
          </a:xfrm>
          <a:prstGeom prst="rect">
            <a:avLst/>
          </a:prstGeom>
          <a:solidFill>
            <a:srgbClr val="8D6E4B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면과 면을 단순히 맞댄다. 가공이 쉽지만 접착만으로는 강도가 약하다.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74519"/>
            <a:ext cx="2606040" cy="429768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3911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겹침이음 (Lap)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3340" y="3108960"/>
            <a:ext cx="1051560" cy="274320"/>
          </a:xfrm>
          <a:prstGeom prst="rect">
            <a:avLst/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6260" y="3383279"/>
            <a:ext cx="1051560" cy="274320"/>
          </a:xfrm>
          <a:prstGeom prst="rect">
            <a:avLst/>
          </a:prstGeom>
          <a:solidFill>
            <a:srgbClr val="8D6E4B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023360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두 부재를 겹쳐 붙인다. 접착 면적이 늘어 맞댄이음보다 튼튼하다.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606040" cy="429768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3911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장부이음 (Mortise &amp; Tenon)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97979" y="3063239"/>
            <a:ext cx="685800" cy="640080"/>
          </a:xfrm>
          <a:prstGeom prst="rect">
            <a:avLst/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83779" y="3063239"/>
            <a:ext cx="274320" cy="640080"/>
          </a:xfrm>
          <a:prstGeom prst="rect">
            <a:avLst/>
          </a:prstGeom>
          <a:solidFill>
            <a:srgbClr val="F1E4CC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3779" y="3255263"/>
            <a:ext cx="685800" cy="256032"/>
          </a:xfrm>
          <a:prstGeom prst="rect">
            <a:avLst/>
          </a:prstGeom>
          <a:solidFill>
            <a:srgbClr val="8D6E4B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023360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한쪽의 돌기(장부)를 다른 쪽 구멍(장부구멍)에 끼운다. 전통 가구·창호의 핵심 이음.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874519"/>
            <a:ext cx="2606040" cy="429768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3911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250" b="1" i="0">
                <a:solidFill>
                  <a:srgbClr val="45601F"/>
                </a:solidFill>
                <a:latin typeface="Cambria"/>
              </a:rPr>
              <a:t>사개물림 (Dovetail)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78340" y="3063239"/>
            <a:ext cx="685800" cy="640080"/>
          </a:xfrm>
          <a:prstGeom prst="rect">
            <a:avLst/>
          </a:prstGeom>
          <a:solidFill>
            <a:srgbClr val="D9BC94"/>
          </a:solidFill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pezoid 23"/>
          <p:cNvSpPr/>
          <p:nvPr/>
        </p:nvSpPr>
        <p:spPr>
          <a:xfrm>
            <a:off x="10236708" y="3063239"/>
            <a:ext cx="457200" cy="320040"/>
          </a:xfrm>
          <a:prstGeom prst="trapezoid">
            <a:avLst/>
          </a:prstGeom>
          <a:solidFill>
            <a:srgbClr val="8D6E4B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pezoid 24"/>
          <p:cNvSpPr/>
          <p:nvPr/>
        </p:nvSpPr>
        <p:spPr>
          <a:xfrm>
            <a:off x="10236708" y="3383279"/>
            <a:ext cx="457200" cy="320040"/>
          </a:xfrm>
          <a:prstGeom prst="trapezoid">
            <a:avLst/>
          </a:prstGeom>
          <a:solidFill>
            <a:srgbClr val="8D6E4B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023360"/>
            <a:ext cx="233172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1030" b="0" i="0">
                <a:solidFill>
                  <a:srgbClr val="7A6A5A"/>
                </a:solidFill>
                <a:latin typeface="Calibri"/>
              </a:rPr>
              <a:t>쐐기 모양으로 맞물려 당기는 힘에 강하다. 서랍 등 인장이 걸리는 곳에 사용.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10장  목재 접합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체결접합 — 금속 도구로 잇기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접착제 없이도 결합할 수 있는 기계적 체결 방식들이다.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못 (Nail)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빠르고 간편하게 박을 수 있다. 인발(뽑히는 힘)에 대한 저항은 상대적으로 낮다.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938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6620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나사 (Screw)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852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나선이 파고들어 못보다 인발강도가 높고, 재사용(분해)도 가능하다.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45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볼트 · 너트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큰 구조물이나 분해가 필요한 접합에 사용. 매우 강한 체결력을 낸다.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938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90995" y="4506163"/>
            <a:ext cx="396849" cy="396849"/>
          </a:xfrm>
          <a:prstGeom prst="ellipse">
            <a:avLst/>
          </a:prstGeom>
          <a:noFill/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0365" y="4585533"/>
            <a:ext cx="238109" cy="238109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3861" y="4649029"/>
            <a:ext cx="111117" cy="111117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9577" y="4684745"/>
            <a:ext cx="39684" cy="396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6620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목심 (Dowel)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852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나무 재질의 원형 못. 접착제와 함께 사용해 이음을 보이지 않게 보강한다.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11장  접착과 접착제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접착과 접착제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접착제는 목재 표면의 미세한 구멍(세포·도관)에 스며든 뒤 굳으면서 기계적으로 맞물리고, 동시에 화학적으로도 결합한다.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57400"/>
            <a:ext cx="5463540" cy="18973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25856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585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224028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PVA (목공풀)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026664"/>
            <a:ext cx="5006340" cy="836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실내 가구에 가장 널리 쓰이는 백색 접착제. 사용이 간편하고 건조가 빠르다.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057400"/>
            <a:ext cx="5463540" cy="18973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9380" y="225856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22585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6620" y="224028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에폭시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8524" y="3026664"/>
            <a:ext cx="5006340" cy="836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두 액체를 섞어 굳히는 강력 접착제. 방수성이 좋고 틈을 메우는 데 유리하다.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74820"/>
            <a:ext cx="5463540" cy="18973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447598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759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44577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폴리우레탄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244084"/>
            <a:ext cx="5006340" cy="836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물에 반응해 발포하며 굳는다. 방수성이 뛰어나 외부용 접합에 적합하다.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4274820"/>
            <a:ext cx="5463540" cy="18973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9380" y="447598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9380" y="44759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6620" y="44577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A1D16"/>
                </a:solidFill>
                <a:latin typeface="Cambria"/>
              </a:rPr>
              <a:t>요소수지 (UF)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8524" y="5244084"/>
            <a:ext cx="5006340" cy="836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200" b="0" i="0">
                <a:solidFill>
                  <a:srgbClr val="7A6A5A"/>
                </a:solidFill>
                <a:latin typeface="Calibri"/>
              </a:rPr>
              <a:t>합판·MDF 등 목질 판재를 대량 생산할 때 쓰이는 산업용 접착제.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12장  목재 도장과 보존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도장 — 표면을 다루는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마감 방식에 따라 질감, 보호력, 유지 관리 방법이 달라진다.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무처리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목재 본연의 질감을 그대로 유지한다. 오염·변색에 취약해 실내 소품 등에 제한적으로 쓰인다.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1874519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9380" y="207568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6620" y="205740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코팅형 마감 (바니시·래커·페인트)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8524" y="2843784"/>
            <a:ext cx="5006340" cy="928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표면에 막을 형성해 강한 보호력을 준다. 다만 나무결의 촉감은 덜 느껴진다.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45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침투형 마감 (오일·왁스)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목재 속으로 스며들어 자연스러운 질감을 살린다. 정기적인 재도포가 필요하다.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4183380"/>
            <a:ext cx="5463540" cy="198882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9380" y="4384548"/>
            <a:ext cx="640080" cy="64008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9380" y="43845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6620" y="4366260"/>
            <a:ext cx="43205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조합·타협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8524" y="5152644"/>
            <a:ext cx="5006340" cy="9281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침투 마감 후 코팅을 더하는 등, 용도에 맞게 두 방식을 섞어 장단점을 절충한다.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12장  목재 도장과 보존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보존처리 — 야외·습한 환경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데크재, 조경재처럼 비바람에 노출되는 목재는 보존처리가 특히 중요하다.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3535680" cy="3291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07568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205740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mbria"/>
              </a:rPr>
              <a:t>방부처리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843784"/>
            <a:ext cx="3078480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약제를 주입하거나 도포해 부패균·곤충의 침입을 막는다. 외부용 목재의 기본 처리.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874519"/>
            <a:ext cx="3535680" cy="3291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1520" y="207568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52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8760" y="205740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mbria"/>
              </a:rPr>
              <a:t>방염처리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2843784"/>
            <a:ext cx="3078480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약제로 표면을 처리해 불이 옮겨 붙거나 번지는 속도를 늦춘다.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8640" y="1874519"/>
            <a:ext cx="3535680" cy="3291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7240" y="207568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7240" y="20756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4480" y="205740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A1D16"/>
                </a:solidFill>
                <a:latin typeface="Cambria"/>
              </a:rPr>
              <a:t>UV 차단 마감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6384" y="2843784"/>
            <a:ext cx="3078480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100" b="0" i="0">
                <a:solidFill>
                  <a:srgbClr val="7A6A5A"/>
                </a:solidFill>
                <a:latin typeface="Calibri"/>
              </a:rPr>
              <a:t>자외선 차단 성분이 든 마감제로 목재가 은회색으로 변색되는 것을 늦춘다.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8D6E4B"/>
                </a:solidFill>
                <a:latin typeface="Calibri"/>
              </a:rPr>
              <a:t>→ 보존처리는 목재의 수명을 늘리지만 완전히 막지는 못하므로, 정기적인 점검과 재처리가 필요하다.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13장  제재목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제재목 — 원목을 켜는 방법과 등급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76072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정목과 판목</a:t>
            </a:r>
          </a:p>
        </p:txBody>
      </p:sp>
      <p:sp>
        <p:nvSpPr>
          <p:cNvPr id="6" name="Oval 5"/>
          <p:cNvSpPr/>
          <p:nvPr/>
        </p:nvSpPr>
        <p:spPr>
          <a:xfrm>
            <a:off x="1783080" y="2240280"/>
            <a:ext cx="2651760" cy="2651760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9384" y="2386584"/>
            <a:ext cx="2359152" cy="2359152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75687" y="2532888"/>
            <a:ext cx="2066544" cy="2066544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21991" y="2679192"/>
            <a:ext cx="1773936" cy="1773936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68296" y="2825496"/>
            <a:ext cx="1481328" cy="1481328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4600" y="2971800"/>
            <a:ext cx="1188720" cy="1188720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60904" y="3118104"/>
            <a:ext cx="896112" cy="896112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07208" y="3264408"/>
            <a:ext cx="603503" cy="603503"/>
          </a:xfrm>
          <a:prstGeom prst="ellipse">
            <a:avLst/>
          </a:prstGeom>
          <a:noFill/>
          <a:ln w="1016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83080" y="2240280"/>
            <a:ext cx="2651760" cy="2651760"/>
          </a:xfrm>
          <a:prstGeom prst="ellipse">
            <a:avLst/>
          </a:prstGeom>
          <a:noFill/>
          <a:ln w="2286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783080" y="3566160"/>
            <a:ext cx="2651760" cy="0"/>
          </a:xfrm>
          <a:prstGeom prst="line">
            <a:avLst/>
          </a:prstGeom>
          <a:ln w="2540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2240280"/>
            <a:ext cx="0" cy="2651760"/>
          </a:xfrm>
          <a:prstGeom prst="line">
            <a:avLst/>
          </a:prstGeom>
          <a:ln w="2540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0" y="22585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1" i="0">
                <a:solidFill>
                  <a:srgbClr val="3E7CB1"/>
                </a:solidFill>
                <a:latin typeface="Calibri"/>
              </a:rPr>
              <a:t>절단선(정목)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2A1D16"/>
                </a:solidFill>
                <a:latin typeface="Calibri"/>
              </a:rPr>
              <a:t>정목(Quarter-sawn): </a:t>
            </a:r>
            <a:r>
              <a:rPr sz="1100" b="0" i="0">
                <a:solidFill>
                  <a:srgbClr val="2A1D16"/>
                </a:solidFill>
                <a:latin typeface="Calibri"/>
              </a:rPr>
              <a:t>나이테와 거의 수직으로 절단. 수축이 적어 안정적이고 무늬가 균일하다.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None/>
            </a:pPr>
            <a:r>
              <a:rPr sz="1100" b="1" i="0">
                <a:solidFill>
                  <a:srgbClr val="2A1D16"/>
                </a:solidFill>
                <a:latin typeface="Calibri"/>
              </a:rPr>
              <a:t>판목(Flat-sawn): </a:t>
            </a:r>
            <a:r>
              <a:rPr sz="1100" b="0" i="0">
                <a:solidFill>
                  <a:srgbClr val="2A1D16"/>
                </a:solidFill>
                <a:latin typeface="Calibri"/>
              </a:rPr>
              <a:t>나이테와 거의 평행하게 절단. 무늬가 넓고 화려하며 수율이 높다.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554480"/>
            <a:ext cx="521208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1737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제재목 계산과 등급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224028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원목에서 판재를 켜낼 때 톱밥·겉껍질 손실을 고려해 수율(제재율)을 계산한다</a:t>
            </a:r>
          </a:p>
          <a:p>
            <a:pPr algn="l" indent="-182880" marL="18288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명목치수와 실제치수가 다르다 — 건조·대패 과정에서 치수가 줄어들기 때문</a:t>
            </a:r>
          </a:p>
          <a:p>
            <a:pPr algn="l" indent="-182880" marL="18288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제재목은 옹이·갈라짐·굽음 등을 기준으로 등급을 매겨 용도를 구분한다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429768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150" b="0" i="1">
                <a:solidFill>
                  <a:srgbClr val="8D6E4B"/>
                </a:solidFill>
                <a:latin typeface="Calibri"/>
              </a:rPr>
              <a:t>예: 명목치수 '2×4'는 건조·대패 후 실제로는 약 38×89mm 정도로 줄어든다.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14장  단판과 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단판과 합판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단판(Veneer) 제조 방식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560320"/>
            <a:ext cx="1828800" cy="1828800"/>
          </a:xfrm>
          <a:prstGeom prst="ellipse">
            <a:avLst/>
          </a:prstGeom>
          <a:solidFill>
            <a:srgbClr val="D9BC94"/>
          </a:solidFill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887268" y="2740013"/>
            <a:ext cx="126510" cy="184936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3778" y="2924949"/>
            <a:ext cx="88000" cy="206064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01778" y="3131013"/>
            <a:ext cx="46108" cy="219272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47886" y="3350285"/>
            <a:ext cx="2444" cy="224054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09016" y="3574339"/>
            <a:ext cx="41314" cy="220225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025533" y="3794564"/>
            <a:ext cx="83483" cy="207934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903087" y="4002498"/>
            <a:ext cx="122446" cy="187652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746386" y="4190150"/>
            <a:ext cx="156701" cy="160158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61450" y="4350308"/>
            <a:ext cx="184936" cy="12651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55386" y="4476818"/>
            <a:ext cx="206064" cy="8800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136114" y="4564818"/>
            <a:ext cx="219272" cy="46108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912060" y="4610926"/>
            <a:ext cx="224054" cy="2444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691835" y="4572056"/>
            <a:ext cx="220225" cy="41314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483901" y="4488573"/>
            <a:ext cx="207934" cy="83483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296249" y="4366127"/>
            <a:ext cx="187652" cy="122446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136091" y="4209426"/>
            <a:ext cx="160158" cy="156701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9200000">
            <a:off x="1044651" y="4117986"/>
            <a:ext cx="182880" cy="182880"/>
          </a:xfrm>
          <a:prstGeom prst="triangl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971800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80" b="1" i="0">
                <a:solidFill>
                  <a:srgbClr val="3E7CB1"/>
                </a:solidFill>
                <a:latin typeface="Calibri"/>
              </a:rPr>
              <a:t>로터리컷</a:t>
            </a:r>
          </a:p>
          <a:p>
            <a:pPr algn="l">
              <a:spcAft>
                <a:spcPts val="400"/>
              </a:spcAft>
              <a:buNone/>
            </a:pPr>
            <a:r>
              <a:rPr sz="1080" b="0" i="0">
                <a:solidFill>
                  <a:srgbClr val="2A1D16"/>
                </a:solidFill>
                <a:latin typeface="Calibri"/>
              </a:rPr>
              <a:t>원목을 회전시키며 얇게 통째로 벗겨내어 넓은 단판을 만든다.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슬라이싱(Slicing): 원목을 얇게 썰어 고급 무늬목을 만든다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두 방식 모두 원목보다 넓은 판을 얻을 수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합판(Plywood)의 구조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331720"/>
            <a:ext cx="4023360" cy="310896"/>
          </a:xfrm>
          <a:prstGeom prst="rect">
            <a:avLst/>
          </a:prstGeom>
          <a:solidFill>
            <a:srgbClr val="8D6E4B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200900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03819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06740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09660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12580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15500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18420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721340" y="2359151"/>
            <a:ext cx="0" cy="256033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949440" y="2715768"/>
            <a:ext cx="4023360" cy="310896"/>
          </a:xfrm>
          <a:prstGeom prst="rect">
            <a:avLst/>
          </a:prstGeom>
          <a:solidFill>
            <a:srgbClr val="D9BC94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995159" y="2767583"/>
            <a:ext cx="3931921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995159" y="2871215"/>
            <a:ext cx="3931921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95159" y="2974847"/>
            <a:ext cx="3931921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949440" y="3099815"/>
            <a:ext cx="4023360" cy="310896"/>
          </a:xfrm>
          <a:prstGeom prst="rect">
            <a:avLst/>
          </a:prstGeom>
          <a:solidFill>
            <a:srgbClr val="8D6E4B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200900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03819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206740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09660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212580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715500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218420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721340" y="3127247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949440" y="3483864"/>
            <a:ext cx="4023360" cy="310896"/>
          </a:xfrm>
          <a:prstGeom prst="rect">
            <a:avLst/>
          </a:prstGeom>
          <a:solidFill>
            <a:srgbClr val="D9BC94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6995159" y="3535680"/>
            <a:ext cx="3931921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95159" y="3639312"/>
            <a:ext cx="3931921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95159" y="3742944"/>
            <a:ext cx="3931921" cy="0"/>
          </a:xfrm>
          <a:prstGeom prst="line">
            <a:avLst/>
          </a:prstGeom>
          <a:ln w="9525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949440" y="3867912"/>
            <a:ext cx="4023360" cy="310896"/>
          </a:xfrm>
          <a:prstGeom prst="rect">
            <a:avLst/>
          </a:prstGeom>
          <a:solidFill>
            <a:srgbClr val="8D6E4B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200900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03819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206740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709660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12580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15500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18420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721340" y="3895344"/>
            <a:ext cx="0" cy="256032"/>
          </a:xfrm>
          <a:prstGeom prst="line">
            <a:avLst/>
          </a:prstGeom>
          <a:ln w="9525">
            <a:solidFill>
              <a:srgbClr val="6E53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109960" y="233172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6E5335"/>
                </a:solidFill>
                <a:latin typeface="Calibri"/>
              </a:rPr>
              <a:t>세로결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271576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9C7649"/>
                </a:solidFill>
                <a:latin typeface="Calibri"/>
              </a:rPr>
              <a:t>가로결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4805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결 방향이 서로 직각이 되도록 홀수 겹을 쌓아 접착한다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방향에 따른 강도 차이(이방성)를 줄이고 치수 안정성을 높인다</a:t>
            </a:r>
          </a:p>
          <a:p>
            <a:pPr algn="l" indent="-182880" marL="18288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2A1D16"/>
                </a:solidFill>
                <a:latin typeface="Calibri"/>
              </a:rPr>
              <a:t>표면 상태에 따라 내수합판 등 등급으로 구분한다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15장  복합재 패널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복합재 패널 — 파티클보드 · OSB · 섬유판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505200" cy="4434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865120" cy="1005840"/>
          </a:xfrm>
          <a:prstGeom prst="roundRect">
            <a:avLst>
              <a:gd name="adj" fmla="val 10000"/>
            </a:avLst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286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450" b="1" i="0">
                <a:solidFill>
                  <a:srgbClr val="2A1D16"/>
                </a:solidFill>
                <a:latin typeface="Cambria"/>
              </a:rPr>
              <a:t>파티클보드 (PB)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28651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나무 조각(파티클)과 접착제를 압착해 만든다. 저렴해 가구 내부 구조재로 널리 쓰인다.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8160" y="1600200"/>
            <a:ext cx="3505200" cy="4434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8200" y="1920240"/>
            <a:ext cx="2865120" cy="1005840"/>
          </a:xfrm>
          <a:prstGeom prst="roundRect">
            <a:avLst>
              <a:gd name="adj" fmla="val 1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8200" y="3154680"/>
            <a:ext cx="286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450" b="1" i="0">
                <a:solidFill>
                  <a:srgbClr val="2A1D16"/>
                </a:solidFill>
                <a:latin typeface="Cambria"/>
              </a:rPr>
              <a:t>배향성 스트랜드보드 (OSB)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931920"/>
            <a:ext cx="28651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얇고 긴 나무 조각(스트랜드)을 층마다 방향을 맞춰 배열·압착한다. 구조용 판재로 사용된다.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9120" y="1600200"/>
            <a:ext cx="3505200" cy="443484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19160" y="1920240"/>
            <a:ext cx="2865120" cy="1005840"/>
          </a:xfrm>
          <a:prstGeom prst="roundRect">
            <a:avLst>
              <a:gd name="adj" fmla="val 10000"/>
            </a:avLst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9160" y="3154680"/>
            <a:ext cx="286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450" b="1" i="0">
                <a:solidFill>
                  <a:srgbClr val="2A1D16"/>
                </a:solidFill>
                <a:latin typeface="Cambria"/>
              </a:rPr>
              <a:t>섬유판 (MDF/HDF)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9160" y="3931920"/>
            <a:ext cx="28651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나무 섬유를 곱게 갈아 압착한다. 표면이 매끄러워 도장·정밀 가공에 유리하다.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16장  집성접합 제재목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구조용 집성재와 I자보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구조용 집성재 (Glulam)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4389120" cy="256032"/>
          </a:xfrm>
          <a:prstGeom prst="rect">
            <a:avLst/>
          </a:prstGeom>
          <a:solidFill>
            <a:srgbClr val="8D6E4B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670048"/>
            <a:ext cx="4389120" cy="256032"/>
          </a:xfrm>
          <a:prstGeom prst="rect">
            <a:avLst/>
          </a:prstGeom>
          <a:solidFill>
            <a:srgbClr val="D9BC94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962656"/>
            <a:ext cx="4389120" cy="256032"/>
          </a:xfrm>
          <a:prstGeom prst="rect">
            <a:avLst/>
          </a:prstGeom>
          <a:solidFill>
            <a:srgbClr val="8D6E4B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3255264"/>
            <a:ext cx="4389120" cy="256032"/>
          </a:xfrm>
          <a:prstGeom prst="rect">
            <a:avLst/>
          </a:prstGeom>
          <a:solidFill>
            <a:srgbClr val="D9BC94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547872"/>
            <a:ext cx="4389120" cy="256032"/>
          </a:xfrm>
          <a:prstGeom prst="rect">
            <a:avLst/>
          </a:prstGeom>
          <a:solidFill>
            <a:srgbClr val="8D6E4B"/>
          </a:solidFill>
          <a:ln w="9525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여러 판재를 결 방향을 맞춰 접착 적층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원목보다 크고 긴 부재를 만들 수 있다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옹이 등 결함을 분산시켜 강도가 고르다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 b="0">
                <a:solidFill>
                  <a:srgbClr val="2A1D16"/>
                </a:solidFill>
                <a:latin typeface="Calibri"/>
              </a:rPr>
              <a:t>큰 보·기둥 등 구조재에 사용된다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구조용 복합재 — I자보(I-joist)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377440"/>
            <a:ext cx="2377440" cy="292608"/>
          </a:xfrm>
          <a:prstGeom prst="rect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4096512"/>
            <a:ext cx="2377440" cy="292608"/>
          </a:xfrm>
          <a:prstGeom prst="rect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2670048"/>
            <a:ext cx="256032" cy="1426464"/>
          </a:xfrm>
          <a:prstGeom prst="rect">
            <a:avLst/>
          </a:prstGeom>
          <a:solidFill>
            <a:srgbClr val="D9BC94"/>
          </a:solidFill>
          <a:ln w="12700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3774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플랜지 (LVL 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24612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웨브 (합판·OSB)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위아래 플랜지가 휨을 버티고, 얇은 웨브가 전단을 담당한다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2A1D16"/>
                </a:solidFill>
                <a:latin typeface="Calibri"/>
              </a:rPr>
              <a:t>가볍지만 강해 바닥 장선 등에 널리 쓰인다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17장  목재 구매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2A1D16"/>
                </a:solidFill>
                <a:latin typeface="Cambria"/>
              </a:rPr>
              <a:t>목재 구매 — 어디서, 무엇을 확인할까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9385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39" y="19202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제재율(수율)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7066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원목에서 실제 사용 가능한 목재의 비율. 옹이·갈라짐·굽음이 주요 손실 요인이다.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920" y="17373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1520" y="19385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520" y="1938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8760" y="19202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지역 제재소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27066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대량으로 비교적 저렴하게 구매할 수 있고, 원하는 두께로 주문 제재도 가능하다.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8640" y="17373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7240" y="19385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7240" y="1938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4480" y="19202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목공용 소매점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6384" y="27066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소량 구매에 적합하며 다양한 수종과 가공된 판재를 고를 수 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376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3388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388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39" y="43205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온라인 구매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51069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편리하지만 함수율·결함 상태를 직접 확인하기 어렵다는 단점이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2920" y="4137660"/>
            <a:ext cx="3535680" cy="20802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1520" y="4338828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1520" y="43388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8760" y="4320540"/>
            <a:ext cx="2392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구매 체크포인트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0664" y="5106924"/>
            <a:ext cx="3078480" cy="10195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80" b="0" i="0">
                <a:solidFill>
                  <a:srgbClr val="7A6A5A"/>
                </a:solidFill>
                <a:latin typeface="Calibri"/>
              </a:rPr>
              <a:t>함수율계로 함수율을 확인하고, 뒤틀림·갈라짐·옹이 위치를 육안으로 점검한다.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FBF6EC"/>
                </a:solidFill>
                <a:latin typeface="Cambria"/>
              </a:rPr>
              <a:t>핵심 정리 (1장 ~ 9장)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143000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115568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목재는 수관·수간·뿌리로 이루어진 나무의 줄기 조직이며, 단면에는 수피·형성층·변재·심재가 나타난다.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46504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밀도·비중이 높을수록 대체로 더 단단하고 강도가 높다.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50008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22576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옹이·이상재·균류·곤충피해는 목재의 무늬와 강도에 영향을 준다.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53512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26080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도관 배열(환공재·산공재)과 조직 관찰로 수종을 식별할 수 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57016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5701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29584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힘의 종류와 방향(압축·인장·휨)에 따라 목재가 견디는 정도가 다르며, 구조등급으로 강도를 구분한다.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33088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목재는 열전도·연소·형광성 등 독특한 성질을 가지며 심리적 안정감도 준다.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764024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640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36592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목재는 흡습성이 있어 함수율(자유수·결합수)이 변하고, 섬유포화점 아래에서 치수가 변한다.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367528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675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340096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방향별 수축률 차이(길이&lt;방사&lt;접선) 때문에 사전건조·설계 등 대처법이 필요하다.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971032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71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943600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건조는 강도와 치수 안정성을 위해 필수이며, 스티킹 등 올바른 보관도 중요하다.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FBF6EC"/>
                </a:solidFill>
                <a:latin typeface="Cambria"/>
              </a:rPr>
              <a:t>핵심 정리 (9장 ~ 17장)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143000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115568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절삭은 결 방향(순결)을 따라야 매끄럽고, 휨가공은 증기휨·적층휨으로 곡선을 만든다.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46504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접합은 맞댄·겹침·장부·사개물림 등 형태와 못·나사·볼트 같은 체결구로 이루어진다.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50008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22576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접착제는 표면에 스며들어 기계적·화학적으로 결합하며, 종류마다 특성과 용도가 다르다.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53512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26080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도장은 무처리·코팅형·침투형으로 나뉘고, 보존처리는 야외 목재의 수명을 늘린다.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57016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5701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29584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제재목은 정목·판목으로 켜며, 명목치수와 실제치수가 다르다.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33088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합판은 결 방향을 교차시켜 쌓아 강도의 방향성(이방성)을 줄인다.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764024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640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36592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파티클보드·OSB·MDF 등 복합재 패널은 용도에 맞게 선택한다.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367528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675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340096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집성재와 I자보는 원목보다 크고 안정적인 구조부재를 만든다.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971032"/>
            <a:ext cx="420624" cy="420624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71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943600"/>
            <a:ext cx="10424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80" b="0" i="0">
                <a:solidFill>
                  <a:srgbClr val="FBF6EC"/>
                </a:solidFill>
                <a:latin typeface="Calibri"/>
              </a:rPr>
              <a:t>목재 구매 시 제재율, 구매처 특성, 함수율·결함 확인이 중요하다.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
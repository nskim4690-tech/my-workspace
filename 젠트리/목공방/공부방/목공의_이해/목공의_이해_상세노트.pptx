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2468879"/>
            <a:ext cx="6583680" cy="65836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2926079"/>
            <a:ext cx="5669280" cy="56692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3383279"/>
            <a:ext cx="4754880" cy="47548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3840479"/>
            <a:ext cx="3840480" cy="38404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0" y="4297679"/>
            <a:ext cx="2926080" cy="29260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4754879"/>
            <a:ext cx="2011680" cy="2011680"/>
          </a:xfrm>
          <a:prstGeom prst="ellipse">
            <a:avLst/>
          </a:prstGeom>
          <a:noFill/>
          <a:ln w="19050">
            <a:solidFill>
              <a:srgbClr val="6E53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0" y="5212079"/>
            <a:ext cx="1097280" cy="1097280"/>
          </a:xfrm>
          <a:prstGeom prst="ellipse">
            <a:avLst/>
          </a:prstGeom>
          <a:noFill/>
          <a:ln w="19050">
            <a:solidFill>
              <a:srgbClr val="8D6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97312" y="5650992"/>
            <a:ext cx="219456" cy="219456"/>
          </a:xfrm>
          <a:prstGeom prst="ellipse">
            <a:avLst/>
          </a:prstGeom>
          <a:solidFill>
            <a:srgbClr val="D9BC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57200"/>
            <a:ext cx="1280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4400" b="0" i="0">
                <a:solidFill>
                  <a:srgbClr val="2A1D16"/>
                </a:solidFill>
                <a:latin typeface="Calibri"/>
              </a:rPr>
              <a:t>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4600" b="1" i="0">
                <a:solidFill>
                  <a:srgbClr val="FBF6EC"/>
                </a:solidFill>
                <a:latin typeface="Cambria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650" b="0" i="0">
                <a:solidFill>
                  <a:srgbClr val="D9BC94"/>
                </a:solidFill>
                <a:latin typeface="Calibri"/>
              </a:rPr>
              <a:t>17개 장 전문 심화 — 수치·공식·기준표로 보는 목재 재료학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0" i="0">
                <a:solidFill>
                  <a:srgbClr val="8D6E4B"/>
                </a:solidFill>
                <a:latin typeface="Calibri"/>
              </a:rPr>
              <a:t>기능사 필기 심화 자기공부용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CONTENTS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목차 (1장 ~ 9장)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463040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특성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463040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생장률·만재율, 심재/변재, 비중표, 세포조직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3392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93392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무늬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93392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생옹이/사옹이, 압축·인장이상재, 갈색/백색부후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23744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23744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23744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23744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환공재/산공재/반환공재, 현장 식별 순서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54096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054096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054096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054096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6대 강도, MOE/MOR, 하중지속, 등급(SS~No.3)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84448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84448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584448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목재의 다른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584448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열전도율 비교, 탄화속도, 함수율계 원리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14800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14800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114800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목재와 수분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14800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함수율 공식, FSP, EMC 계절별 수치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45152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45152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645152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치수변화와 대처법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45152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방향별 수축률(%), T/R비, 변형 패턴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75504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75504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5175504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건조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175504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건조 스케줄 4단계, 결함 5종, 스티킹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705856"/>
            <a:ext cx="11247120" cy="420623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705856"/>
            <a:ext cx="5029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705856"/>
            <a:ext cx="301752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절삭과 휨가공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705856"/>
            <a:ext cx="6949440" cy="4206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절삭각, 증기휨 조건, 적층휨 스프링백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CONTENTS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목차 (10장 ~ 17장)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0876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접합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접합 6종 비교, 장부이음 설계 경험칙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12264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12264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12264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접착과 접착제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12264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접착 원리, 접착제 7종 비교표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5768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15768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71576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도장과 보존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15768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도장 4방식, 공정 순서, 보존처리 3종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19272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2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제재목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19272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정목/판목, 수율, 명목↔실제치수 환산표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22776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22776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22776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단판과 합판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2776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로터리컷/슬라이싱, 직교적층 원리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26280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2628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복합재 패널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526280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PB·OSB·MDF 밀도·강도·용도 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29783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29783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129783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집성접합 제재목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129783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Glulam 원리, I자보 역학, 공학목재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33288"/>
            <a:ext cx="11247120" cy="475488"/>
          </a:xfrm>
          <a:prstGeom prst="roundRect">
            <a:avLst>
              <a:gd name="adj" fmla="val 16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33288"/>
            <a:ext cx="594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800" b="1" i="0">
                <a:solidFill>
                  <a:srgbClr val="8D6E4B"/>
                </a:solidFill>
                <a:latin typeface="Cambria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73328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2A1D16"/>
                </a:solidFill>
                <a:latin typeface="Calibri"/>
              </a:rPr>
              <a:t>목재 구매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733288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buNone/>
            </a:pPr>
            <a:r>
              <a:rPr sz="1080" b="0" i="0">
                <a:solidFill>
                  <a:srgbClr val="7A6A5A"/>
                </a:solidFill>
                <a:latin typeface="Calibri"/>
              </a:rPr>
              <a:t>수율·단위, 구매처 비교, 검수 체크리스트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생장륜과 심재·변재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45601F"/>
                </a:solidFill>
                <a:latin typeface="Cambria"/>
              </a:rPr>
              <a:t>생장륜(나이테)과 만재율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0195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조재(춘재): 생장 빠름 → 세포벽 얇고 밀도 낮음, 색 연함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만재(추재): 생장 느림 → 세포벽 두껍고 밀도 높음, 색 진함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만재율(%) = 만재 폭 ÷ 나이테 전체 폭 × 100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급속생장 시 — 침엽수: 밀도↓ / 환공재 활엽수: 밀도↑ (수종별 반대 경향, 시험 함정)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486400" cy="23317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50" b="1" i="0">
                <a:solidFill>
                  <a:srgbClr val="45601F"/>
                </a:solidFill>
                <a:latin typeface="Cambria"/>
              </a:rPr>
              <a:t>심재화(Heartwood Formation)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0195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변재 세포가 죽으며 추출물(타닌·수지 등) 축적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색·내구성은 ↑ 되지만 방부제 흡수성은 ↓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30" b="0">
                <a:solidFill>
                  <a:srgbClr val="2A1D16"/>
                </a:solidFill>
                <a:latin typeface="Calibri"/>
              </a:rPr>
              <a:t>방부처리 시 변재가 유리, 심재는 침투가 어려움(주의)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977639"/>
          <a:ext cx="112471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변재(Sapwood)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심재(Heartwood)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형성층 가까운 바깥쪽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중심부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기능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수분·양분 이동(살아있는 세포)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기계적 지지만(죽은 세포)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색·내구성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연함 / 부후·충해에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진함 / 추출물로 내구성 높음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A1D16"/>
                          </a:solidFill>
                          <a:latin typeface="Calibri"/>
                        </a:rPr>
                        <a:t>방부제 침투성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좋음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A1D16"/>
                          </a:solidFill>
                          <a:latin typeface="Calibri"/>
                        </a:rPr>
                        <a:t>나쁨(치밀화)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1장  목재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밀도·비중과 세포조직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기본비중</a:t>
            </a:r>
            <a:r>
              <a:rPr sz="1150" b="0" i="0">
                <a:solidFill>
                  <a:srgbClr val="2A1D16"/>
                </a:solidFill>
                <a:latin typeface="Calibri"/>
              </a:rPr>
              <a:t> = 전건중량 ÷ 생재(포화) 부피 ÷ 물의 밀도</a:t>
            </a:r>
          </a:p>
          <a:p>
            <a:pPr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150" b="0" i="0">
                <a:solidFill>
                  <a:srgbClr val="2A1D16"/>
                </a:solidFill>
                <a:latin typeface="Calibri"/>
              </a:rPr>
              <a:t>세포벽 자체의 실제 비중은 수종 무관 약 1.5로 일정 — 수종별 차이는 세포벽 두께·공극률 차이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286000"/>
          <a:ext cx="5486399" cy="3931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6246"/>
                <a:gridCol w="2110153"/>
              </a:tblGrid>
              <a:tr h="357447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수종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기본비중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발사나무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삼나무(스기)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0.35~0.40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소나무(적송)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0.45~0.50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잣나무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0.40~0.45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낙엽송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0.50~0.55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자작나무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0.55~0.65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단풍나무(메이플)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0.55~0.63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느티나무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0.60~0.65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참나무(오크류)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0.60~0.75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2A1D16"/>
                          </a:solidFill>
                          <a:latin typeface="Calibri"/>
                        </a:rPr>
                        <a:t>흑단(에보니)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2A1D16"/>
                          </a:solidFill>
                          <a:latin typeface="Calibri"/>
                        </a:rPr>
                        <a:t>0.95 이상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17920" y="1371600"/>
            <a:ext cx="5486400" cy="22860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90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침엽수 (균질재)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10512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가도관(헛물관): 전체의 약 90~95%, 수분이동+지지 겸함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방사유세포: 양분을 가로(방사)방향으로 이동·저장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수지구: 소나무속 등 일부에만 존재(식별 포인트)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486400" cy="26060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9593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활엽수 (역할 분업)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79392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도관: 수분이동 전담(단면에 구멍으로 관찰)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섬유: 두꺼운 세포벽, 기계적 지지 전담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방사조직 발달 → 참나무 등 메디큘러 레이 무늬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도관배열 3분류: 환공재 / 산공재 / 반환공재 (3장)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2장  목재 무늬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옹이와 이상재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73736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옹이(Knot) — 생옹이 vs 사옹이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생옹이(산옹이, Intergrown knot): 가지가 살아있을 때 유합 → 단단히 붙음, 결 급격히 꺾여 응력집중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사옹이(죽은옹이, Encased/Dead knot): 먼저 고사한 가지를 줄기가 감싸며 자람 → 유합 안 돼 빠지기 쉬움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강도 영향: 인장강도 저하가 가장 큼, 압축강도는 상대적으로 영향 적음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017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603503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압축이상재(침엽수)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인장이상재(활엽수)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발생 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기울어진 줄기의 아래쪽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기울어진 줄기의 위쪽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조직 특징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세포벽 두껍고 원형, 리그닌 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젤라틴층(G-layer), 셀룰로오스 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길이방향 수축률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정상재(0.1~0.3%)보다 훨씬 큼(최대 2%)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정상재보다 큼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문제점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건조 중 휨·뒤틀림, 가구재 부적합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절삭 시 보풀(furry surface)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2장  목재 무늬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균류와 곤충 피해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4217670"/>
                <a:gridCol w="421767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갈색부후(Brown rot)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백색부후(White rot)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분해 대상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셀룰로오스·헤미셀룰로오스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셀룰로오스+리그닌 모두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외관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갈색, 입방체 균열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흰색, 스펀지처럼 물러짐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강도 저하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초기부터 급격(위험)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비교적 서서히 진행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8D6E4B"/>
                </a:solidFill>
                <a:latin typeface="Calibri"/>
              </a:rPr>
              <a:t>부후 발생 4조건(하나만 제거해도 예방): 산소·온도(20~35°C)·함수율 20% 이상·양분 → 건조 유지가 최고의 예방책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/>
                <a:gridCol w="3998976"/>
                <a:gridCol w="474878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흰개미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개나무좀·가루나무좀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서식환경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땅속, 습한 구조재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건조된 변재(전분 함유)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피해형태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속을 갉아먹어 겉은 멀쩡해 보임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지름 1~2mm 구멍 + 고운 가루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예방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방부처리, 콘크리트 직접접촉 차단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변재 제거, 저함수율 유지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3장  목재 식별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식별 특성과 도관 배열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특성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확인 방법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색상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심재/변재 색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절삭 직후 냄새(삼나무·편백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촉감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표면 매끄러움·유분감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무게감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비중 추정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2A1D16"/>
                          </a:solidFill>
                          <a:latin typeface="Calibri"/>
                        </a:rPr>
                        <a:t>나이테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2A1D16"/>
                          </a:solidFill>
                          <a:latin typeface="Calibri"/>
                        </a:rPr>
                        <a:t>조재/만재 색·폭 대비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17920" y="1417320"/>
            <a:ext cx="5486400" cy="265176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현장 식별 순서(실무 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56231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① 무게를 들어본다 → 비중 대역 추정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② 단면에 구멍(도관) 유무 → 활엽수/침엽수 구분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③ 환공재 vs 산공재 확인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④ 향을 맡는다 (침엽수 구분에 유효)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⑤ 색상·무늬로 최종 확인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343400"/>
          <a:ext cx="1124711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8533"/>
                <a:gridCol w="4401046"/>
                <a:gridCol w="3667539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유형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대표 수종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환공재(Ring-porous)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조재에 큰 도관이 띠 모양 집중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참나무, 느티나무, 물푸레나무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산공재(Diffuse-porous)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도관이 단면 전체에 고르게 분포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자작나무, 단풍나무, 벚나무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반환공재(Semi ring-porous)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조재→만재로 점차 작아짐(경계 불명확)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호두나무(월넛)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4장  목재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강도의 종류 · MOE와 MOR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18" cy="3017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9528"/>
                <a:gridCol w="4401046"/>
                <a:gridCol w="4156544"/>
              </a:tblGrid>
              <a:tr h="431074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강도 종류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섬유방향 대비 상대 강도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종압축강도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 방향으로 누르는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기준(가장 잘 견디는 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횡압축강도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섬유에 직각으로 누르는 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종압축의 약 1/4~1/10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인장강도(섬유)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 방향으로 당기는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목재에서 가장 큰 강도값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횡인장강도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섬유에 직각으로 당기는 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매우 약함(갈라지는 방향)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전단강도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층이 미끄러지듯 밀리는 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섬유방향 전단 특히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휨강도(MOR)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보처럼 걸쳐 눌렀을 때 파괴응력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압축·인장·전단 복합작용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74519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8172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MOE vs MOR (시험 단골)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01768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MOE(탄성계수): 하중에 얼마나 휘는가(강성) — 처짐 계산, MSR 표기에 사용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MOR(파괴계수): 부러질 때까지의 최대 응력 — 강도 그 자체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밀도↑ → 대체로 둘 다 ↑ 이지만 서로 별개의 물성 — MOE 높다고 MOR도 반드시 높은 건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4장  목재 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강도 영향 요인과 구조 등급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5486400" cy="4114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587828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요인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영향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함수율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FSP 이하 1%↓당 압축강도 약 4~6%↑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밀도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높을수록 강도↑(거듭제곱 비례 경향)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옹이·결함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인장강도 급감, 압축은 영향 적음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경사결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1:10 기울기만 되어도 강도 급감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하중지속시간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오래 지속될수록 강도↓(크리프)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온도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높을수록 강도↓, 크리프 가속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17920" y="1371600"/>
            <a:ext cx="5486400" cy="22860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490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등급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1051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육안등급: 옹이·결기울기·갈라짐을 육안 검사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기계등급(MSR): 기계로 E(탄성계수) 실측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표기 예: "1650Fb-1.5E" → 허용휨응력 1650psi, E=1.5×10⁶psi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9593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8D6E4B"/>
                </a:solidFill>
                <a:latin typeface="Cambria"/>
              </a:rPr>
              <a:t>등급 체계(북미 구조재 기준 참고)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4315968"/>
            <a:ext cx="1005840" cy="502920"/>
          </a:xfrm>
          <a:prstGeom prst="roundRect">
            <a:avLst>
              <a:gd name="adj" fmla="val 20000"/>
            </a:avLst>
          </a:prstGeom>
          <a:solidFill>
            <a:srgbClr val="8D6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4315968"/>
            <a:ext cx="1005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9377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7A6A5A"/>
                </a:solidFill>
                <a:latin typeface="Calibri"/>
              </a:rPr>
              <a:t>등급↑ = 결함 허용치 엄격 → 큰 하중 보·기둥에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5장  목재의 다른 특성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열·불·빛·전기 — 그 밖의 특성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3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391"/>
                <a:gridCol w="310100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재료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열전도율(W/m·K, 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목재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0.1 ~ 0.2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콘크리트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1.4 ~ 1.7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강철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45 ~ 50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63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00" b="0" i="1">
                <a:solidFill>
                  <a:srgbClr val="8D6E4B"/>
                </a:solidFill>
                <a:latin typeface="Calibri"/>
              </a:rPr>
              <a:t>밀도·함수율이 높을수록 열전도율도 증가(공극 감소)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48640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연소와 탄화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착화점(발화점) 대략 250~300°C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탄화속도 대략 0.6~0.8mm/분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탄화층이 내부를 일정시간 보호(대형목구조 내화설계 근거)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11247120" cy="23774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935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형광성 · 전기절연성 · 심리적 특성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형광성: 일부 수종(아까시나무 심재 등)이 UV에 형광 반응 — 수종 감별 보조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전기 절연성: 건조목은 절연체에 가까우나 함수율↑ → 전기저항 급격히 ↓ (전기저항식 함수율계의 원리)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심리적 특성: 나뭇결·향이 안정감을 줌 — 바이오필리아 디자인에서 활용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6장  목재와 수분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함수율의 정의와 FSP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90472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150" b="1" i="0">
                <a:solidFill>
                  <a:srgbClr val="2A1D16"/>
                </a:solidFill>
                <a:latin typeface="Calibri"/>
              </a:rPr>
              <a:t>함수율(%) = (습윤중량 − 전건중량) ÷ </a:t>
            </a:r>
            <a:r>
              <a:rPr sz="1150" b="1" i="0">
                <a:solidFill>
                  <a:srgbClr val="45601F"/>
                </a:solidFill>
                <a:latin typeface="Calibri"/>
              </a:rPr>
              <a:t>전건중량</a:t>
            </a:r>
            <a:r>
              <a:rPr sz="1150" b="1" i="0">
                <a:solidFill>
                  <a:srgbClr val="2A1D16"/>
                </a:solidFill>
                <a:latin typeface="Calibri"/>
              </a:rPr>
              <a:t> × 100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>
                <a:solidFill>
                  <a:srgbClr val="2A1D16"/>
                </a:solidFill>
                <a:latin typeface="Calibri"/>
              </a:rPr>
              <a:t>분모가 전건중량이라 생재 함수율은 100%를 훌쩍 넘기도 함(침엽수 변재 200%↑ 사례도)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514600"/>
          <a:ext cx="54863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0788"/>
                <a:gridCol w="2037805"/>
                <a:gridCol w="2037805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자유수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결합수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위치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세포 내강(빈 공간)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세포벽 내부(수소결합)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모세관현상, 빠지기 쉬움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빠지기 어려움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치수·강도 영향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거의 없음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수축의 원인, 강도 변화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2514600"/>
            <a:ext cx="5486400" cy="30175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6334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섬유포화점(FSP)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97180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자유수가 모두 빠지고 결합수만 남은 상태 — 대표적으로 약 28~30%(수종별 22~35%)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FSP 이상: 함수율 변해도 치수·강도 불변(자유수만 증감)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FSP 이하: 함수율 변하면 치수 변화 + 강도 변화(↓함수율 → ↑강도)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11247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00" b="0" i="1">
                <a:solidFill>
                  <a:srgbClr val="7A6A5A"/>
                </a:solidFill>
                <a:latin typeface="Calibri"/>
              </a:rPr>
              <a:t>측정법: ① 전건법(고온 건조 전후 무게 비교, 가장 정확) ② 전기저항식 함수율계(저항 측정, 5~30% 구간 신뢰도 높음) ③ 정전용량식 함수율계(비접촉, 표층 측정)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6장  목재와 수분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평형함수율(EMC)과 건조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2743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904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300" b="1" i="0">
                <a:solidFill>
                  <a:srgbClr val="45601F"/>
                </a:solidFill>
                <a:latin typeface="Cambria"/>
              </a:rPr>
              <a:t>평형함수율(EMC)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일정 온습도에 오래 두면 도달하는 평형 함수율. 상대습도·온도로 결정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834640"/>
          <a:ext cx="5029199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892"/>
                <a:gridCol w="1934307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계절·환경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EMC(대략)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여름(고온다습)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16~18%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겨울(저온건조,난방)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8~10%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실내(냉난방 상시)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10~12%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371600"/>
          <a:ext cx="548639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2810"/>
                <a:gridCol w="1631091"/>
                <a:gridCol w="2372497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함수율(대략)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설명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생재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FSP 이상(100%↑)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벌목 직후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기건재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12~18%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자연 대기 건조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인공건조재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6~12%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건조실 강제 건조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217920" y="3749039"/>
            <a:ext cx="5486400" cy="26974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86791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실무 시사점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가구·창호는 사용 환경 EMC에 맞춰 미리 건조해야 설치 후 변형이 없음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실내 난방 환경이면 함수율 10~12%까지 낮춰 제작하는 것이 일반적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불균일 수축 → 건조응력 → 표면/내부균열·뒤틀림으로 연결(8장)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7장  목재 치수변화와 대처법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방향별 수축률과 변형 패턴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54863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142"/>
                <a:gridCol w="2547257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방향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총 수축률(대략)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길이(섬유)방향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0.1~0.3%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방사방향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3~6%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A1D16"/>
                          </a:solidFill>
                          <a:latin typeface="Calibri"/>
                        </a:rPr>
                        <a:t>접선방향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A1D16"/>
                          </a:solidFill>
                          <a:latin typeface="Calibri"/>
                        </a:rPr>
                        <a:t>6~12%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030" b="0" i="1">
                <a:solidFill>
                  <a:srgbClr val="8D6E4B"/>
                </a:solidFill>
                <a:latin typeface="Calibri"/>
              </a:rPr>
              <a:t>T/R비(접선/방사 수축비) = 접선÷방사 ≈ 1.5~2.0배 — 이 비율이 클수록 건조 중 뒤틀림 경향이 큰 수종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486400" cy="30175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방향차가 생기는 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세포가 길이방향으로 길게 배열 → 축방향 수축 거의 없음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방사조직이 방사방향 수축을 물리적으로 억제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나이테가 곡선이므로 켜는 방법(정목/판목)에 따라 체감 변형 방향이 달라짐(13장)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720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98720"/>
                <a:gridCol w="6248400"/>
              </a:tblGrid>
              <a:tr h="40005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판재 위치(원목 단면 기준)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변형 형태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수심 부근(정목에 가까움)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변형 적음, 비교적 안정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원목 바깥쪽(판목에 가까움)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컵핑(cupping) — 접선수축 커서 활처럼 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수심 포함 판재 / 정사각 각재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다이아몬드형 변형 / 원형→타원형 변형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7장  목재 치수변화와 대처법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치수 변화 대처법 7가지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사전건조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01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사용 환경 EMC에 맞춰 미리 건조 — 가장 근본적 대책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91640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50876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수분흡수 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01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도장으로 수분 출입 '속도'를 늦춤(완전 차단 불가)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87752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862072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기계적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71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슬롯 홀·부동촉 등으로 여유는 주되 방향은 구속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87752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862072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8620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화학적 안정화 처리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971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PEG 함침 등으로 세포벽 내부를 채워 수축·팽윤 자체를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758184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4962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설계 대응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422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정목 켜기 우선, 결 방향 직교배치, 여유 슬롯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758184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46520" y="4032504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849624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습도 추적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1422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습도계로 작업장·보관 환경 상시 확인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928616"/>
            <a:ext cx="5440680" cy="10058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0080" y="5202936"/>
            <a:ext cx="457200" cy="457200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2029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020055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2A1D16"/>
                </a:solidFill>
                <a:latin typeface="Cambria"/>
              </a:rPr>
              <a:t>자가 수분측정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34440" y="5312664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1000" b="0" i="0">
                <a:solidFill>
                  <a:srgbClr val="7A6A5A"/>
                </a:solidFill>
                <a:latin typeface="Calibri"/>
              </a:rPr>
              <a:t>휴대용 함수율계로 가공 전 목표 함수율(8~12%)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8장  목재 건조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건조 방식과 건조 스케줄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4248912"/>
                <a:gridCol w="4748784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천연건조(Air-drying)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인공건조(Kiln-drying)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그늘·통풍으로 자연 증발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건조실에서 온습도·풍속 강제 제어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소요기간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수개월~수년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며칠~수 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도달 함수율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지역 EMC 수준(약 12~18%)까지만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목표 함수율(6~12%)까지 자유 조절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749039"/>
            <a:ext cx="11247120" cy="2743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679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건조 스케줄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87952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① 초기가열(초기증기처리): 표면 급건조 방지 위해 높은 습도에서 예열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② 주 건조 단계: 함수율↓에 따라 온도↑·습도↓로 건조속도 유지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③ 평형화(Equalizing): 부재 간·부재 내 함수율 편차 감소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④ 컨디셔닝(Conditioning): 건조응력 해소 위해 일시적으로 습도↑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급건조 위험: 표면 먼저 수축(인장응력) → 표면균열 / 케이스하드닝(내부 잔류응력)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8장  목재 건조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건조 결함과 제재목 보관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7501"/>
                <a:gridCol w="7069618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결함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원인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표면균열(Surface check)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급속 건조로 표면-내부 수축 속도 차이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내부균열(Honeycombing)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케이스하드닝 상태에서 내부가 나중에 수축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케이스 하드닝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표면 대비 내부 잔류응력 — 절단 시 확인됨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붕괴(Collapse)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일부 수종 세포가 통째로 찌그러짐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뒤틀림(Warp)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불균일 수축 — bow·crook·twist·cup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434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6227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스티킹(Sticking) 보관 핵심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73168"/>
            <a:ext cx="10789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받침대로 지면과 15~20cm 이상 띄우기, 스티커(간격재) 15~25mm 균일 사용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스티커를 수직 일직선으로 배치(어긋나면 처짐·변형), 간격 약 60cm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최상단에 하중을 얹어 뒤틀림 억제, 덮개로 직사광선·비 차단, 측면은 통풍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9장  목재 절삭과 휨가공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절삭의 원리와 휨가공 비교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9202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절삭각과 절삭성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절삭각이 작을수록 순결 방향에선 매끄럽지만, 역결·옹이에서는 뜯김↑ — 옹이 많으면 절삭각을 다소 크게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함수율 8~15% 구간에서 절삭성이 가장 양호 (과건조=부스러짐 / 과습=눌림)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80" b="0">
                <a:solidFill>
                  <a:srgbClr val="2A1D16"/>
                </a:solidFill>
                <a:latin typeface="Calibri"/>
              </a:rPr>
              <a:t>톱밥 형태로 진단: 고운 가루=날 무디거나 과건조 / 긴 리본=정상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56616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4"/>
                <a:gridCol w="4307407"/>
                <a:gridCol w="4546708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증기 휨(Steam Bending)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적층 휨(Laminated Bending)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재료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원목 각재(통재)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얇은 베니어 여러 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처리 조건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증기 약 100°C, 두께 25mm 기준 약 1시간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접착제로 겹겹이 압착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곡률 제한(경험적)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반지름 ≥ 두께×8~10배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반지름 ≥ 베니어두께×100배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형태 유지력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스프링백 있음, 시간 지나 다소 풀림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접착제가 고정, 유지력 우수(스프링백 보정 필요)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대표 용도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의자 등받이, 선체 골격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곡선 의자·캔틸레버 구조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10장  목재 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접합의 기본 형태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3931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876"/>
                <a:gridCol w="3186684"/>
                <a:gridCol w="2811780"/>
                <a:gridCol w="281178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이음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강도 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맞댄이음(Butt)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면과 면을 단순히 맞댐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접착만으론 가장 약함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못/나사 병용, 비구조용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겹침이음(Lap)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두 부재를 겹쳐 붙임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접착면적 증가로 더 강함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반턱이음 등으로 응용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장부이음(Mortise&amp;Tenon)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장부구멍에 장부를 끼움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전단·휨에 강함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문·창틀, 테이블 프레임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사개물림(Dovetail)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쐐기형 핀·테일이 맞물림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인장(당기는 힘)에 강함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서랍, 상자 모서리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핑거조인트(Finger)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톱니모양으로 맞물려 접착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길이 이음용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집성재 원자재, 몰딩재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비스킷/도미노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타원형 비스킷을 홈에 삽입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정렬+접착면적 소폭 증가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현대 가구 제작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050" b="0" i="1">
                <a:solidFill>
                  <a:srgbClr val="8D6E4B"/>
                </a:solidFill>
                <a:latin typeface="Calibri"/>
              </a:rPr>
              <a:t>접합부는 대체로 부재 본체보다 약한 지점이 되기 쉬우므로, '가장 약한 고리(weakest link)'를 파악하는 것이 설계의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10장  목재 접합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장부이음 설계와 체결접합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11247120" cy="16002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장부이음 설계 기준(경험칙)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장부 두께: 통상 부재 두께의 약 1/3 규칙 (예: 30mm 부재 → 장부 약 10mm)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장부는 부재의 섬유 방향과 나란해야 강도 확보(결을 가로지르면 쉽게 부러짐)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00400"/>
          <a:ext cx="1124711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3462"/>
                <a:gridCol w="8033657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체결구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특징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못(Nail)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시공 속도 빠름, 인발강도 낮음(링생크 못은 보강)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나사(Screw)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나사산이 파고들어 인발강도↑, 재시공(분해)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볼트·너트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큰 구조 접합, 분해 가능, 와셔로 압축손상 방지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2A1D16"/>
                          </a:solidFill>
                          <a:latin typeface="Calibri"/>
                        </a:rPr>
                        <a:t>목심(Dowel)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2A1D16"/>
                          </a:solidFill>
                          <a:latin typeface="Calibri"/>
                        </a:rPr>
                        <a:t>접착제 병용, 이음을 감추며 전단 보강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44068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030" b="0" i="1">
                <a:solidFill>
                  <a:srgbClr val="8D6E4B"/>
                </a:solidFill>
                <a:latin typeface="Calibri"/>
              </a:rPr>
              <a:t>체결부 취약성: 못·나사가 섬유에 직각으로 당기는 방향(횡인장)에 작용하면 쪼개짐 위험 → 미리 구멍(pilot hole), 충분한 연단거리 확보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11장  접착과 접착제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접착의 원리와 접착제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100" b="0" i="0">
                <a:solidFill>
                  <a:srgbClr val="7A6A5A"/>
                </a:solidFill>
                <a:latin typeface="Calibri"/>
              </a:rPr>
              <a:t>기계적 맞물림(목재 표면 구멍에 스며들어 굳으며 맞물림) + 화학적 결합(접착제-목재 성분 간 수소결합 등)이 함께 작용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11680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255"/>
                <a:gridCol w="3012621"/>
                <a:gridCol w="2209255"/>
                <a:gridCol w="3815987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접착제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주성분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내수성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특징·용도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PVA(목공풀)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폴리비닐아세테이트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낮음~중간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실내 가구 표준, 사용 간편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에폭시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2액형 수지+경화제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강력 접착, 틈 메움, 이종재료 접합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폴리우레탄(PU)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이소시아네이트계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경화 중 발포, 외부용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요소수지(UF)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요소+포름알데히드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낮음(실내용)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합판·PB·MDF 대량생산용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페놀수지(PF)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페놀+포름알데히드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매우 높음(내수1급)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구조용 합판·OSB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멜라민수지(MUF)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멜라민 강화 요소수지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UF보다 내수성↑, 집성재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핫멜트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열가소성 수지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제품별 상이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엣지밴딩 등 신속 가접착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12장  목재 도장과 보존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도장 방식과 공정 순서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5861"/>
                <a:gridCol w="2959768"/>
                <a:gridCol w="3157086"/>
                <a:gridCol w="3354404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방식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장점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단점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무처리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표면 그대로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가장 자연스러운 질감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오염·변색·수분에 취약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코팅형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표면에 연속 도막 형성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내마모·내수성 우수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촉감↓, 재도장시 전체 벗겨야함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침투형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내부로 스며들어 발수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촉감 자연스러움, 부분보수 용이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보호력 약함, 정기관리(연1~2회)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조합(침투+코팅)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침투 후 보호층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질감+보호력 절충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공정 단계 증가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434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46227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도장 공정 순서(코팅형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00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2A1D16"/>
                </a:solidFill>
                <a:latin typeface="Calibri"/>
              </a:rPr>
              <a:t>표면 준비(샌딩) → 샌딩실러(모공 메움) → 사포 재작업(#220) → 중도 → 사포 재작업 → 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49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도장 전 목표 함수율 10~14% 확인 — 높으면 도막 들뜸·백화 위험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샌딩실러는 환공재처럼 도관이 큰 목재에서 특히 중요(흡수 불균일 방지)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12장  목재 도장과 보존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목재 보존처리 — 야외·구조용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66"/>
                <a:gridCol w="3824020"/>
                <a:gridCol w="4948732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목적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방법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방부처리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부패균·곤충 침입 방지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가압주입 또는 표면도포(변재가 침투 잘됨)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방염처리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화재 확산 지연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표면도포형 또는 침윤형 방염제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UV 차단 마감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은회색 풍화(그레잉) 지연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UV 흡수제 함유 오일/도료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방수처리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수분 흡수 차단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발수제, 오일 마감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86200"/>
            <a:ext cx="11247120" cy="182880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8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가압방부처리 등급: 지면 접촉·침수 여부 등 사용 환경에 따라 방부제 주입량 기준이 다름 — 데크재는 구조재보다 높은 등급 요구</a:t>
            </a:r>
          </a:p>
          <a:p>
            <a:pPr algn="l" indent="-182880" marL="182880">
              <a:lnSpc>
                <a:spcPct val="115000"/>
              </a:lnSpc>
              <a:spcAft>
                <a:spcPts val="8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어떤 처리도 영구 보장은 안 됨 → 정기 점검 + 필요시 재처리가 실질적 장기 대책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13장 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제재 방식 — 정목과 판목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3703"/>
                <a:gridCol w="4546708"/>
                <a:gridCol w="454670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정목(Quarter-sawn)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판목(Flat-sawn)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절단 각도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나이테와 거의 수직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나이테와 거의 평행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무늬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일정하고 좁은 직선(메디큘러 레이)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넓고 화려한 산 무늬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치수 안정성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높음(접선수축이 두께방향으로만)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낮음(접선수축이 폭방향 → 컵핑)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수율·가격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수율 낮음 / 가격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수율 높음 / 가격 낮음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용도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고급 가구, 마루판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일반 구조재·보편적 가구재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434840"/>
            <a:ext cx="11247120" cy="20116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537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제재율(수율)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00" b="1" i="0">
                <a:solidFill>
                  <a:srgbClr val="2A1D16"/>
                </a:solidFill>
                <a:latin typeface="Calibri"/>
              </a:rPr>
              <a:t>제재율(%) = 실제 사용 가능 목재 부피 ÷ 원목 부피 ×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035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손실 요인: 겉껍질, 변재 결함부, 톱날 두께 손실(kerf loss), 옹이·갈라짐 제거</a:t>
            </a:r>
          </a:p>
          <a:p>
            <a:pPr algn="l" indent="-182880" marL="182880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sz="1030" b="0">
                <a:solidFill>
                  <a:srgbClr val="2A1D16"/>
                </a:solidFill>
                <a:latin typeface="Calibri"/>
              </a:rPr>
              <a:t>반정목(Rift-sawn): 정목·판목 중간 각도(약 30~60도) — 무늬 균일 + 수율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13장 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명목치수 vs 실제치수, 등급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80" b="1" i="0">
                <a:solidFill>
                  <a:srgbClr val="45601F"/>
                </a:solidFill>
                <a:latin typeface="Calibri"/>
              </a:rPr>
              <a:t>건조(수축)+대패가공(절삭)으로 실제치수는 명목치수보다 작아진다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2316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명목치수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실제치수(대략)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1×(예: 1×4)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19mm(3/4") 두께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38×89mm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2×6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38×140mm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A1D16"/>
                          </a:solidFill>
                          <a:latin typeface="Calibri"/>
                        </a:rPr>
                        <a:t>2×8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1D16"/>
                          </a:solidFill>
                          <a:latin typeface="Calibri"/>
                        </a:rPr>
                        <a:t>약 38×184mm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1792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제재목 분류와 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56231"/>
            <a:ext cx="50292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용도별 분류: 구조용재 / 마감재(몰딩·트림) / 가구용재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등급 기준: 옹이 크기·개수, 갈라짐·할렬, 결 기울기, 뒤틀림(bow·crook·twist·cup), 변색·부후 여부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등급↑ → 결함 허용치 엄격, 가격↑, 구조재 신뢰도↑(4장 등급과 연결)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함수율 표시: 등급 스탬프에 S-GRN(생재,19%↑) / S-DRY(건조재,19%↓) / KD(인공건조) 등이 함께 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14장  단판과 합판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단판 제조와 합판의 구조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8178"/>
                <a:gridCol w="4384470"/>
                <a:gridCol w="4384470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방식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원리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특징·용도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로터리컷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원목을 회전시키며 연속으로 얇게 벗겨냄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넓은 판 효율 생산, 소용돌이 무늬 — 합판용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슬라이싱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원목을 얇게 평행하게 썰어냄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정목/판목 방향에 따른 고급 무늬 — 화장합판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A1D16"/>
                          </a:solidFill>
                          <a:latin typeface="Calibri"/>
                        </a:rPr>
                        <a:t>하프라운드 슬라이싱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반원목을 축에서 살짝 벗어나 슬라이싱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A1D16"/>
                          </a:solidFill>
                          <a:latin typeface="Calibri"/>
                        </a:rPr>
                        <a:t>로터리·슬라이싱 중간 무늬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520440"/>
            <a:ext cx="11247120" cy="292608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3931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합판(Plywood)의 구조 원리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59352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홀수 겹 적층: 3,5,7… 겹으로 쌓아 표면 두 겹의 결방향이 같도록(대칭) — 짝수 겹은 뒤틀림 유발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결 방향 직교배치(cross-lamination): 인접 겹마다 섬유방향 90도 교차 → 이방성 상쇄, 치수안정성 확보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장점: 방향별 강도차 작음, 넓은 무이음 판 생산, 함수율 변화에 치수변화 작음, 결함 분산</a:t>
            </a:r>
          </a:p>
          <a:p>
            <a:pPr algn="l" indent="-182880" marL="182880">
              <a:lnSpc>
                <a:spcPct val="115000"/>
              </a:lnSpc>
              <a:spcAft>
                <a:spcPts val="7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등급: 표면등급(옹이·패치 균일도)과 접착제 내수성 등급(UF=실내용 / PF=내수·구조용)을 함께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15장  복합재 패널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파티클보드 · OSB · 섬유판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7" cy="4206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158"/>
                <a:gridCol w="2908737"/>
                <a:gridCol w="3102653"/>
                <a:gridCol w="3296569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구분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파티클보드(PB)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OSB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섬유판(MDF/HDF)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원재료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나무 조각(파티클)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얇고 긴 조각(스트랜드)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나무섬유(펄프화 수준)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배열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무작위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층마다 방향 배향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무작위(균질)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밀도(대략)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0.6~0.7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0.6~0.7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MDF 0.65~0.8 / HDF 0.8↑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표면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다소 거침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거침(마감 최소화)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매우 매끄러움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강도(휨)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낮음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구조용 강도 확보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PB보다 우수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A1D16"/>
                          </a:solidFill>
                          <a:latin typeface="Calibri"/>
                        </a:rPr>
                        <a:t>주 용도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가구 내부재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지붕·벽·바닥 구조용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A1D16"/>
                          </a:solidFill>
                          <a:latin typeface="Calibri"/>
                        </a:rPr>
                        <a:t>도장 가구, 정밀 CNC 가공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16장  집성접합 제재목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구조용 집성재와 I자보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구조용 집성재(Glulam)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50292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얇은 판재(라미나, 두께 30~45mm)를 결 방향 나란히 접착 적층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길이 부족분은 핑거조인트로 연결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장점: 원목 한계를 넘는 큰 단면·긴 길이 가능 / 결함을 저강도 위치(중립축)에 재배치 / 곡선(아치) 제작 가능</a:t>
            </a:r>
          </a:p>
          <a:p>
            <a:pPr algn="l" indent="-182880" marL="18288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100" b="0">
                <a:solidFill>
                  <a:srgbClr val="2A1D16"/>
                </a:solidFill>
                <a:latin typeface="Calibri"/>
              </a:rPr>
              <a:t>용도: 대형 지붕보, 아치, 기둥(중목구조·대형목구조 핵심)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486400" cy="484632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36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8D6E4B"/>
                </a:solidFill>
                <a:latin typeface="Cambria"/>
              </a:rPr>
              <a:t>I자보(I-joist)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56231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플랜지(상하 수평재, LVL 등): 휨의 인장·압축력 담당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웨브(중앙 수직재, 합판/OSB): 전단력 담당</a:t>
            </a:r>
          </a:p>
          <a:p>
            <a:pPr algn="l" indent="-182880" marL="182880">
              <a:lnSpc>
                <a:spcPct val="115000"/>
              </a:lnSpc>
              <a:spcAft>
                <a:spcPts val="6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응력이 중립축에서 0, 표면에서 최대 → 강한 재료는 표면(플랜지)에, 가벼운 재료는 중앙(웨브)에 배치 = 재료효율 최적 단면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4480560"/>
          <a:ext cx="50291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29"/>
                <a:gridCol w="310627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EWP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원리/용도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880" b="1">
                          <a:solidFill>
                            <a:srgbClr val="2A1D16"/>
                          </a:solidFill>
                          <a:latin typeface="Calibri"/>
                        </a:rPr>
                        <a:t>LVL(단판적층재)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>
                          <a:solidFill>
                            <a:srgbClr val="2A1D16"/>
                          </a:solidFill>
                          <a:latin typeface="Calibri"/>
                        </a:rPr>
                        <a:t>베니어 적층 — I자보 플랜지, 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880" b="1">
                          <a:solidFill>
                            <a:srgbClr val="2A1D16"/>
                          </a:solidFill>
                          <a:latin typeface="Calibri"/>
                        </a:rPr>
                        <a:t>PSL/LSL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 b="0">
                          <a:solidFill>
                            <a:srgbClr val="2A1D16"/>
                          </a:solidFill>
                          <a:latin typeface="Calibri"/>
                        </a:rPr>
                        <a:t>긴 스트랜드 적층 — 기둥·헤더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150" b="1" i="0">
                <a:solidFill>
                  <a:srgbClr val="45601F"/>
                </a:solidFill>
                <a:latin typeface="Calibri"/>
              </a:rPr>
              <a:t>17장  목재 구매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500" b="1" i="0">
                <a:solidFill>
                  <a:srgbClr val="2A1D16"/>
                </a:solidFill>
                <a:latin typeface="Cambria"/>
              </a:rPr>
              <a:t>구매처 비교와 검수 체크리스트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849"/>
                <a:gridCol w="4631167"/>
                <a:gridCol w="4190103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구매처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장점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단점</a:t>
                      </a:r>
                    </a:p>
                  </a:txBody>
                  <a:tcPr marL="73152" marR="73152" marT="27432" marB="27432" anchor="ctr">
                    <a:solidFill>
                      <a:srgbClr val="8D6E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지역 제재소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대량구매 유리, 맞춤 제재 가능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최소주문수량, 건조상태 편차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목공용 소매점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소량구매, 다양한 수종 비교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단가 상대적으로 높음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온라인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편리함, 가격 비교 용이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직접 상태 확인 불가</a:t>
                      </a:r>
                    </a:p>
                  </a:txBody>
                  <a:tcPr marL="73152" marR="73152" marT="27432" marB="27432" anchor="ctr">
                    <a:solidFill>
                      <a:srgbClr val="F1E4C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30" b="1">
                          <a:solidFill>
                            <a:srgbClr val="2A1D16"/>
                          </a:solidFill>
                          <a:latin typeface="Calibri"/>
                        </a:rPr>
                        <a:t>경매/원목시장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원목 저렴 대량 확보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30" b="0">
                          <a:solidFill>
                            <a:srgbClr val="2A1D16"/>
                          </a:solidFill>
                          <a:latin typeface="Calibri"/>
                        </a:rPr>
                        <a:t>안목 필요, 개인 건조 부담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023360"/>
            <a:ext cx="11247120" cy="1920240"/>
          </a:xfrm>
          <a:prstGeom prst="roundRect">
            <a:avLst>
              <a:gd name="adj" fmla="val 10000"/>
            </a:avLst>
          </a:prstGeom>
          <a:solidFill>
            <a:srgbClr val="F1E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42232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1250" b="1" i="0">
                <a:solidFill>
                  <a:srgbClr val="45601F"/>
                </a:solidFill>
                <a:latin typeface="Cambria"/>
              </a:rPr>
              <a:t>현장 검수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62272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함수율계 실측 / 뒤틀림(bow·crook·twist) 육안 확인 / 갈라짐·할렬 확인(마구리 두드려 소리 판단)</a:t>
            </a:r>
          </a:p>
          <a:p>
            <a:pPr algn="l" indent="-182880" marL="182880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sz="1050" b="0">
                <a:solidFill>
                  <a:srgbClr val="2A1D16"/>
                </a:solidFill>
                <a:latin typeface="Calibri"/>
              </a:rPr>
              <a:t>옹이 위치·크기 표시 / 변색·부후·충해 흔적 확인 / 등급 스탬프 확인 / 정목·판목 여부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600" b="1" i="0">
                <a:solidFill>
                  <a:srgbClr val="FBF6EC"/>
                </a:solidFill>
                <a:latin typeface="Cambria"/>
              </a:rPr>
              <a:t>핵심 정리 (1장 ~ 9장)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51560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2412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만재율↑ = 밀도·강도↑(침엽수) 경향, 심재는 내구성↑이지만 방부제 침투는 어려움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3220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22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477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기본비중은 전건중량÷생재부피÷물밀도 — 세포벽 자체 비중은 수종무관 약 1.5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8541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생옹이/사옹이, 압축·인장이상재는 강도·치수안정성을 저하시키는 핵심 결함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93491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34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6606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환공재(참나무)·산공재(자작나무)·반환공재(호두나무) — 도관배열로 수종 식별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46704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목재는 인장&gt;압축 강도, MOE(강성)와 MOR(파괴강도)는 서로 다른 물성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54779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5477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2734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함수율 1%↓당 압축강도 약 4~6%↑(FSP 이하), 등급은 SS&gt;No.1&gt;No.2&gt;No.3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3542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354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0799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FSP(약 28~30%) 기준 치수변화 시작, EMC는 계절(여름16~18%/겨울8~10%)에 따라 변함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11606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160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08863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수축률은 길이(0.1~0.3%)&lt;방사(3~6%)&lt;접선(6~12%) 순으로 커짐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96712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6928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건조는 4단계 스케줄로 진행하며 급건조는 표면균열·케이스하드닝을 유발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27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2600" b="1" i="0">
                <a:solidFill>
                  <a:srgbClr val="FBF6EC"/>
                </a:solidFill>
                <a:latin typeface="Cambria"/>
              </a:rPr>
              <a:t>핵심 정리 (9장 ~ 17장)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51560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02412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절삭은 함수율 8~15%에서 가장 양호, 증기휨은 곡률≥두께×8~10배가 안전 기준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3220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322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477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접합은 맞댄·겹침·장부·사개물림·핑거조인트 등으로 다양하며 각각 강도 특성이 다름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8541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장부 두께는 부재 두께의 약 1/3, 체결구는 못&lt;나사&lt;볼트 순으로 인발강도 상승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793491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34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6606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접착은 기계적 맞물림+화학적 결합 — PVA(실내)·에폭시·폴리우레탄·PF(내수) 등 용도별 선택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46704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도장은 무처리·코팅형·침투형·조합 4방식, 보존처리는 방부·방염·UV로 구분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954779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5477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27347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정목은 안정성, 판목은 수율 — 명목치수(2×4)는 실제로 약 38×89mm까지 줄어듦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35424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354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07992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합판은 홀수겹+직교적층으로 이방성을 상쇄, PB·OSB·MDF는 용도별 강도·표면특성이 다름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116068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160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088636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Glulam은 큰 단면을, I자보는 플랜지(휨)+웨브(전단) 분업으로 재료효율을 높임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96712"/>
            <a:ext cx="384048" cy="384048"/>
          </a:xfrm>
          <a:prstGeom prst="ellipse">
            <a:avLst/>
          </a:prstGeom>
          <a:solidFill>
            <a:srgbClr val="6E9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669280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080" b="0" i="0">
                <a:solidFill>
                  <a:srgbClr val="FBF6EC"/>
                </a:solidFill>
                <a:latin typeface="Calibri"/>
              </a:rPr>
              <a:t>목재 구매 시 제재율·구매처 특성·함수율과 결함 확인이 핵심 체크포인트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목공의 이해 · 상세노트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92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buNone/>
            </a:pPr>
            <a:r>
              <a:rPr sz="850" b="0" i="0">
                <a:solidFill>
                  <a:srgbClr val="7A6A5A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
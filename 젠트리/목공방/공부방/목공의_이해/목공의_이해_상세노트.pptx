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E27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315200" y="2468879"/>
            <a:ext cx="6583680" cy="6583680"/>
          </a:xfrm>
          <a:prstGeom prst="ellipse">
            <a:avLst/>
          </a:prstGeom>
          <a:noFill/>
          <a:ln w="19050">
            <a:solidFill>
              <a:srgbClr val="8D6E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2400" y="2926079"/>
            <a:ext cx="5669280" cy="5669280"/>
          </a:xfrm>
          <a:prstGeom prst="ellipse">
            <a:avLst/>
          </a:prstGeom>
          <a:noFill/>
          <a:ln w="19050">
            <a:solidFill>
              <a:srgbClr val="6E53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229600" y="3383279"/>
            <a:ext cx="4754880" cy="4754880"/>
          </a:xfrm>
          <a:prstGeom prst="ellipse">
            <a:avLst/>
          </a:prstGeom>
          <a:noFill/>
          <a:ln w="19050">
            <a:solidFill>
              <a:srgbClr val="8D6E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86800" y="3840479"/>
            <a:ext cx="3840480" cy="3840480"/>
          </a:xfrm>
          <a:prstGeom prst="ellipse">
            <a:avLst/>
          </a:prstGeom>
          <a:noFill/>
          <a:ln w="19050">
            <a:solidFill>
              <a:srgbClr val="6E53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144000" y="4297679"/>
            <a:ext cx="2926080" cy="2926080"/>
          </a:xfrm>
          <a:prstGeom prst="ellipse">
            <a:avLst/>
          </a:prstGeom>
          <a:noFill/>
          <a:ln w="19050">
            <a:solidFill>
              <a:srgbClr val="8D6E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601200" y="4754879"/>
            <a:ext cx="2011680" cy="2011680"/>
          </a:xfrm>
          <a:prstGeom prst="ellipse">
            <a:avLst/>
          </a:prstGeom>
          <a:noFill/>
          <a:ln w="19050">
            <a:solidFill>
              <a:srgbClr val="6E53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058400" y="5212079"/>
            <a:ext cx="1097280" cy="1097280"/>
          </a:xfrm>
          <a:prstGeom prst="ellipse">
            <a:avLst/>
          </a:prstGeom>
          <a:noFill/>
          <a:ln w="19050">
            <a:solidFill>
              <a:srgbClr val="8D6E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497312" y="5650992"/>
            <a:ext cx="219456" cy="219456"/>
          </a:xfrm>
          <a:prstGeom prst="ellipse">
            <a:avLst/>
          </a:prstGeom>
          <a:solidFill>
            <a:srgbClr val="D9BC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457200"/>
            <a:ext cx="12801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4400" b="0" i="0">
                <a:solidFill>
                  <a:srgbClr val="2A1D16"/>
                </a:solidFill>
                <a:latin typeface="Calibri"/>
              </a:rPr>
              <a:t>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920240"/>
            <a:ext cx="98755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4600" b="1" i="0">
                <a:solidFill>
                  <a:srgbClr val="FBF6EC"/>
                </a:solidFill>
                <a:latin typeface="Cambria"/>
              </a:rPr>
              <a:t>목공의 이해 · 상세노트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926080"/>
            <a:ext cx="9875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1650" b="0" i="0">
                <a:solidFill>
                  <a:srgbClr val="D9BC94"/>
                </a:solidFill>
                <a:latin typeface="Calibri"/>
              </a:rPr>
              <a:t>17개 장 전문 심화 — 수치·공식·기준표로 보는 목재 재료학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03504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1200" b="0" i="0">
                <a:solidFill>
                  <a:srgbClr val="8D6E4B"/>
                </a:solidFill>
                <a:latin typeface="Calibri"/>
              </a:rPr>
              <a:t>기능사 필기 심화 자기공부용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9144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1150" b="1" i="0">
                <a:solidFill>
                  <a:srgbClr val="45601F"/>
                </a:solidFill>
                <a:latin typeface="Calibri"/>
              </a:rPr>
              <a:t>CONTENTS · 1/2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03504"/>
            <a:ext cx="11247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2500" b="1" i="0">
                <a:solidFill>
                  <a:srgbClr val="2A1D16"/>
                </a:solidFill>
                <a:latin typeface="Cambria"/>
              </a:rPr>
              <a:t>목차 (1장 ~ 9장)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11247120" cy="420623"/>
          </a:xfrm>
          <a:prstGeom prst="roundRect">
            <a:avLst>
              <a:gd name="adj" fmla="val 16000"/>
            </a:avLst>
          </a:prstGeom>
          <a:solidFill>
            <a:srgbClr val="F1E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463040"/>
            <a:ext cx="502920" cy="42062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buNone/>
            </a:pPr>
            <a:r>
              <a:rPr sz="1800" b="1" i="0">
                <a:solidFill>
                  <a:srgbClr val="8D6E4B"/>
                </a:solidFill>
                <a:latin typeface="Cambria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1463040"/>
            <a:ext cx="3017520" cy="42062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buNone/>
            </a:pPr>
            <a:r>
              <a:rPr sz="1350" b="1" i="0">
                <a:solidFill>
                  <a:srgbClr val="2A1D16"/>
                </a:solidFill>
                <a:latin typeface="Calibri"/>
              </a:rPr>
              <a:t>목재 특성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80560" y="1463040"/>
            <a:ext cx="6949440" cy="42062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buNone/>
            </a:pPr>
            <a:r>
              <a:rPr sz="1080" b="0" i="0">
                <a:solidFill>
                  <a:srgbClr val="7A6A5A"/>
                </a:solidFill>
                <a:latin typeface="Calibri"/>
              </a:rPr>
              <a:t>생장률·만재율, 심재/변재, 비중표, 세포조직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993392"/>
            <a:ext cx="11247120" cy="420623"/>
          </a:xfrm>
          <a:prstGeom prst="roundRect">
            <a:avLst>
              <a:gd name="adj" fmla="val 16000"/>
            </a:avLst>
          </a:prstGeom>
          <a:solidFill>
            <a:srgbClr val="F1E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993392"/>
            <a:ext cx="502920" cy="42062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buNone/>
            </a:pPr>
            <a:r>
              <a:rPr sz="1800" b="1" i="0">
                <a:solidFill>
                  <a:srgbClr val="8D6E4B"/>
                </a:solidFill>
                <a:latin typeface="Cambria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1993392"/>
            <a:ext cx="3017520" cy="42062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buNone/>
            </a:pPr>
            <a:r>
              <a:rPr sz="1350" b="1" i="0">
                <a:solidFill>
                  <a:srgbClr val="2A1D16"/>
                </a:solidFill>
                <a:latin typeface="Calibri"/>
              </a:rPr>
              <a:t>목재 무늬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1993392"/>
            <a:ext cx="6949440" cy="42062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buNone/>
            </a:pPr>
            <a:r>
              <a:rPr sz="1080" b="0" i="0">
                <a:solidFill>
                  <a:srgbClr val="7A6A5A"/>
                </a:solidFill>
                <a:latin typeface="Calibri"/>
              </a:rPr>
              <a:t>생옹이/사옹이, 압축·인장이상재, 갈색/백색부후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523744"/>
            <a:ext cx="11247120" cy="420623"/>
          </a:xfrm>
          <a:prstGeom prst="roundRect">
            <a:avLst>
              <a:gd name="adj" fmla="val 16000"/>
            </a:avLst>
          </a:prstGeom>
          <a:solidFill>
            <a:srgbClr val="F1E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523744"/>
            <a:ext cx="502920" cy="42062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buNone/>
            </a:pPr>
            <a:r>
              <a:rPr sz="1800" b="1" i="0">
                <a:solidFill>
                  <a:srgbClr val="8D6E4B"/>
                </a:solidFill>
                <a:latin typeface="Cambria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2523744"/>
            <a:ext cx="3017520" cy="42062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buNone/>
            </a:pPr>
            <a:r>
              <a:rPr sz="1350" b="1" i="0">
                <a:solidFill>
                  <a:srgbClr val="2A1D16"/>
                </a:solidFill>
                <a:latin typeface="Calibri"/>
              </a:rPr>
              <a:t>목재 식별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2523744"/>
            <a:ext cx="6949440" cy="42062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buNone/>
            </a:pPr>
            <a:r>
              <a:rPr sz="1080" b="0" i="0">
                <a:solidFill>
                  <a:srgbClr val="7A6A5A"/>
                </a:solidFill>
                <a:latin typeface="Calibri"/>
              </a:rPr>
              <a:t>환공재/산공재/반환공재, 현장 식별 순서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054096"/>
            <a:ext cx="11247120" cy="420623"/>
          </a:xfrm>
          <a:prstGeom prst="roundRect">
            <a:avLst>
              <a:gd name="adj" fmla="val 16000"/>
            </a:avLst>
          </a:prstGeom>
          <a:solidFill>
            <a:srgbClr val="F1E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3054096"/>
            <a:ext cx="502920" cy="42062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buNone/>
            </a:pPr>
            <a:r>
              <a:rPr sz="1800" b="1" i="0">
                <a:solidFill>
                  <a:srgbClr val="8D6E4B"/>
                </a:solidFill>
                <a:latin typeface="Cambria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3054096"/>
            <a:ext cx="3017520" cy="42062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buNone/>
            </a:pPr>
            <a:r>
              <a:rPr sz="1350" b="1" i="0">
                <a:solidFill>
                  <a:srgbClr val="2A1D16"/>
                </a:solidFill>
                <a:latin typeface="Calibri"/>
              </a:rPr>
              <a:t>목재 강도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3054096"/>
            <a:ext cx="6949440" cy="42062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buNone/>
            </a:pPr>
            <a:r>
              <a:rPr sz="1080" b="0" i="0">
                <a:solidFill>
                  <a:srgbClr val="7A6A5A"/>
                </a:solidFill>
                <a:latin typeface="Calibri"/>
              </a:rPr>
              <a:t>6대 강도, MOE/MOR, 하중지속, 등급(SS~No.3)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584448"/>
            <a:ext cx="11247120" cy="420623"/>
          </a:xfrm>
          <a:prstGeom prst="roundRect">
            <a:avLst>
              <a:gd name="adj" fmla="val 16000"/>
            </a:avLst>
          </a:prstGeom>
          <a:solidFill>
            <a:srgbClr val="F1E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3584448"/>
            <a:ext cx="502920" cy="42062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buNone/>
            </a:pPr>
            <a:r>
              <a:rPr sz="1800" b="1" i="0">
                <a:solidFill>
                  <a:srgbClr val="8D6E4B"/>
                </a:solidFill>
                <a:latin typeface="Cambria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3584448"/>
            <a:ext cx="3017520" cy="42062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buNone/>
            </a:pPr>
            <a:r>
              <a:rPr sz="1350" b="1" i="0">
                <a:solidFill>
                  <a:srgbClr val="2A1D16"/>
                </a:solidFill>
                <a:latin typeface="Calibri"/>
              </a:rPr>
              <a:t>목재의 다른 특성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0560" y="3584448"/>
            <a:ext cx="6949440" cy="42062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buNone/>
            </a:pPr>
            <a:r>
              <a:rPr sz="1080" b="0" i="0">
                <a:solidFill>
                  <a:srgbClr val="7A6A5A"/>
                </a:solidFill>
                <a:latin typeface="Calibri"/>
              </a:rPr>
              <a:t>열전도율 비교, 탄화속도, 함수율계 원리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4114800"/>
            <a:ext cx="11247120" cy="420623"/>
          </a:xfrm>
          <a:prstGeom prst="roundRect">
            <a:avLst>
              <a:gd name="adj" fmla="val 16000"/>
            </a:avLst>
          </a:prstGeom>
          <a:solidFill>
            <a:srgbClr val="F1E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4114800"/>
            <a:ext cx="502920" cy="42062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buNone/>
            </a:pPr>
            <a:r>
              <a:rPr sz="1800" b="1" i="0">
                <a:solidFill>
                  <a:srgbClr val="8D6E4B"/>
                </a:solidFill>
                <a:latin typeface="Cambria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80160" y="4114800"/>
            <a:ext cx="3017520" cy="42062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buNone/>
            </a:pPr>
            <a:r>
              <a:rPr sz="1350" b="1" i="0">
                <a:solidFill>
                  <a:srgbClr val="2A1D16"/>
                </a:solidFill>
                <a:latin typeface="Calibri"/>
              </a:rPr>
              <a:t>목재와 수분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80560" y="4114800"/>
            <a:ext cx="6949440" cy="42062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buNone/>
            </a:pPr>
            <a:r>
              <a:rPr sz="1080" b="0" i="0">
                <a:solidFill>
                  <a:srgbClr val="7A6A5A"/>
                </a:solidFill>
                <a:latin typeface="Calibri"/>
              </a:rPr>
              <a:t>함수율 공식, FSP, EMC 계절별 수치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4645152"/>
            <a:ext cx="11247120" cy="420623"/>
          </a:xfrm>
          <a:prstGeom prst="roundRect">
            <a:avLst>
              <a:gd name="adj" fmla="val 16000"/>
            </a:avLst>
          </a:prstGeom>
          <a:solidFill>
            <a:srgbClr val="F1E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" y="4645152"/>
            <a:ext cx="502920" cy="42062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buNone/>
            </a:pPr>
            <a:r>
              <a:rPr sz="1800" b="1" i="0">
                <a:solidFill>
                  <a:srgbClr val="8D6E4B"/>
                </a:solidFill>
                <a:latin typeface="Cambria"/>
              </a:rPr>
              <a:t>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80160" y="4645152"/>
            <a:ext cx="3017520" cy="42062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buNone/>
            </a:pPr>
            <a:r>
              <a:rPr sz="1350" b="1" i="0">
                <a:solidFill>
                  <a:srgbClr val="2A1D16"/>
                </a:solidFill>
                <a:latin typeface="Calibri"/>
              </a:rPr>
              <a:t>치수변화와 대처법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80560" y="4645152"/>
            <a:ext cx="6949440" cy="42062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buNone/>
            </a:pPr>
            <a:r>
              <a:rPr sz="1080" b="0" i="0">
                <a:solidFill>
                  <a:srgbClr val="7A6A5A"/>
                </a:solidFill>
                <a:latin typeface="Calibri"/>
              </a:rPr>
              <a:t>방향별 수축률(%), T/R비, 변형 패턴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5175504"/>
            <a:ext cx="11247120" cy="420623"/>
          </a:xfrm>
          <a:prstGeom prst="roundRect">
            <a:avLst>
              <a:gd name="adj" fmla="val 16000"/>
            </a:avLst>
          </a:prstGeom>
          <a:solidFill>
            <a:srgbClr val="F1E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5800" y="5175504"/>
            <a:ext cx="502920" cy="42062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buNone/>
            </a:pPr>
            <a:r>
              <a:rPr sz="1800" b="1" i="0">
                <a:solidFill>
                  <a:srgbClr val="8D6E4B"/>
                </a:solidFill>
                <a:latin typeface="Cambria"/>
              </a:rPr>
              <a:t>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80160" y="5175504"/>
            <a:ext cx="3017520" cy="42062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buNone/>
            </a:pPr>
            <a:r>
              <a:rPr sz="1350" b="1" i="0">
                <a:solidFill>
                  <a:srgbClr val="2A1D16"/>
                </a:solidFill>
                <a:latin typeface="Calibri"/>
              </a:rPr>
              <a:t>목재 건조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80560" y="5175504"/>
            <a:ext cx="6949440" cy="42062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buNone/>
            </a:pPr>
            <a:r>
              <a:rPr sz="1080" b="0" i="0">
                <a:solidFill>
                  <a:srgbClr val="7A6A5A"/>
                </a:solidFill>
                <a:latin typeface="Calibri"/>
              </a:rPr>
              <a:t>건조 스케줄 4단계, 결함 5종, 스티킹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7200" y="5705856"/>
            <a:ext cx="11247120" cy="420623"/>
          </a:xfrm>
          <a:prstGeom prst="roundRect">
            <a:avLst>
              <a:gd name="adj" fmla="val 16000"/>
            </a:avLst>
          </a:prstGeom>
          <a:solidFill>
            <a:srgbClr val="F1E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85800" y="5705856"/>
            <a:ext cx="502920" cy="42062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buNone/>
            </a:pPr>
            <a:r>
              <a:rPr sz="1800" b="1" i="0">
                <a:solidFill>
                  <a:srgbClr val="8D6E4B"/>
                </a:solidFill>
                <a:latin typeface="Cambria"/>
              </a:rPr>
              <a:t>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80160" y="5705856"/>
            <a:ext cx="3017520" cy="42062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buNone/>
            </a:pPr>
            <a:r>
              <a:rPr sz="1350" b="1" i="0">
                <a:solidFill>
                  <a:srgbClr val="2A1D16"/>
                </a:solidFill>
                <a:latin typeface="Calibri"/>
              </a:rPr>
              <a:t>절삭과 휨가공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480560" y="5705856"/>
            <a:ext cx="6949440" cy="42062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buNone/>
            </a:pPr>
            <a:r>
              <a:rPr sz="1080" b="0" i="0">
                <a:solidFill>
                  <a:srgbClr val="7A6A5A"/>
                </a:solidFill>
                <a:latin typeface="Calibri"/>
              </a:rPr>
              <a:t>절삭각, 증기휨 조건, 적층휨 스프링백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850" b="0" i="0">
                <a:solidFill>
                  <a:srgbClr val="7A6A5A"/>
                </a:solidFill>
                <a:latin typeface="Calibri"/>
              </a:rPr>
              <a:t>목공의 이해 · 상세노트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185855" y="649224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buNone/>
            </a:pPr>
            <a:r>
              <a:rPr sz="850" b="0" i="0">
                <a:solidFill>
                  <a:srgbClr val="7A6A5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9144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1150" b="1" i="0">
                <a:solidFill>
                  <a:srgbClr val="45601F"/>
                </a:solidFill>
                <a:latin typeface="Calibri"/>
              </a:rPr>
              <a:t>CONTENTS · 2/2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03504"/>
            <a:ext cx="11247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2500" b="1" i="0">
                <a:solidFill>
                  <a:srgbClr val="2A1D16"/>
                </a:solidFill>
                <a:latin typeface="Cambria"/>
              </a:rPr>
              <a:t>목차 (10장 ~ 17장)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508760"/>
            <a:ext cx="11247120" cy="475488"/>
          </a:xfrm>
          <a:prstGeom prst="roundRect">
            <a:avLst>
              <a:gd name="adj" fmla="val 16000"/>
            </a:avLst>
          </a:prstGeom>
          <a:solidFill>
            <a:srgbClr val="F1E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508760"/>
            <a:ext cx="59436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buNone/>
            </a:pPr>
            <a:r>
              <a:rPr sz="1800" b="1" i="0">
                <a:solidFill>
                  <a:srgbClr val="8D6E4B"/>
                </a:solidFill>
                <a:latin typeface="Cambria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508760"/>
            <a:ext cx="301752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buNone/>
            </a:pPr>
            <a:r>
              <a:rPr sz="1350" b="1" i="0">
                <a:solidFill>
                  <a:srgbClr val="2A1D16"/>
                </a:solidFill>
                <a:latin typeface="Calibri"/>
              </a:rPr>
              <a:t>목재 접합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1508760"/>
            <a:ext cx="685800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buNone/>
            </a:pPr>
            <a:r>
              <a:rPr sz="1080" b="0" i="0">
                <a:solidFill>
                  <a:srgbClr val="7A6A5A"/>
                </a:solidFill>
                <a:latin typeface="Calibri"/>
              </a:rPr>
              <a:t>접합 6종 비교, 장부이음 설계 경험칙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112264"/>
            <a:ext cx="11247120" cy="475488"/>
          </a:xfrm>
          <a:prstGeom prst="roundRect">
            <a:avLst>
              <a:gd name="adj" fmla="val 16000"/>
            </a:avLst>
          </a:prstGeom>
          <a:solidFill>
            <a:srgbClr val="F1E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112264"/>
            <a:ext cx="59436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buNone/>
            </a:pPr>
            <a:r>
              <a:rPr sz="1800" b="1" i="0">
                <a:solidFill>
                  <a:srgbClr val="8D6E4B"/>
                </a:solidFill>
                <a:latin typeface="Cambria"/>
              </a:rPr>
              <a:t>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112264"/>
            <a:ext cx="301752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buNone/>
            </a:pPr>
            <a:r>
              <a:rPr sz="1350" b="1" i="0">
                <a:solidFill>
                  <a:srgbClr val="2A1D16"/>
                </a:solidFill>
                <a:latin typeface="Calibri"/>
              </a:rPr>
              <a:t>접착과 접착제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112264"/>
            <a:ext cx="685800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buNone/>
            </a:pPr>
            <a:r>
              <a:rPr sz="1080" b="0" i="0">
                <a:solidFill>
                  <a:srgbClr val="7A6A5A"/>
                </a:solidFill>
                <a:latin typeface="Calibri"/>
              </a:rPr>
              <a:t>접착 원리, 접착제 7종 비교표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715768"/>
            <a:ext cx="11247120" cy="475488"/>
          </a:xfrm>
          <a:prstGeom prst="roundRect">
            <a:avLst>
              <a:gd name="adj" fmla="val 16000"/>
            </a:avLst>
          </a:prstGeom>
          <a:solidFill>
            <a:srgbClr val="F1E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715768"/>
            <a:ext cx="59436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buNone/>
            </a:pPr>
            <a:r>
              <a:rPr sz="1800" b="1" i="0">
                <a:solidFill>
                  <a:srgbClr val="8D6E4B"/>
                </a:solidFill>
                <a:latin typeface="Cambria"/>
              </a:rPr>
              <a:t>12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715768"/>
            <a:ext cx="301752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buNone/>
            </a:pPr>
            <a:r>
              <a:rPr sz="1350" b="1" i="0">
                <a:solidFill>
                  <a:srgbClr val="2A1D16"/>
                </a:solidFill>
                <a:latin typeface="Calibri"/>
              </a:rPr>
              <a:t>목재 도장과 보존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715768"/>
            <a:ext cx="685800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buNone/>
            </a:pPr>
            <a:r>
              <a:rPr sz="1080" b="0" i="0">
                <a:solidFill>
                  <a:srgbClr val="7A6A5A"/>
                </a:solidFill>
                <a:latin typeface="Calibri"/>
              </a:rPr>
              <a:t>도장 4방식, 공정 순서, 보존처리 3종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319272"/>
            <a:ext cx="11247120" cy="475488"/>
          </a:xfrm>
          <a:prstGeom prst="roundRect">
            <a:avLst>
              <a:gd name="adj" fmla="val 16000"/>
            </a:avLst>
          </a:prstGeom>
          <a:solidFill>
            <a:srgbClr val="F1E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3319272"/>
            <a:ext cx="59436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buNone/>
            </a:pPr>
            <a:r>
              <a:rPr sz="1800" b="1" i="0">
                <a:solidFill>
                  <a:srgbClr val="8D6E4B"/>
                </a:solidFill>
                <a:latin typeface="Cambria"/>
              </a:rPr>
              <a:t>13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319272"/>
            <a:ext cx="301752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buNone/>
            </a:pPr>
            <a:r>
              <a:rPr sz="1350" b="1" i="0">
                <a:solidFill>
                  <a:srgbClr val="2A1D16"/>
                </a:solidFill>
                <a:latin typeface="Calibri"/>
              </a:rPr>
              <a:t>제재목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3319272"/>
            <a:ext cx="685800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buNone/>
            </a:pPr>
            <a:r>
              <a:rPr sz="1080" b="0" i="0">
                <a:solidFill>
                  <a:srgbClr val="7A6A5A"/>
                </a:solidFill>
                <a:latin typeface="Calibri"/>
              </a:rPr>
              <a:t>정목/판목, 수율, 명목↔실제치수 환산표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922776"/>
            <a:ext cx="11247120" cy="475488"/>
          </a:xfrm>
          <a:prstGeom prst="roundRect">
            <a:avLst>
              <a:gd name="adj" fmla="val 16000"/>
            </a:avLst>
          </a:prstGeom>
          <a:solidFill>
            <a:srgbClr val="F1E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3922776"/>
            <a:ext cx="59436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buNone/>
            </a:pPr>
            <a:r>
              <a:rPr sz="1800" b="1" i="0">
                <a:solidFill>
                  <a:srgbClr val="8D6E4B"/>
                </a:solidFill>
                <a:latin typeface="Cambria"/>
              </a:rPr>
              <a:t>14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3922776"/>
            <a:ext cx="301752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buNone/>
            </a:pPr>
            <a:r>
              <a:rPr sz="1350" b="1" i="0">
                <a:solidFill>
                  <a:srgbClr val="2A1D16"/>
                </a:solidFill>
                <a:latin typeface="Calibri"/>
              </a:rPr>
              <a:t>단판과 합판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3922776"/>
            <a:ext cx="685800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buNone/>
            </a:pPr>
            <a:r>
              <a:rPr sz="1080" b="0" i="0">
                <a:solidFill>
                  <a:srgbClr val="7A6A5A"/>
                </a:solidFill>
                <a:latin typeface="Calibri"/>
              </a:rPr>
              <a:t>로터리컷/슬라이싱, 직교적층 원리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4526280"/>
            <a:ext cx="11247120" cy="475488"/>
          </a:xfrm>
          <a:prstGeom prst="roundRect">
            <a:avLst>
              <a:gd name="adj" fmla="val 16000"/>
            </a:avLst>
          </a:prstGeom>
          <a:solidFill>
            <a:srgbClr val="F1E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4526280"/>
            <a:ext cx="59436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buNone/>
            </a:pPr>
            <a:r>
              <a:rPr sz="1800" b="1" i="0">
                <a:solidFill>
                  <a:srgbClr val="8D6E4B"/>
                </a:solidFill>
                <a:latin typeface="Cambria"/>
              </a:rPr>
              <a:t>15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4526280"/>
            <a:ext cx="301752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buNone/>
            </a:pPr>
            <a:r>
              <a:rPr sz="1350" b="1" i="0">
                <a:solidFill>
                  <a:srgbClr val="2A1D16"/>
                </a:solidFill>
                <a:latin typeface="Calibri"/>
              </a:rPr>
              <a:t>복합재 패널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4526280"/>
            <a:ext cx="685800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buNone/>
            </a:pPr>
            <a:r>
              <a:rPr sz="1080" b="0" i="0">
                <a:solidFill>
                  <a:srgbClr val="7A6A5A"/>
                </a:solidFill>
                <a:latin typeface="Calibri"/>
              </a:rPr>
              <a:t>PB·OSB·MDF 밀도·강도·용도 비교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5129783"/>
            <a:ext cx="11247120" cy="475488"/>
          </a:xfrm>
          <a:prstGeom prst="roundRect">
            <a:avLst>
              <a:gd name="adj" fmla="val 16000"/>
            </a:avLst>
          </a:prstGeom>
          <a:solidFill>
            <a:srgbClr val="F1E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" y="5129783"/>
            <a:ext cx="59436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buNone/>
            </a:pPr>
            <a:r>
              <a:rPr sz="1800" b="1" i="0">
                <a:solidFill>
                  <a:srgbClr val="8D6E4B"/>
                </a:solidFill>
                <a:latin typeface="Cambria"/>
              </a:rPr>
              <a:t>16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71600" y="5129783"/>
            <a:ext cx="301752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buNone/>
            </a:pPr>
            <a:r>
              <a:rPr sz="1350" b="1" i="0">
                <a:solidFill>
                  <a:srgbClr val="2A1D16"/>
                </a:solidFill>
                <a:latin typeface="Calibri"/>
              </a:rPr>
              <a:t>집성접합 제재목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0" y="5129783"/>
            <a:ext cx="685800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buNone/>
            </a:pPr>
            <a:r>
              <a:rPr sz="1080" b="0" i="0">
                <a:solidFill>
                  <a:srgbClr val="7A6A5A"/>
                </a:solidFill>
                <a:latin typeface="Calibri"/>
              </a:rPr>
              <a:t>Glulam 원리, I자보 역학, 공학목재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5733288"/>
            <a:ext cx="11247120" cy="475488"/>
          </a:xfrm>
          <a:prstGeom prst="roundRect">
            <a:avLst>
              <a:gd name="adj" fmla="val 16000"/>
            </a:avLst>
          </a:prstGeom>
          <a:solidFill>
            <a:srgbClr val="F1E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5800" y="5733288"/>
            <a:ext cx="59436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buNone/>
            </a:pPr>
            <a:r>
              <a:rPr sz="1800" b="1" i="0">
                <a:solidFill>
                  <a:srgbClr val="8D6E4B"/>
                </a:solidFill>
                <a:latin typeface="Cambria"/>
              </a:rPr>
              <a:t>17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71600" y="5733288"/>
            <a:ext cx="301752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buNone/>
            </a:pPr>
            <a:r>
              <a:rPr sz="1350" b="1" i="0">
                <a:solidFill>
                  <a:srgbClr val="2A1D16"/>
                </a:solidFill>
                <a:latin typeface="Calibri"/>
              </a:rPr>
              <a:t>목재 구매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0" y="5733288"/>
            <a:ext cx="685800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buNone/>
            </a:pPr>
            <a:r>
              <a:rPr sz="1080" b="0" i="0">
                <a:solidFill>
                  <a:srgbClr val="7A6A5A"/>
                </a:solidFill>
                <a:latin typeface="Calibri"/>
              </a:rPr>
              <a:t>수율·단위, 구매처 비교, 검수 체크리스트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850" b="0" i="0">
                <a:solidFill>
                  <a:srgbClr val="7A6A5A"/>
                </a:solidFill>
                <a:latin typeface="Calibri"/>
              </a:rPr>
              <a:t>목공의 이해 · 상세노트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185855" y="649224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buNone/>
            </a:pPr>
            <a:r>
              <a:rPr sz="850" b="0" i="0">
                <a:solidFill>
                  <a:srgbClr val="7A6A5A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9144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1150" b="1" i="0">
                <a:solidFill>
                  <a:srgbClr val="45601F"/>
                </a:solidFill>
                <a:latin typeface="Calibri"/>
              </a:rPr>
              <a:t>1장  목재 특성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03504"/>
            <a:ext cx="11247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2500" b="1" i="0">
                <a:solidFill>
                  <a:srgbClr val="2A1D16"/>
                </a:solidFill>
                <a:latin typeface="Cambria"/>
              </a:rPr>
              <a:t>생장륜과 심재·변재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17320"/>
            <a:ext cx="5486400" cy="2331720"/>
          </a:xfrm>
          <a:prstGeom prst="roundRect">
            <a:avLst>
              <a:gd name="adj" fmla="val 10000"/>
            </a:avLst>
          </a:prstGeom>
          <a:solidFill>
            <a:srgbClr val="F1E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536192"/>
            <a:ext cx="5029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1350" b="1" i="0">
                <a:solidFill>
                  <a:srgbClr val="45601F"/>
                </a:solidFill>
                <a:latin typeface="Cambria"/>
              </a:rPr>
              <a:t>생장륜(나이테)과 만재율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901952"/>
            <a:ext cx="502920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indent="-182880" marL="182880">
              <a:lnSpc>
                <a:spcPct val="115000"/>
              </a:lnSpc>
              <a:spcAft>
                <a:spcPts val="700"/>
              </a:spcAft>
              <a:buFont typeface="Arial"/>
              <a:buChar char="•"/>
            </a:pPr>
            <a:r>
              <a:rPr sz="1130" b="0">
                <a:solidFill>
                  <a:srgbClr val="2A1D16"/>
                </a:solidFill>
                <a:latin typeface="Calibri"/>
              </a:rPr>
              <a:t>조재(춘재): 생장 빠름 → 세포벽 얇고 밀도 낮음, 색 연함</a:t>
            </a:r>
          </a:p>
          <a:p>
            <a:pPr algn="l" indent="-182880" marL="182880">
              <a:lnSpc>
                <a:spcPct val="115000"/>
              </a:lnSpc>
              <a:spcAft>
                <a:spcPts val="700"/>
              </a:spcAft>
              <a:buFont typeface="Arial"/>
              <a:buChar char="•"/>
            </a:pPr>
            <a:r>
              <a:rPr sz="1130" b="0">
                <a:solidFill>
                  <a:srgbClr val="2A1D16"/>
                </a:solidFill>
                <a:latin typeface="Calibri"/>
              </a:rPr>
              <a:t>만재(추재): 생장 느림 → 세포벽 두껍고 밀도 높음, 색 진함</a:t>
            </a:r>
          </a:p>
          <a:p>
            <a:pPr algn="l" indent="-182880" marL="182880">
              <a:lnSpc>
                <a:spcPct val="115000"/>
              </a:lnSpc>
              <a:spcAft>
                <a:spcPts val="700"/>
              </a:spcAft>
              <a:buFont typeface="Arial"/>
              <a:buChar char="•"/>
            </a:pPr>
            <a:r>
              <a:rPr sz="1130" b="0">
                <a:solidFill>
                  <a:srgbClr val="2A1D16"/>
                </a:solidFill>
                <a:latin typeface="Calibri"/>
              </a:rPr>
              <a:t>만재율(%) = 만재 폭 ÷ 나이테 전체 폭 × 100</a:t>
            </a:r>
          </a:p>
          <a:p>
            <a:pPr algn="l" indent="-182880" marL="182880">
              <a:lnSpc>
                <a:spcPct val="115000"/>
              </a:lnSpc>
              <a:spcAft>
                <a:spcPts val="700"/>
              </a:spcAft>
              <a:buFont typeface="Arial"/>
              <a:buChar char="•"/>
            </a:pPr>
            <a:r>
              <a:rPr sz="1130" b="0">
                <a:solidFill>
                  <a:srgbClr val="2A1D16"/>
                </a:solidFill>
                <a:latin typeface="Calibri"/>
              </a:rPr>
              <a:t>급속생장 시 — 침엽수: 밀도↓ / 환공재 활엽수: 밀도↑ (수종별 반대 경향, 시험 함정)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17320"/>
            <a:ext cx="5486400" cy="2331720"/>
          </a:xfrm>
          <a:prstGeom prst="roundRect">
            <a:avLst>
              <a:gd name="adj" fmla="val 10000"/>
            </a:avLst>
          </a:prstGeom>
          <a:solidFill>
            <a:srgbClr val="F1E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536192"/>
            <a:ext cx="5029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1350" b="1" i="0">
                <a:solidFill>
                  <a:srgbClr val="45601F"/>
                </a:solidFill>
                <a:latin typeface="Cambria"/>
              </a:rPr>
              <a:t>심재화(Heartwood Formation)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1901952"/>
            <a:ext cx="502920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indent="-182880" marL="182880">
              <a:lnSpc>
                <a:spcPct val="115000"/>
              </a:lnSpc>
              <a:spcAft>
                <a:spcPts val="700"/>
              </a:spcAft>
              <a:buFont typeface="Arial"/>
              <a:buChar char="•"/>
            </a:pPr>
            <a:r>
              <a:rPr sz="1130" b="0">
                <a:solidFill>
                  <a:srgbClr val="2A1D16"/>
                </a:solidFill>
                <a:latin typeface="Calibri"/>
              </a:rPr>
              <a:t>변재 세포가 죽으며 추출물(타닌·수지 등) 축적</a:t>
            </a:r>
          </a:p>
          <a:p>
            <a:pPr algn="l" indent="-182880" marL="182880">
              <a:lnSpc>
                <a:spcPct val="115000"/>
              </a:lnSpc>
              <a:spcAft>
                <a:spcPts val="700"/>
              </a:spcAft>
              <a:buFont typeface="Arial"/>
              <a:buChar char="•"/>
            </a:pPr>
            <a:r>
              <a:rPr sz="1130" b="0">
                <a:solidFill>
                  <a:srgbClr val="2A1D16"/>
                </a:solidFill>
                <a:latin typeface="Calibri"/>
              </a:rPr>
              <a:t>색·내구성은 ↑ 되지만 방부제 흡수성은 ↓</a:t>
            </a:r>
          </a:p>
          <a:p>
            <a:pPr algn="l" indent="-182880" marL="182880">
              <a:lnSpc>
                <a:spcPct val="115000"/>
              </a:lnSpc>
              <a:spcAft>
                <a:spcPts val="700"/>
              </a:spcAft>
              <a:buFont typeface="Arial"/>
              <a:buChar char="•"/>
            </a:pPr>
            <a:r>
              <a:rPr sz="1130" b="0">
                <a:solidFill>
                  <a:srgbClr val="2A1D16"/>
                </a:solidFill>
                <a:latin typeface="Calibri"/>
              </a:rPr>
              <a:t>방부처리 시 변재가 유리, 심재는 침투가 어려움(주의)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" y="3977639"/>
          <a:ext cx="11247120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4217670"/>
                <a:gridCol w="4217670"/>
              </a:tblGrid>
              <a:tr h="50292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구분</a:t>
                      </a:r>
                    </a:p>
                  </a:txBody>
                  <a:tcPr marL="73152" marR="73152" marT="27432" marB="27432" anchor="ctr">
                    <a:solidFill>
                      <a:srgbClr val="8D6E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변재(Sapwood)</a:t>
                      </a:r>
                    </a:p>
                  </a:txBody>
                  <a:tcPr marL="73152" marR="73152" marT="27432" marB="27432" anchor="ctr">
                    <a:solidFill>
                      <a:srgbClr val="8D6E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심재(Heartwood)</a:t>
                      </a:r>
                    </a:p>
                  </a:txBody>
                  <a:tcPr marL="73152" marR="73152" marT="27432" marB="27432" anchor="ctr">
                    <a:solidFill>
                      <a:srgbClr val="8D6E4B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2A1D16"/>
                          </a:solidFill>
                          <a:latin typeface="Calibri"/>
                        </a:rPr>
                        <a:t>위치</a:t>
                      </a:r>
                    </a:p>
                  </a:txBody>
                  <a:tcPr marL="73152" marR="73152" marT="27432" marB="27432" anchor="ctr">
                    <a:solidFill>
                      <a:srgbClr val="F1E4C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A1D16"/>
                          </a:solidFill>
                          <a:latin typeface="Calibri"/>
                        </a:rPr>
                        <a:t>형성층 가까운 바깥쪽</a:t>
                      </a:r>
                    </a:p>
                  </a:txBody>
                  <a:tcPr marL="73152" marR="73152" marT="27432" marB="27432" anchor="ctr">
                    <a:solidFill>
                      <a:srgbClr val="F1E4C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A1D16"/>
                          </a:solidFill>
                          <a:latin typeface="Calibri"/>
                        </a:rPr>
                        <a:t>중심부</a:t>
                      </a:r>
                    </a:p>
                  </a:txBody>
                  <a:tcPr marL="73152" marR="73152" marT="27432" marB="27432" anchor="ctr">
                    <a:solidFill>
                      <a:srgbClr val="F1E4CC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2A1D16"/>
                          </a:solidFill>
                          <a:latin typeface="Calibri"/>
                        </a:rPr>
                        <a:t>기능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A1D16"/>
                          </a:solidFill>
                          <a:latin typeface="Calibri"/>
                        </a:rPr>
                        <a:t>수분·양분 이동(살아있는 세포)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A1D16"/>
                          </a:solidFill>
                          <a:latin typeface="Calibri"/>
                        </a:rPr>
                        <a:t>기계적 지지만(죽은 세포)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2A1D16"/>
                          </a:solidFill>
                          <a:latin typeface="Calibri"/>
                        </a:rPr>
                        <a:t>색·내구성</a:t>
                      </a:r>
                    </a:p>
                  </a:txBody>
                  <a:tcPr marL="73152" marR="73152" marT="27432" marB="27432" anchor="ctr">
                    <a:solidFill>
                      <a:srgbClr val="F1E4C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A1D16"/>
                          </a:solidFill>
                          <a:latin typeface="Calibri"/>
                        </a:rPr>
                        <a:t>연함 / 부후·충해에 약함</a:t>
                      </a:r>
                    </a:p>
                  </a:txBody>
                  <a:tcPr marL="73152" marR="73152" marT="27432" marB="27432" anchor="ctr">
                    <a:solidFill>
                      <a:srgbClr val="F1E4C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A1D16"/>
                          </a:solidFill>
                          <a:latin typeface="Calibri"/>
                        </a:rPr>
                        <a:t>진함 / 추출물로 내구성 높음</a:t>
                      </a:r>
                    </a:p>
                  </a:txBody>
                  <a:tcPr marL="73152" marR="73152" marT="27432" marB="27432" anchor="ctr">
                    <a:solidFill>
                      <a:srgbClr val="F1E4CC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2A1D16"/>
                          </a:solidFill>
                          <a:latin typeface="Calibri"/>
                        </a:rPr>
                        <a:t>방부제 침투성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A1D16"/>
                          </a:solidFill>
                          <a:latin typeface="Calibri"/>
                        </a:rPr>
                        <a:t>좋음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A1D16"/>
                          </a:solidFill>
                          <a:latin typeface="Calibri"/>
                        </a:rPr>
                        <a:t>나쁨(치밀화)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850" b="0" i="0">
                <a:solidFill>
                  <a:srgbClr val="7A6A5A"/>
                </a:solidFill>
                <a:latin typeface="Calibri"/>
              </a:rPr>
              <a:t>목공의 이해 · 상세노트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85855" y="649224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buNone/>
            </a:pPr>
            <a:r>
              <a:rPr sz="850" b="0" i="0">
                <a:solidFill>
                  <a:srgbClr val="7A6A5A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9144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1150" b="1" i="0">
                <a:solidFill>
                  <a:srgbClr val="45601F"/>
                </a:solidFill>
                <a:latin typeface="Calibri"/>
              </a:rPr>
              <a:t>1장  목재 특성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03504"/>
            <a:ext cx="11247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2500" b="1" i="0">
                <a:solidFill>
                  <a:srgbClr val="2A1D16"/>
                </a:solidFill>
                <a:latin typeface="Cambria"/>
              </a:rPr>
              <a:t>밀도·비중과 세포조직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486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  <a:buNone/>
            </a:pPr>
            <a:r>
              <a:rPr sz="1150" b="1" i="0">
                <a:solidFill>
                  <a:srgbClr val="45601F"/>
                </a:solidFill>
                <a:latin typeface="Calibri"/>
              </a:rPr>
              <a:t>기본비중</a:t>
            </a:r>
            <a:r>
              <a:rPr sz="1150" b="0" i="0">
                <a:solidFill>
                  <a:srgbClr val="2A1D16"/>
                </a:solidFill>
                <a:latin typeface="Calibri"/>
              </a:rPr>
              <a:t> = 전건중량 ÷ 생재(포화) 부피 ÷ 물의 밀도</a:t>
            </a:r>
          </a:p>
          <a:p>
            <a:pPr algn="l">
              <a:lnSpc>
                <a:spcPct val="120000"/>
              </a:lnSpc>
              <a:spcAft>
                <a:spcPts val="600"/>
              </a:spcAft>
              <a:buNone/>
            </a:pPr>
            <a:r>
              <a:rPr sz="1150" b="0" i="0">
                <a:solidFill>
                  <a:srgbClr val="2A1D16"/>
                </a:solidFill>
                <a:latin typeface="Calibri"/>
              </a:rPr>
              <a:t>세포벽 자체의 실제 비중은 수종 무관 약 1.5로 일정 — 수종별 차이는 세포벽 두께·공극률 차이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2286000"/>
          <a:ext cx="5486399" cy="39319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76246"/>
                <a:gridCol w="2110153"/>
              </a:tblGrid>
              <a:tr h="357447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수종</a:t>
                      </a:r>
                    </a:p>
                  </a:txBody>
                  <a:tcPr marL="73152" marR="73152" marT="27432" marB="27432" anchor="ctr">
                    <a:solidFill>
                      <a:srgbClr val="8D6E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기본비중</a:t>
                      </a:r>
                    </a:p>
                  </a:txBody>
                  <a:tcPr marL="73152" marR="73152" marT="27432" marB="27432" anchor="ctr">
                    <a:solidFill>
                      <a:srgbClr val="8D6E4B"/>
                    </a:solidFill>
                  </a:tcPr>
                </a:tc>
              </a:tr>
              <a:tr h="357447">
                <a:tc>
                  <a:txBody>
                    <a:bodyPr wrap="square"/>
                    <a:lstStyle/>
                    <a:p>
                      <a:r>
                        <a:rPr sz="1019" b="1">
                          <a:solidFill>
                            <a:srgbClr val="2A1D16"/>
                          </a:solidFill>
                          <a:latin typeface="Calibri"/>
                        </a:rPr>
                        <a:t>발사나무</a:t>
                      </a:r>
                    </a:p>
                  </a:txBody>
                  <a:tcPr marL="73152" marR="73152" marT="27432" marB="27432" anchor="ctr">
                    <a:solidFill>
                      <a:srgbClr val="F1E4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19" b="0">
                          <a:solidFill>
                            <a:srgbClr val="2A1D16"/>
                          </a:solidFill>
                          <a:latin typeface="Calibri"/>
                        </a:rPr>
                        <a:t>0.15</a:t>
                      </a:r>
                    </a:p>
                  </a:txBody>
                  <a:tcPr marL="73152" marR="73152" marT="27432" marB="27432" anchor="ctr">
                    <a:solidFill>
                      <a:srgbClr val="F1E4CC"/>
                    </a:solidFill>
                  </a:tcPr>
                </a:tc>
              </a:tr>
              <a:tr h="357447">
                <a:tc>
                  <a:txBody>
                    <a:bodyPr wrap="square"/>
                    <a:lstStyle/>
                    <a:p>
                      <a:r>
                        <a:rPr sz="1019" b="1">
                          <a:solidFill>
                            <a:srgbClr val="2A1D16"/>
                          </a:solidFill>
                          <a:latin typeface="Calibri"/>
                        </a:rPr>
                        <a:t>삼나무(스기)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19" b="0">
                          <a:solidFill>
                            <a:srgbClr val="2A1D16"/>
                          </a:solidFill>
                          <a:latin typeface="Calibri"/>
                        </a:rPr>
                        <a:t>0.35~0.40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57447">
                <a:tc>
                  <a:txBody>
                    <a:bodyPr wrap="square"/>
                    <a:lstStyle/>
                    <a:p>
                      <a:r>
                        <a:rPr sz="1019" b="1">
                          <a:solidFill>
                            <a:srgbClr val="2A1D16"/>
                          </a:solidFill>
                          <a:latin typeface="Calibri"/>
                        </a:rPr>
                        <a:t>소나무(적송)</a:t>
                      </a:r>
                    </a:p>
                  </a:txBody>
                  <a:tcPr marL="73152" marR="73152" marT="27432" marB="27432" anchor="ctr">
                    <a:solidFill>
                      <a:srgbClr val="F1E4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19" b="0">
                          <a:solidFill>
                            <a:srgbClr val="2A1D16"/>
                          </a:solidFill>
                          <a:latin typeface="Calibri"/>
                        </a:rPr>
                        <a:t>0.45~0.50</a:t>
                      </a:r>
                    </a:p>
                  </a:txBody>
                  <a:tcPr marL="73152" marR="73152" marT="27432" marB="27432" anchor="ctr">
                    <a:solidFill>
                      <a:srgbClr val="F1E4CC"/>
                    </a:solidFill>
                  </a:tcPr>
                </a:tc>
              </a:tr>
              <a:tr h="357447">
                <a:tc>
                  <a:txBody>
                    <a:bodyPr wrap="square"/>
                    <a:lstStyle/>
                    <a:p>
                      <a:r>
                        <a:rPr sz="1019" b="1">
                          <a:solidFill>
                            <a:srgbClr val="2A1D16"/>
                          </a:solidFill>
                          <a:latin typeface="Calibri"/>
                        </a:rPr>
                        <a:t>잣나무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19" b="0">
                          <a:solidFill>
                            <a:srgbClr val="2A1D16"/>
                          </a:solidFill>
                          <a:latin typeface="Calibri"/>
                        </a:rPr>
                        <a:t>0.40~0.45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57447">
                <a:tc>
                  <a:txBody>
                    <a:bodyPr wrap="square"/>
                    <a:lstStyle/>
                    <a:p>
                      <a:r>
                        <a:rPr sz="1019" b="1">
                          <a:solidFill>
                            <a:srgbClr val="2A1D16"/>
                          </a:solidFill>
                          <a:latin typeface="Calibri"/>
                        </a:rPr>
                        <a:t>낙엽송</a:t>
                      </a:r>
                    </a:p>
                  </a:txBody>
                  <a:tcPr marL="73152" marR="73152" marT="27432" marB="27432" anchor="ctr">
                    <a:solidFill>
                      <a:srgbClr val="F1E4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19" b="0">
                          <a:solidFill>
                            <a:srgbClr val="2A1D16"/>
                          </a:solidFill>
                          <a:latin typeface="Calibri"/>
                        </a:rPr>
                        <a:t>0.50~0.55</a:t>
                      </a:r>
                    </a:p>
                  </a:txBody>
                  <a:tcPr marL="73152" marR="73152" marT="27432" marB="27432" anchor="ctr">
                    <a:solidFill>
                      <a:srgbClr val="F1E4CC"/>
                    </a:solidFill>
                  </a:tcPr>
                </a:tc>
              </a:tr>
              <a:tr h="357447">
                <a:tc>
                  <a:txBody>
                    <a:bodyPr wrap="square"/>
                    <a:lstStyle/>
                    <a:p>
                      <a:r>
                        <a:rPr sz="1019" b="1">
                          <a:solidFill>
                            <a:srgbClr val="2A1D16"/>
                          </a:solidFill>
                          <a:latin typeface="Calibri"/>
                        </a:rPr>
                        <a:t>자작나무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19" b="0">
                          <a:solidFill>
                            <a:srgbClr val="2A1D16"/>
                          </a:solidFill>
                          <a:latin typeface="Calibri"/>
                        </a:rPr>
                        <a:t>0.55~0.65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57447">
                <a:tc>
                  <a:txBody>
                    <a:bodyPr wrap="square"/>
                    <a:lstStyle/>
                    <a:p>
                      <a:r>
                        <a:rPr sz="1019" b="1">
                          <a:solidFill>
                            <a:srgbClr val="2A1D16"/>
                          </a:solidFill>
                          <a:latin typeface="Calibri"/>
                        </a:rPr>
                        <a:t>단풍나무(메이플)</a:t>
                      </a:r>
                    </a:p>
                  </a:txBody>
                  <a:tcPr marL="73152" marR="73152" marT="27432" marB="27432" anchor="ctr">
                    <a:solidFill>
                      <a:srgbClr val="F1E4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19" b="0">
                          <a:solidFill>
                            <a:srgbClr val="2A1D16"/>
                          </a:solidFill>
                          <a:latin typeface="Calibri"/>
                        </a:rPr>
                        <a:t>0.55~0.63</a:t>
                      </a:r>
                    </a:p>
                  </a:txBody>
                  <a:tcPr marL="73152" marR="73152" marT="27432" marB="27432" anchor="ctr">
                    <a:solidFill>
                      <a:srgbClr val="F1E4CC"/>
                    </a:solidFill>
                  </a:tcPr>
                </a:tc>
              </a:tr>
              <a:tr h="357447">
                <a:tc>
                  <a:txBody>
                    <a:bodyPr wrap="square"/>
                    <a:lstStyle/>
                    <a:p>
                      <a:r>
                        <a:rPr sz="1019" b="1">
                          <a:solidFill>
                            <a:srgbClr val="2A1D16"/>
                          </a:solidFill>
                          <a:latin typeface="Calibri"/>
                        </a:rPr>
                        <a:t>느티나무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19" b="0">
                          <a:solidFill>
                            <a:srgbClr val="2A1D16"/>
                          </a:solidFill>
                          <a:latin typeface="Calibri"/>
                        </a:rPr>
                        <a:t>0.60~0.65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57447">
                <a:tc>
                  <a:txBody>
                    <a:bodyPr wrap="square"/>
                    <a:lstStyle/>
                    <a:p>
                      <a:r>
                        <a:rPr sz="1019" b="1">
                          <a:solidFill>
                            <a:srgbClr val="2A1D16"/>
                          </a:solidFill>
                          <a:latin typeface="Calibri"/>
                        </a:rPr>
                        <a:t>참나무(오크류)</a:t>
                      </a:r>
                    </a:p>
                  </a:txBody>
                  <a:tcPr marL="73152" marR="73152" marT="27432" marB="27432" anchor="ctr">
                    <a:solidFill>
                      <a:srgbClr val="F1E4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19" b="0">
                          <a:solidFill>
                            <a:srgbClr val="2A1D16"/>
                          </a:solidFill>
                          <a:latin typeface="Calibri"/>
                        </a:rPr>
                        <a:t>0.60~0.75</a:t>
                      </a:r>
                    </a:p>
                  </a:txBody>
                  <a:tcPr marL="73152" marR="73152" marT="27432" marB="27432" anchor="ctr">
                    <a:solidFill>
                      <a:srgbClr val="F1E4CC"/>
                    </a:solidFill>
                  </a:tcPr>
                </a:tc>
              </a:tr>
              <a:tr h="357447">
                <a:tc>
                  <a:txBody>
                    <a:bodyPr wrap="square"/>
                    <a:lstStyle/>
                    <a:p>
                      <a:r>
                        <a:rPr sz="1019" b="1">
                          <a:solidFill>
                            <a:srgbClr val="2A1D16"/>
                          </a:solidFill>
                          <a:latin typeface="Calibri"/>
                        </a:rPr>
                        <a:t>흑단(에보니)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19" b="0">
                          <a:solidFill>
                            <a:srgbClr val="2A1D16"/>
                          </a:solidFill>
                          <a:latin typeface="Calibri"/>
                        </a:rPr>
                        <a:t>0.95 이상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6217920" y="1371600"/>
            <a:ext cx="5486400" cy="2286000"/>
          </a:xfrm>
          <a:prstGeom prst="roundRect">
            <a:avLst>
              <a:gd name="adj" fmla="val 10000"/>
            </a:avLst>
          </a:prstGeom>
          <a:solidFill>
            <a:srgbClr val="F1E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490472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1250" b="1" i="0">
                <a:solidFill>
                  <a:srgbClr val="45601F"/>
                </a:solidFill>
                <a:latin typeface="Cambria"/>
              </a:rPr>
              <a:t>침엽수 (균질재)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46520" y="1810512"/>
            <a:ext cx="502920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indent="-182880" marL="182880">
              <a:lnSpc>
                <a:spcPct val="115000"/>
              </a:lnSpc>
              <a:spcAft>
                <a:spcPts val="600"/>
              </a:spcAft>
              <a:buFont typeface="Arial"/>
              <a:buChar char="•"/>
            </a:pPr>
            <a:r>
              <a:rPr sz="1080" b="0">
                <a:solidFill>
                  <a:srgbClr val="2A1D16"/>
                </a:solidFill>
                <a:latin typeface="Calibri"/>
              </a:rPr>
              <a:t>가도관(헛물관): 전체의 약 90~95%, 수분이동+지지 겸함</a:t>
            </a:r>
          </a:p>
          <a:p>
            <a:pPr algn="l" indent="-182880" marL="182880">
              <a:lnSpc>
                <a:spcPct val="115000"/>
              </a:lnSpc>
              <a:spcAft>
                <a:spcPts val="600"/>
              </a:spcAft>
              <a:buFont typeface="Arial"/>
              <a:buChar char="•"/>
            </a:pPr>
            <a:r>
              <a:rPr sz="1080" b="0">
                <a:solidFill>
                  <a:srgbClr val="2A1D16"/>
                </a:solidFill>
                <a:latin typeface="Calibri"/>
              </a:rPr>
              <a:t>방사유세포: 양분을 가로(방사)방향으로 이동·저장</a:t>
            </a:r>
          </a:p>
          <a:p>
            <a:pPr algn="l" indent="-182880" marL="182880">
              <a:lnSpc>
                <a:spcPct val="115000"/>
              </a:lnSpc>
              <a:spcAft>
                <a:spcPts val="600"/>
              </a:spcAft>
              <a:buFont typeface="Arial"/>
              <a:buChar char="•"/>
            </a:pPr>
            <a:r>
              <a:rPr sz="1080" b="0">
                <a:solidFill>
                  <a:srgbClr val="2A1D16"/>
                </a:solidFill>
                <a:latin typeface="Calibri"/>
              </a:rPr>
              <a:t>수지구: 소나무속 등 일부에만 존재(식별 포인트)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3840480"/>
            <a:ext cx="5486400" cy="2606040"/>
          </a:xfrm>
          <a:prstGeom prst="roundRect">
            <a:avLst>
              <a:gd name="adj" fmla="val 10000"/>
            </a:avLst>
          </a:prstGeom>
          <a:solidFill>
            <a:srgbClr val="F1E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3959352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1250" b="1" i="0">
                <a:solidFill>
                  <a:srgbClr val="8D6E4B"/>
                </a:solidFill>
                <a:latin typeface="Cambria"/>
              </a:rPr>
              <a:t>활엽수 (역할 분업)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4279392"/>
            <a:ext cx="5029200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indent="-182880" marL="182880">
              <a:lnSpc>
                <a:spcPct val="115000"/>
              </a:lnSpc>
              <a:spcAft>
                <a:spcPts val="600"/>
              </a:spcAft>
              <a:buFont typeface="Arial"/>
              <a:buChar char="•"/>
            </a:pPr>
            <a:r>
              <a:rPr sz="1080" b="0">
                <a:solidFill>
                  <a:srgbClr val="2A1D16"/>
                </a:solidFill>
                <a:latin typeface="Calibri"/>
              </a:rPr>
              <a:t>도관: 수분이동 전담(단면에 구멍으로 관찰)</a:t>
            </a:r>
          </a:p>
          <a:p>
            <a:pPr algn="l" indent="-182880" marL="182880">
              <a:lnSpc>
                <a:spcPct val="115000"/>
              </a:lnSpc>
              <a:spcAft>
                <a:spcPts val="600"/>
              </a:spcAft>
              <a:buFont typeface="Arial"/>
              <a:buChar char="•"/>
            </a:pPr>
            <a:r>
              <a:rPr sz="1080" b="0">
                <a:solidFill>
                  <a:srgbClr val="2A1D16"/>
                </a:solidFill>
                <a:latin typeface="Calibri"/>
              </a:rPr>
              <a:t>섬유: 두꺼운 세포벽, 기계적 지지 전담</a:t>
            </a:r>
          </a:p>
          <a:p>
            <a:pPr algn="l" indent="-182880" marL="182880">
              <a:lnSpc>
                <a:spcPct val="115000"/>
              </a:lnSpc>
              <a:spcAft>
                <a:spcPts val="600"/>
              </a:spcAft>
              <a:buFont typeface="Arial"/>
              <a:buChar char="•"/>
            </a:pPr>
            <a:r>
              <a:rPr sz="1080" b="0">
                <a:solidFill>
                  <a:srgbClr val="2A1D16"/>
                </a:solidFill>
                <a:latin typeface="Calibri"/>
              </a:rPr>
              <a:t>방사조직 발달 → 참나무 등 메디큘러 레이 무늬</a:t>
            </a:r>
          </a:p>
          <a:p>
            <a:pPr algn="l" indent="-182880" marL="182880">
              <a:lnSpc>
                <a:spcPct val="115000"/>
              </a:lnSpc>
              <a:spcAft>
                <a:spcPts val="600"/>
              </a:spcAft>
              <a:buFont typeface="Arial"/>
              <a:buChar char="•"/>
            </a:pPr>
            <a:r>
              <a:rPr sz="1080" b="0">
                <a:solidFill>
                  <a:srgbClr val="2A1D16"/>
                </a:solidFill>
                <a:latin typeface="Calibri"/>
              </a:rPr>
              <a:t>도관배열 3분류: 환공재 / 산공재 / 반환공재 (3장)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850" b="0" i="0">
                <a:solidFill>
                  <a:srgbClr val="7A6A5A"/>
                </a:solidFill>
                <a:latin typeface="Calibri"/>
              </a:rPr>
              <a:t>목공의 이해 · 상세노트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85855" y="649224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buNone/>
            </a:pPr>
            <a:r>
              <a:rPr sz="850" b="0" i="0">
                <a:solidFill>
                  <a:srgbClr val="7A6A5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9144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1150" b="1" i="0">
                <a:solidFill>
                  <a:srgbClr val="45601F"/>
                </a:solidFill>
                <a:latin typeface="Calibri"/>
              </a:rPr>
              <a:t>1장  목재 특성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03504"/>
            <a:ext cx="11247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2500" b="1" i="0">
                <a:solidFill>
                  <a:srgbClr val="2A1D16"/>
                </a:solidFill>
                <a:latin typeface="Cambria"/>
              </a:rPr>
              <a:t>그림으로 보기 — 나무의 구조</a:t>
            </a:r>
          </a:p>
        </p:txBody>
      </p:sp>
      <p:pic>
        <p:nvPicPr>
          <p:cNvPr id="4" name="Picture 3" descr="01_나무구조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287" y="1492700"/>
            <a:ext cx="11247120" cy="487843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850" b="0" i="0">
                <a:solidFill>
                  <a:srgbClr val="7A6A5A"/>
                </a:solidFill>
                <a:latin typeface="Calibri"/>
              </a:rPr>
              <a:t>목공의 이해 · 상세노트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9224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buNone/>
            </a:pPr>
            <a:r>
              <a:rPr sz="850" b="0" i="0">
                <a:solidFill>
                  <a:srgbClr val="7A6A5A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9144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1150" b="1" i="0">
                <a:solidFill>
                  <a:srgbClr val="45601F"/>
                </a:solidFill>
                <a:latin typeface="Calibri"/>
              </a:rPr>
              <a:t>1장  목재 특성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03504"/>
            <a:ext cx="11247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2500" b="1" i="0">
                <a:solidFill>
                  <a:srgbClr val="2A1D16"/>
                </a:solidFill>
                <a:latin typeface="Cambria"/>
              </a:rPr>
              <a:t>그림으로 보기 — 수간의 단면 구조</a:t>
            </a:r>
          </a:p>
        </p:txBody>
      </p:sp>
      <p:pic>
        <p:nvPicPr>
          <p:cNvPr id="4" name="Picture 3" descr="01_단면구조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287" y="1492700"/>
            <a:ext cx="11247120" cy="487843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850" b="0" i="0">
                <a:solidFill>
                  <a:srgbClr val="7A6A5A"/>
                </a:solidFill>
                <a:latin typeface="Calibri"/>
              </a:rPr>
              <a:t>목공의 이해 · 상세노트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9224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buNone/>
            </a:pPr>
            <a:r>
              <a:rPr sz="850" b="0" i="0">
                <a:solidFill>
                  <a:srgbClr val="7A6A5A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9144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1150" b="1" i="0">
                <a:solidFill>
                  <a:srgbClr val="45601F"/>
                </a:solidFill>
                <a:latin typeface="Calibri"/>
              </a:rPr>
              <a:t>2장  목재 무늬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03504"/>
            <a:ext cx="11247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2500" b="1" i="0">
                <a:solidFill>
                  <a:srgbClr val="2A1D16"/>
                </a:solidFill>
                <a:latin typeface="Cambria"/>
              </a:rPr>
              <a:t>옹이와 이상재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17320"/>
            <a:ext cx="11247120" cy="1737360"/>
          </a:xfrm>
          <a:prstGeom prst="roundRect">
            <a:avLst>
              <a:gd name="adj" fmla="val 10000"/>
            </a:avLst>
          </a:prstGeom>
          <a:solidFill>
            <a:srgbClr val="F1E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536192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1300" b="1" i="0">
                <a:solidFill>
                  <a:srgbClr val="45601F"/>
                </a:solidFill>
                <a:latin typeface="Cambria"/>
              </a:rPr>
              <a:t>옹이(Knot) — 생옹이 vs 사옹이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874519"/>
            <a:ext cx="1078992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indent="-182880" marL="182880">
              <a:lnSpc>
                <a:spcPct val="115000"/>
              </a:lnSpc>
              <a:spcAft>
                <a:spcPts val="500"/>
              </a:spcAft>
              <a:buFont typeface="Arial"/>
              <a:buChar char="•"/>
            </a:pPr>
            <a:r>
              <a:rPr sz="1100" b="0">
                <a:solidFill>
                  <a:srgbClr val="2A1D16"/>
                </a:solidFill>
                <a:latin typeface="Calibri"/>
              </a:rPr>
              <a:t>생옹이(산옹이, Intergrown knot): 가지가 살아있을 때 유합 → 단단히 붙음, 결 급격히 꺾여 응력집중</a:t>
            </a:r>
          </a:p>
          <a:p>
            <a:pPr algn="l" indent="-182880" marL="182880">
              <a:lnSpc>
                <a:spcPct val="115000"/>
              </a:lnSpc>
              <a:spcAft>
                <a:spcPts val="500"/>
              </a:spcAft>
              <a:buFont typeface="Arial"/>
              <a:buChar char="•"/>
            </a:pPr>
            <a:r>
              <a:rPr sz="1100" b="0">
                <a:solidFill>
                  <a:srgbClr val="2A1D16"/>
                </a:solidFill>
                <a:latin typeface="Calibri"/>
              </a:rPr>
              <a:t>사옹이(죽은옹이, Encased/Dead knot): 먼저 고사한 가지를 줄기가 감싸며 자람 → 유합 안 돼 빠지기 쉬움</a:t>
            </a:r>
          </a:p>
          <a:p>
            <a:pPr algn="l" indent="-182880" marL="182880">
              <a:lnSpc>
                <a:spcPct val="115000"/>
              </a:lnSpc>
              <a:spcAft>
                <a:spcPts val="500"/>
              </a:spcAft>
              <a:buFont typeface="Arial"/>
              <a:buChar char="•"/>
            </a:pPr>
            <a:r>
              <a:rPr sz="1100" b="0">
                <a:solidFill>
                  <a:srgbClr val="2A1D16"/>
                </a:solidFill>
                <a:latin typeface="Calibri"/>
              </a:rPr>
              <a:t>강도 영향: 인장강도 저하가 가장 큼, 압축강도는 상대적으로 영향 적음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3383280"/>
          <a:ext cx="11247120" cy="30175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4217670"/>
                <a:gridCol w="4217670"/>
              </a:tblGrid>
              <a:tr h="603503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구분</a:t>
                      </a:r>
                    </a:p>
                  </a:txBody>
                  <a:tcPr marL="73152" marR="73152" marT="27432" marB="27432" anchor="ctr">
                    <a:solidFill>
                      <a:srgbClr val="8D6E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압축이상재(침엽수)</a:t>
                      </a:r>
                    </a:p>
                  </a:txBody>
                  <a:tcPr marL="73152" marR="73152" marT="27432" marB="27432" anchor="ctr">
                    <a:solidFill>
                      <a:srgbClr val="8D6E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인장이상재(활엽수)</a:t>
                      </a:r>
                    </a:p>
                  </a:txBody>
                  <a:tcPr marL="73152" marR="73152" marT="27432" marB="27432" anchor="ctr">
                    <a:solidFill>
                      <a:srgbClr val="8D6E4B"/>
                    </a:solidFill>
                  </a:tcPr>
                </a:tc>
              </a:tr>
              <a:tr h="603503">
                <a:tc>
                  <a:txBody>
                    <a:bodyPr wrap="square"/>
                    <a:lstStyle/>
                    <a:p>
                      <a:r>
                        <a:rPr sz="1030" b="1">
                          <a:solidFill>
                            <a:srgbClr val="2A1D16"/>
                          </a:solidFill>
                          <a:latin typeface="Calibri"/>
                        </a:rPr>
                        <a:t>발생 위치</a:t>
                      </a:r>
                    </a:p>
                  </a:txBody>
                  <a:tcPr marL="73152" marR="73152" marT="27432" marB="27432" anchor="ctr">
                    <a:solidFill>
                      <a:srgbClr val="F1E4C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30" b="0">
                          <a:solidFill>
                            <a:srgbClr val="2A1D16"/>
                          </a:solidFill>
                          <a:latin typeface="Calibri"/>
                        </a:rPr>
                        <a:t>기울어진 줄기의 아래쪽</a:t>
                      </a:r>
                    </a:p>
                  </a:txBody>
                  <a:tcPr marL="73152" marR="73152" marT="27432" marB="27432" anchor="ctr">
                    <a:solidFill>
                      <a:srgbClr val="F1E4C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30" b="0">
                          <a:solidFill>
                            <a:srgbClr val="2A1D16"/>
                          </a:solidFill>
                          <a:latin typeface="Calibri"/>
                        </a:rPr>
                        <a:t>기울어진 줄기의 위쪽</a:t>
                      </a:r>
                    </a:p>
                  </a:txBody>
                  <a:tcPr marL="73152" marR="73152" marT="27432" marB="27432" anchor="ctr">
                    <a:solidFill>
                      <a:srgbClr val="F1E4CC"/>
                    </a:solidFill>
                  </a:tcPr>
                </a:tc>
              </a:tr>
              <a:tr h="603503">
                <a:tc>
                  <a:txBody>
                    <a:bodyPr wrap="square"/>
                    <a:lstStyle/>
                    <a:p>
                      <a:r>
                        <a:rPr sz="1030" b="1">
                          <a:solidFill>
                            <a:srgbClr val="2A1D16"/>
                          </a:solidFill>
                          <a:latin typeface="Calibri"/>
                        </a:rPr>
                        <a:t>조직 특징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30" b="0">
                          <a:solidFill>
                            <a:srgbClr val="2A1D16"/>
                          </a:solidFill>
                          <a:latin typeface="Calibri"/>
                        </a:rPr>
                        <a:t>세포벽 두껍고 원형, 리그닌 多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30" b="0">
                          <a:solidFill>
                            <a:srgbClr val="2A1D16"/>
                          </a:solidFill>
                          <a:latin typeface="Calibri"/>
                        </a:rPr>
                        <a:t>젤라틴층(G-layer), 셀룰로오스 多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603503">
                <a:tc>
                  <a:txBody>
                    <a:bodyPr wrap="square"/>
                    <a:lstStyle/>
                    <a:p>
                      <a:r>
                        <a:rPr sz="1030" b="1">
                          <a:solidFill>
                            <a:srgbClr val="2A1D16"/>
                          </a:solidFill>
                          <a:latin typeface="Calibri"/>
                        </a:rPr>
                        <a:t>길이방향 수축률</a:t>
                      </a:r>
                    </a:p>
                  </a:txBody>
                  <a:tcPr marL="73152" marR="73152" marT="27432" marB="27432" anchor="ctr">
                    <a:solidFill>
                      <a:srgbClr val="F1E4C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30" b="0">
                          <a:solidFill>
                            <a:srgbClr val="2A1D16"/>
                          </a:solidFill>
                          <a:latin typeface="Calibri"/>
                        </a:rPr>
                        <a:t>정상재(0.1~0.3%)보다 훨씬 큼(최대 2%)</a:t>
                      </a:r>
                    </a:p>
                  </a:txBody>
                  <a:tcPr marL="73152" marR="73152" marT="27432" marB="27432" anchor="ctr">
                    <a:solidFill>
                      <a:srgbClr val="F1E4C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30" b="0">
                          <a:solidFill>
                            <a:srgbClr val="2A1D16"/>
                          </a:solidFill>
                          <a:latin typeface="Calibri"/>
                        </a:rPr>
                        <a:t>정상재보다 큼</a:t>
                      </a:r>
                    </a:p>
                  </a:txBody>
                  <a:tcPr marL="73152" marR="73152" marT="27432" marB="27432" anchor="ctr">
                    <a:solidFill>
                      <a:srgbClr val="F1E4CC"/>
                    </a:solidFill>
                  </a:tcPr>
                </a:tc>
              </a:tr>
              <a:tr h="603503">
                <a:tc>
                  <a:txBody>
                    <a:bodyPr wrap="square"/>
                    <a:lstStyle/>
                    <a:p>
                      <a:r>
                        <a:rPr sz="1030" b="1">
                          <a:solidFill>
                            <a:srgbClr val="2A1D16"/>
                          </a:solidFill>
                          <a:latin typeface="Calibri"/>
                        </a:rPr>
                        <a:t>문제점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30" b="0">
                          <a:solidFill>
                            <a:srgbClr val="2A1D16"/>
                          </a:solidFill>
                          <a:latin typeface="Calibri"/>
                        </a:rPr>
                        <a:t>건조 중 휨·뒤틀림, 가구재 부적합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30" b="0">
                          <a:solidFill>
                            <a:srgbClr val="2A1D16"/>
                          </a:solidFill>
                          <a:latin typeface="Calibri"/>
                        </a:rPr>
                        <a:t>절삭 시 보풀(furry surface)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850" b="0" i="0">
                <a:solidFill>
                  <a:srgbClr val="7A6A5A"/>
                </a:solidFill>
                <a:latin typeface="Calibri"/>
              </a:rPr>
              <a:t>목공의 이해 · 상세노트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85855" y="649224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buNone/>
            </a:pPr>
            <a:r>
              <a:rPr sz="850" b="0" i="0">
                <a:solidFill>
                  <a:srgbClr val="7A6A5A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9144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1150" b="1" i="0">
                <a:solidFill>
                  <a:srgbClr val="45601F"/>
                </a:solidFill>
                <a:latin typeface="Calibri"/>
              </a:rPr>
              <a:t>2장  목재 무늬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03504"/>
            <a:ext cx="11247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2500" b="1" i="0">
                <a:solidFill>
                  <a:srgbClr val="2A1D16"/>
                </a:solidFill>
                <a:latin typeface="Cambria"/>
              </a:rPr>
              <a:t>균류와 곤충 피해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417320"/>
          <a:ext cx="1124712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4217670"/>
                <a:gridCol w="4217670"/>
              </a:tblGrid>
              <a:tr h="54864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구분</a:t>
                      </a:r>
                    </a:p>
                  </a:txBody>
                  <a:tcPr marL="73152" marR="73152" marT="27432" marB="27432" anchor="ctr">
                    <a:solidFill>
                      <a:srgbClr val="8D6E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갈색부후(Brown rot)</a:t>
                      </a:r>
                    </a:p>
                  </a:txBody>
                  <a:tcPr marL="73152" marR="73152" marT="27432" marB="27432" anchor="ctr">
                    <a:solidFill>
                      <a:srgbClr val="8D6E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백색부후(White rot)</a:t>
                      </a:r>
                    </a:p>
                  </a:txBody>
                  <a:tcPr marL="73152" marR="73152" marT="27432" marB="27432" anchor="ctr">
                    <a:solidFill>
                      <a:srgbClr val="8D6E4B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2A1D16"/>
                          </a:solidFill>
                          <a:latin typeface="Calibri"/>
                        </a:rPr>
                        <a:t>분해 대상</a:t>
                      </a:r>
                    </a:p>
                  </a:txBody>
                  <a:tcPr marL="73152" marR="73152" marT="27432" marB="27432" anchor="ctr">
                    <a:solidFill>
                      <a:srgbClr val="F1E4C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A1D16"/>
                          </a:solidFill>
                          <a:latin typeface="Calibri"/>
                        </a:rPr>
                        <a:t>셀룰로오스·헤미셀룰로오스</a:t>
                      </a:r>
                    </a:p>
                  </a:txBody>
                  <a:tcPr marL="73152" marR="73152" marT="27432" marB="27432" anchor="ctr">
                    <a:solidFill>
                      <a:srgbClr val="F1E4C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A1D16"/>
                          </a:solidFill>
                          <a:latin typeface="Calibri"/>
                        </a:rPr>
                        <a:t>셀룰로오스+리그닌 모두</a:t>
                      </a:r>
                    </a:p>
                  </a:txBody>
                  <a:tcPr marL="73152" marR="73152" marT="27432" marB="27432" anchor="ctr">
                    <a:solidFill>
                      <a:srgbClr val="F1E4CC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2A1D16"/>
                          </a:solidFill>
                          <a:latin typeface="Calibri"/>
                        </a:rPr>
                        <a:t>외관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A1D16"/>
                          </a:solidFill>
                          <a:latin typeface="Calibri"/>
                        </a:rPr>
                        <a:t>갈색, 입방체 균열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A1D16"/>
                          </a:solidFill>
                          <a:latin typeface="Calibri"/>
                        </a:rPr>
                        <a:t>흰색, 스펀지처럼 물러짐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2A1D16"/>
                          </a:solidFill>
                          <a:latin typeface="Calibri"/>
                        </a:rPr>
                        <a:t>강도 저하</a:t>
                      </a:r>
                    </a:p>
                  </a:txBody>
                  <a:tcPr marL="73152" marR="73152" marT="27432" marB="27432" anchor="ctr">
                    <a:solidFill>
                      <a:srgbClr val="F1E4C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A1D16"/>
                          </a:solidFill>
                          <a:latin typeface="Calibri"/>
                        </a:rPr>
                        <a:t>초기부터 급격(위험)</a:t>
                      </a:r>
                    </a:p>
                  </a:txBody>
                  <a:tcPr marL="73152" marR="73152" marT="27432" marB="27432" anchor="ctr">
                    <a:solidFill>
                      <a:srgbClr val="F1E4C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A1D16"/>
                          </a:solidFill>
                          <a:latin typeface="Calibri"/>
                        </a:rPr>
                        <a:t>비교적 서서히 진행</a:t>
                      </a:r>
                    </a:p>
                  </a:txBody>
                  <a:tcPr marL="73152" marR="73152" marT="27432" marB="27432" anchor="ctr">
                    <a:solidFill>
                      <a:srgbClr val="F1E4CC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3749039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1100" b="0" i="1">
                <a:solidFill>
                  <a:srgbClr val="8D6E4B"/>
                </a:solidFill>
                <a:latin typeface="Calibri"/>
              </a:rPr>
              <a:t>부후 발생 4조건(하나만 제거해도 예방): 산소·온도(20~35°C)·함수율 20% 이상·양분 → 건조 유지가 최고의 예방책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4434840"/>
          <a:ext cx="1124712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99360"/>
                <a:gridCol w="3998976"/>
                <a:gridCol w="4748784"/>
              </a:tblGrid>
              <a:tr h="50292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구분</a:t>
                      </a:r>
                    </a:p>
                  </a:txBody>
                  <a:tcPr marL="73152" marR="73152" marT="27432" marB="27432" anchor="ctr">
                    <a:solidFill>
                      <a:srgbClr val="8D6E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흰개미</a:t>
                      </a:r>
                    </a:p>
                  </a:txBody>
                  <a:tcPr marL="73152" marR="73152" marT="27432" marB="27432" anchor="ctr">
                    <a:solidFill>
                      <a:srgbClr val="8D6E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개나무좀·가루나무좀</a:t>
                      </a:r>
                    </a:p>
                  </a:txBody>
                  <a:tcPr marL="73152" marR="73152" marT="27432" marB="27432" anchor="ctr">
                    <a:solidFill>
                      <a:srgbClr val="8D6E4B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030" b="1">
                          <a:solidFill>
                            <a:srgbClr val="2A1D16"/>
                          </a:solidFill>
                          <a:latin typeface="Calibri"/>
                        </a:rPr>
                        <a:t>서식환경</a:t>
                      </a:r>
                    </a:p>
                  </a:txBody>
                  <a:tcPr marL="73152" marR="73152" marT="27432" marB="27432" anchor="ctr">
                    <a:solidFill>
                      <a:srgbClr val="F1E4C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30" b="0">
                          <a:solidFill>
                            <a:srgbClr val="2A1D16"/>
                          </a:solidFill>
                          <a:latin typeface="Calibri"/>
                        </a:rPr>
                        <a:t>땅속, 습한 구조재</a:t>
                      </a:r>
                    </a:p>
                  </a:txBody>
                  <a:tcPr marL="73152" marR="73152" marT="27432" marB="27432" anchor="ctr">
                    <a:solidFill>
                      <a:srgbClr val="F1E4C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30" b="0">
                          <a:solidFill>
                            <a:srgbClr val="2A1D16"/>
                          </a:solidFill>
                          <a:latin typeface="Calibri"/>
                        </a:rPr>
                        <a:t>건조된 변재(전분 함유)</a:t>
                      </a:r>
                    </a:p>
                  </a:txBody>
                  <a:tcPr marL="73152" marR="73152" marT="27432" marB="27432" anchor="ctr">
                    <a:solidFill>
                      <a:srgbClr val="F1E4CC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030" b="1">
                          <a:solidFill>
                            <a:srgbClr val="2A1D16"/>
                          </a:solidFill>
                          <a:latin typeface="Calibri"/>
                        </a:rPr>
                        <a:t>피해형태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30" b="0">
                          <a:solidFill>
                            <a:srgbClr val="2A1D16"/>
                          </a:solidFill>
                          <a:latin typeface="Calibri"/>
                        </a:rPr>
                        <a:t>속을 갉아먹어 겉은 멀쩡해 보임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30" b="0">
                          <a:solidFill>
                            <a:srgbClr val="2A1D16"/>
                          </a:solidFill>
                          <a:latin typeface="Calibri"/>
                        </a:rPr>
                        <a:t>지름 1~2mm 구멍 + 고운 가루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030" b="1">
                          <a:solidFill>
                            <a:srgbClr val="2A1D16"/>
                          </a:solidFill>
                          <a:latin typeface="Calibri"/>
                        </a:rPr>
                        <a:t>예방</a:t>
                      </a:r>
                    </a:p>
                  </a:txBody>
                  <a:tcPr marL="73152" marR="73152" marT="27432" marB="27432" anchor="ctr">
                    <a:solidFill>
                      <a:srgbClr val="F1E4C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30" b="0">
                          <a:solidFill>
                            <a:srgbClr val="2A1D16"/>
                          </a:solidFill>
                          <a:latin typeface="Calibri"/>
                        </a:rPr>
                        <a:t>방부처리, 콘크리트 직접접촉 차단</a:t>
                      </a:r>
                    </a:p>
                  </a:txBody>
                  <a:tcPr marL="73152" marR="73152" marT="27432" marB="27432" anchor="ctr">
                    <a:solidFill>
                      <a:srgbClr val="F1E4C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30" b="0">
                          <a:solidFill>
                            <a:srgbClr val="2A1D16"/>
                          </a:solidFill>
                          <a:latin typeface="Calibri"/>
                        </a:rPr>
                        <a:t>변재 제거, 저함수율 유지</a:t>
                      </a:r>
                    </a:p>
                  </a:txBody>
                  <a:tcPr marL="73152" marR="73152" marT="27432" marB="27432" anchor="ctr">
                    <a:solidFill>
                      <a:srgbClr val="F1E4CC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850" b="0" i="0">
                <a:solidFill>
                  <a:srgbClr val="7A6A5A"/>
                </a:solidFill>
                <a:latin typeface="Calibri"/>
              </a:rPr>
              <a:t>목공의 이해 · 상세노트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85855" y="649224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buNone/>
            </a:pPr>
            <a:r>
              <a:rPr sz="850" b="0" i="0">
                <a:solidFill>
                  <a:srgbClr val="7A6A5A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9144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1150" b="1" i="0">
                <a:solidFill>
                  <a:srgbClr val="45601F"/>
                </a:solidFill>
                <a:latin typeface="Calibri"/>
              </a:rPr>
              <a:t>2장  목재 무늬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03504"/>
            <a:ext cx="11247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2500" b="1" i="0">
                <a:solidFill>
                  <a:srgbClr val="2A1D16"/>
                </a:solidFill>
                <a:latin typeface="Cambria"/>
              </a:rPr>
              <a:t>그림으로 보기 — 옹이·이상재·균류·충해</a:t>
            </a:r>
          </a:p>
        </p:txBody>
      </p:sp>
      <p:pic>
        <p:nvPicPr>
          <p:cNvPr id="4" name="Picture 3" descr="02_무늬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287" y="1492700"/>
            <a:ext cx="11247120" cy="487843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850" b="0" i="0">
                <a:solidFill>
                  <a:srgbClr val="7A6A5A"/>
                </a:solidFill>
                <a:latin typeface="Calibri"/>
              </a:rPr>
              <a:t>목공의 이해 · 상세노트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9224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buNone/>
            </a:pPr>
            <a:r>
              <a:rPr sz="850" b="0" i="0">
                <a:solidFill>
                  <a:srgbClr val="7A6A5A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9144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1150" b="1" i="0">
                <a:solidFill>
                  <a:srgbClr val="45601F"/>
                </a:solidFill>
                <a:latin typeface="Calibri"/>
              </a:rPr>
              <a:t>3장  목재 식별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03504"/>
            <a:ext cx="11247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2500" b="1" i="0">
                <a:solidFill>
                  <a:srgbClr val="2A1D16"/>
                </a:solidFill>
                <a:latin typeface="Cambria"/>
              </a:rPr>
              <a:t>식별 특성과 도관 배열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417320"/>
          <a:ext cx="5486400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3657600"/>
              </a:tblGrid>
              <a:tr h="44196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특성</a:t>
                      </a:r>
                    </a:p>
                  </a:txBody>
                  <a:tcPr marL="73152" marR="73152" marT="27432" marB="27432" anchor="ctr">
                    <a:solidFill>
                      <a:srgbClr val="8D6E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확인 방법</a:t>
                      </a:r>
                    </a:p>
                  </a:txBody>
                  <a:tcPr marL="73152" marR="73152" marT="27432" marB="27432" anchor="ctr">
                    <a:solidFill>
                      <a:srgbClr val="8D6E4B"/>
                    </a:solidFill>
                  </a:tcPr>
                </a:tc>
              </a:tr>
              <a:tr h="441960">
                <a:tc>
                  <a:txBody>
                    <a:bodyPr wrap="square"/>
                    <a:lstStyle/>
                    <a:p>
                      <a:r>
                        <a:rPr sz="1030" b="1">
                          <a:solidFill>
                            <a:srgbClr val="2A1D16"/>
                          </a:solidFill>
                          <a:latin typeface="Calibri"/>
                        </a:rPr>
                        <a:t>색상</a:t>
                      </a:r>
                    </a:p>
                  </a:txBody>
                  <a:tcPr marL="73152" marR="73152" marT="27432" marB="27432" anchor="ctr">
                    <a:solidFill>
                      <a:srgbClr val="F1E4C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30" b="0">
                          <a:solidFill>
                            <a:srgbClr val="2A1D16"/>
                          </a:solidFill>
                          <a:latin typeface="Calibri"/>
                        </a:rPr>
                        <a:t>심재/변재 색 대비</a:t>
                      </a:r>
                    </a:p>
                  </a:txBody>
                  <a:tcPr marL="73152" marR="73152" marT="27432" marB="27432" anchor="ctr">
                    <a:solidFill>
                      <a:srgbClr val="F1E4CC"/>
                    </a:solidFill>
                  </a:tcPr>
                </a:tc>
              </a:tr>
              <a:tr h="441960">
                <a:tc>
                  <a:txBody>
                    <a:bodyPr wrap="square"/>
                    <a:lstStyle/>
                    <a:p>
                      <a:r>
                        <a:rPr sz="1030" b="1">
                          <a:solidFill>
                            <a:srgbClr val="2A1D16"/>
                          </a:solidFill>
                          <a:latin typeface="Calibri"/>
                        </a:rPr>
                        <a:t>향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30" b="0">
                          <a:solidFill>
                            <a:srgbClr val="2A1D16"/>
                          </a:solidFill>
                          <a:latin typeface="Calibri"/>
                        </a:rPr>
                        <a:t>절삭 직후 냄새(삼나무·편백 등)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41960">
                <a:tc>
                  <a:txBody>
                    <a:bodyPr wrap="square"/>
                    <a:lstStyle/>
                    <a:p>
                      <a:r>
                        <a:rPr sz="1030" b="1">
                          <a:solidFill>
                            <a:srgbClr val="2A1D16"/>
                          </a:solidFill>
                          <a:latin typeface="Calibri"/>
                        </a:rPr>
                        <a:t>촉감</a:t>
                      </a:r>
                    </a:p>
                  </a:txBody>
                  <a:tcPr marL="73152" marR="73152" marT="27432" marB="27432" anchor="ctr">
                    <a:solidFill>
                      <a:srgbClr val="F1E4C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30" b="0">
                          <a:solidFill>
                            <a:srgbClr val="2A1D16"/>
                          </a:solidFill>
                          <a:latin typeface="Calibri"/>
                        </a:rPr>
                        <a:t>표면 매끄러움·유분감</a:t>
                      </a:r>
                    </a:p>
                  </a:txBody>
                  <a:tcPr marL="73152" marR="73152" marT="27432" marB="27432" anchor="ctr">
                    <a:solidFill>
                      <a:srgbClr val="F1E4CC"/>
                    </a:solidFill>
                  </a:tcPr>
                </a:tc>
              </a:tr>
              <a:tr h="441960">
                <a:tc>
                  <a:txBody>
                    <a:bodyPr wrap="square"/>
                    <a:lstStyle/>
                    <a:p>
                      <a:r>
                        <a:rPr sz="1030" b="1">
                          <a:solidFill>
                            <a:srgbClr val="2A1D16"/>
                          </a:solidFill>
                          <a:latin typeface="Calibri"/>
                        </a:rPr>
                        <a:t>무게감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30" b="0">
                          <a:solidFill>
                            <a:srgbClr val="2A1D16"/>
                          </a:solidFill>
                          <a:latin typeface="Calibri"/>
                        </a:rPr>
                        <a:t>비중 추정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41960">
                <a:tc>
                  <a:txBody>
                    <a:bodyPr wrap="square"/>
                    <a:lstStyle/>
                    <a:p>
                      <a:r>
                        <a:rPr sz="1030" b="1">
                          <a:solidFill>
                            <a:srgbClr val="2A1D16"/>
                          </a:solidFill>
                          <a:latin typeface="Calibri"/>
                        </a:rPr>
                        <a:t>나이테 대비</a:t>
                      </a:r>
                    </a:p>
                  </a:txBody>
                  <a:tcPr marL="73152" marR="73152" marT="27432" marB="27432" anchor="ctr">
                    <a:solidFill>
                      <a:srgbClr val="F1E4C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30" b="0">
                          <a:solidFill>
                            <a:srgbClr val="2A1D16"/>
                          </a:solidFill>
                          <a:latin typeface="Calibri"/>
                        </a:rPr>
                        <a:t>조재/만재 색·폭 대비</a:t>
                      </a:r>
                    </a:p>
                  </a:txBody>
                  <a:tcPr marL="73152" marR="73152" marT="27432" marB="27432" anchor="ctr">
                    <a:solidFill>
                      <a:srgbClr val="F1E4CC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6217920" y="1417320"/>
            <a:ext cx="5486400" cy="2651760"/>
          </a:xfrm>
          <a:prstGeom prst="roundRect">
            <a:avLst>
              <a:gd name="adj" fmla="val 10000"/>
            </a:avLst>
          </a:prstGeom>
          <a:solidFill>
            <a:srgbClr val="F1E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46520" y="1536192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1250" b="1" i="0">
                <a:solidFill>
                  <a:srgbClr val="45601F"/>
                </a:solidFill>
                <a:latin typeface="Cambria"/>
              </a:rPr>
              <a:t>현장 식별 순서(실무 팁)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46520" y="1856231"/>
            <a:ext cx="5029200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indent="-182880" marL="182880">
              <a:lnSpc>
                <a:spcPct val="115000"/>
              </a:lnSpc>
              <a:spcAft>
                <a:spcPts val="500"/>
              </a:spcAft>
              <a:buFont typeface="Arial"/>
              <a:buChar char="•"/>
            </a:pPr>
            <a:r>
              <a:rPr sz="1080" b="0">
                <a:solidFill>
                  <a:srgbClr val="2A1D16"/>
                </a:solidFill>
                <a:latin typeface="Calibri"/>
              </a:rPr>
              <a:t>① 무게를 들어본다 → 비중 대역 추정</a:t>
            </a:r>
          </a:p>
          <a:p>
            <a:pPr algn="l" indent="-182880" marL="182880">
              <a:lnSpc>
                <a:spcPct val="115000"/>
              </a:lnSpc>
              <a:spcAft>
                <a:spcPts val="500"/>
              </a:spcAft>
              <a:buFont typeface="Arial"/>
              <a:buChar char="•"/>
            </a:pPr>
            <a:r>
              <a:rPr sz="1080" b="0">
                <a:solidFill>
                  <a:srgbClr val="2A1D16"/>
                </a:solidFill>
                <a:latin typeface="Calibri"/>
              </a:rPr>
              <a:t>② 단면에 구멍(도관) 유무 → 활엽수/침엽수 구분</a:t>
            </a:r>
          </a:p>
          <a:p>
            <a:pPr algn="l" indent="-182880" marL="182880">
              <a:lnSpc>
                <a:spcPct val="115000"/>
              </a:lnSpc>
              <a:spcAft>
                <a:spcPts val="500"/>
              </a:spcAft>
              <a:buFont typeface="Arial"/>
              <a:buChar char="•"/>
            </a:pPr>
            <a:r>
              <a:rPr sz="1080" b="0">
                <a:solidFill>
                  <a:srgbClr val="2A1D16"/>
                </a:solidFill>
                <a:latin typeface="Calibri"/>
              </a:rPr>
              <a:t>③ 환공재 vs 산공재 확인</a:t>
            </a:r>
          </a:p>
          <a:p>
            <a:pPr algn="l" indent="-182880" marL="182880">
              <a:lnSpc>
                <a:spcPct val="115000"/>
              </a:lnSpc>
              <a:spcAft>
                <a:spcPts val="500"/>
              </a:spcAft>
              <a:buFont typeface="Arial"/>
              <a:buChar char="•"/>
            </a:pPr>
            <a:r>
              <a:rPr sz="1080" b="0">
                <a:solidFill>
                  <a:srgbClr val="2A1D16"/>
                </a:solidFill>
                <a:latin typeface="Calibri"/>
              </a:rPr>
              <a:t>④ 향을 맡는다 (침엽수 구분에 유효)</a:t>
            </a:r>
          </a:p>
          <a:p>
            <a:pPr algn="l" indent="-182880" marL="182880">
              <a:lnSpc>
                <a:spcPct val="115000"/>
              </a:lnSpc>
              <a:spcAft>
                <a:spcPts val="500"/>
              </a:spcAft>
              <a:buFont typeface="Arial"/>
              <a:buChar char="•"/>
            </a:pPr>
            <a:r>
              <a:rPr sz="1080" b="0">
                <a:solidFill>
                  <a:srgbClr val="2A1D16"/>
                </a:solidFill>
                <a:latin typeface="Calibri"/>
              </a:rPr>
              <a:t>⑤ 색상·무늬로 최종 확인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4343400"/>
          <a:ext cx="11247118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78533"/>
                <a:gridCol w="4401046"/>
                <a:gridCol w="3667539"/>
              </a:tblGrid>
              <a:tr h="525780">
                <a:tc>
                  <a:txBody>
                    <a:bodyPr wrap="square"/>
                    <a:lstStyle/>
                    <a:p>
                      <a:r>
                        <a:rPr sz="1080" b="1">
                          <a:solidFill>
                            <a:srgbClr val="FFFFFF"/>
                          </a:solidFill>
                          <a:latin typeface="Calibri"/>
                        </a:rPr>
                        <a:t>유형</a:t>
                      </a:r>
                    </a:p>
                  </a:txBody>
                  <a:tcPr marL="73152" marR="73152" marT="27432" marB="27432" anchor="ctr">
                    <a:solidFill>
                      <a:srgbClr val="8D6E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80" b="1">
                          <a:solidFill>
                            <a:srgbClr val="FFFFFF"/>
                          </a:solidFill>
                          <a:latin typeface="Calibri"/>
                        </a:rPr>
                        <a:t>특징</a:t>
                      </a:r>
                    </a:p>
                  </a:txBody>
                  <a:tcPr marL="73152" marR="73152" marT="27432" marB="27432" anchor="ctr">
                    <a:solidFill>
                      <a:srgbClr val="8D6E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80" b="1">
                          <a:solidFill>
                            <a:srgbClr val="FFFFFF"/>
                          </a:solidFill>
                          <a:latin typeface="Calibri"/>
                        </a:rPr>
                        <a:t>대표 수종</a:t>
                      </a:r>
                    </a:p>
                  </a:txBody>
                  <a:tcPr marL="73152" marR="73152" marT="27432" marB="27432" anchor="ctr">
                    <a:solidFill>
                      <a:srgbClr val="8D6E4B"/>
                    </a:solidFill>
                  </a:tcPr>
                </a:tc>
              </a:tr>
              <a:tr h="52578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2A1D16"/>
                          </a:solidFill>
                          <a:latin typeface="Calibri"/>
                        </a:rPr>
                        <a:t>환공재(Ring-porous)</a:t>
                      </a:r>
                    </a:p>
                  </a:txBody>
                  <a:tcPr marL="73152" marR="73152" marT="27432" marB="27432" anchor="ctr">
                    <a:solidFill>
                      <a:srgbClr val="F1E4C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A1D16"/>
                          </a:solidFill>
                          <a:latin typeface="Calibri"/>
                        </a:rPr>
                        <a:t>조재에 큰 도관이 띠 모양 집중</a:t>
                      </a:r>
                    </a:p>
                  </a:txBody>
                  <a:tcPr marL="73152" marR="73152" marT="27432" marB="27432" anchor="ctr">
                    <a:solidFill>
                      <a:srgbClr val="F1E4C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A1D16"/>
                          </a:solidFill>
                          <a:latin typeface="Calibri"/>
                        </a:rPr>
                        <a:t>참나무, 느티나무, 물푸레나무</a:t>
                      </a:r>
                    </a:p>
                  </a:txBody>
                  <a:tcPr marL="73152" marR="73152" marT="27432" marB="27432" anchor="ctr">
                    <a:solidFill>
                      <a:srgbClr val="F1E4CC"/>
                    </a:solidFill>
                  </a:tcPr>
                </a:tc>
              </a:tr>
              <a:tr h="52578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2A1D16"/>
                          </a:solidFill>
                          <a:latin typeface="Calibri"/>
                        </a:rPr>
                        <a:t>산공재(Diffuse-porous)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A1D16"/>
                          </a:solidFill>
                          <a:latin typeface="Calibri"/>
                        </a:rPr>
                        <a:t>도관이 단면 전체에 고르게 분포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A1D16"/>
                          </a:solidFill>
                          <a:latin typeface="Calibri"/>
                        </a:rPr>
                        <a:t>자작나무, 단풍나무, 벚나무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2A1D16"/>
                          </a:solidFill>
                          <a:latin typeface="Calibri"/>
                        </a:rPr>
                        <a:t>반환공재(Semi ring-porous)</a:t>
                      </a:r>
                    </a:p>
                  </a:txBody>
                  <a:tcPr marL="73152" marR="73152" marT="27432" marB="27432" anchor="ctr">
                    <a:solidFill>
                      <a:srgbClr val="F1E4C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A1D16"/>
                          </a:solidFill>
                          <a:latin typeface="Calibri"/>
                        </a:rPr>
                        <a:t>조재→만재로 점차 작아짐(경계 불명확)</a:t>
                      </a:r>
                    </a:p>
                  </a:txBody>
                  <a:tcPr marL="73152" marR="73152" marT="27432" marB="27432" anchor="ctr">
                    <a:solidFill>
                      <a:srgbClr val="F1E4C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A1D16"/>
                          </a:solidFill>
                          <a:latin typeface="Calibri"/>
                        </a:rPr>
                        <a:t>호두나무(월넛)</a:t>
                      </a:r>
                    </a:p>
                  </a:txBody>
                  <a:tcPr marL="73152" marR="73152" marT="27432" marB="27432" anchor="ctr">
                    <a:solidFill>
                      <a:srgbClr val="F1E4CC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850" b="0" i="0">
                <a:solidFill>
                  <a:srgbClr val="7A6A5A"/>
                </a:solidFill>
                <a:latin typeface="Calibri"/>
              </a:rPr>
              <a:t>목공의 이해 · 상세노트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85855" y="649224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buNone/>
            </a:pPr>
            <a:r>
              <a:rPr sz="850" b="0" i="0">
                <a:solidFill>
                  <a:srgbClr val="7A6A5A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9144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1150" b="1" i="0">
                <a:solidFill>
                  <a:srgbClr val="45601F"/>
                </a:solidFill>
                <a:latin typeface="Calibri"/>
              </a:rPr>
              <a:t>3장  목재 식별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03504"/>
            <a:ext cx="11247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2500" b="1" i="0">
                <a:solidFill>
                  <a:srgbClr val="2A1D16"/>
                </a:solidFill>
                <a:latin typeface="Cambria"/>
              </a:rPr>
              <a:t>그림으로 보기 — 도관 배열(환공재·산공재)</a:t>
            </a:r>
          </a:p>
        </p:txBody>
      </p:sp>
      <p:pic>
        <p:nvPicPr>
          <p:cNvPr id="4" name="Picture 3" descr="03_식별_도관배열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287" y="1492700"/>
            <a:ext cx="11247120" cy="487843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850" b="0" i="0">
                <a:solidFill>
                  <a:srgbClr val="7A6A5A"/>
                </a:solidFill>
                <a:latin typeface="Calibri"/>
              </a:rPr>
              <a:t>목공의 이해 · 상세노트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9224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buNone/>
            </a:pPr>
            <a:r>
              <a:rPr sz="850" b="0" i="0">
                <a:solidFill>
                  <a:srgbClr val="7A6A5A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9144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1150" b="1" i="0">
                <a:solidFill>
                  <a:srgbClr val="45601F"/>
                </a:solidFill>
                <a:latin typeface="Calibri"/>
              </a:rPr>
              <a:t>4장  목재 강도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03504"/>
            <a:ext cx="11247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2500" b="1" i="0">
                <a:solidFill>
                  <a:srgbClr val="2A1D16"/>
                </a:solidFill>
                <a:latin typeface="Cambria"/>
              </a:rPr>
              <a:t>강도의 종류 · MOE와 MOR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1247118" cy="30175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9528"/>
                <a:gridCol w="4401046"/>
                <a:gridCol w="4156544"/>
              </a:tblGrid>
              <a:tr h="431074">
                <a:tc>
                  <a:txBody>
                    <a:bodyPr wrap="square"/>
                    <a:lstStyle/>
                    <a:p>
                      <a:r>
                        <a:rPr sz="1080" b="1">
                          <a:solidFill>
                            <a:srgbClr val="FFFFFF"/>
                          </a:solidFill>
                          <a:latin typeface="Calibri"/>
                        </a:rPr>
                        <a:t>강도 종류</a:t>
                      </a:r>
                    </a:p>
                  </a:txBody>
                  <a:tcPr marL="73152" marR="73152" marT="27432" marB="27432" anchor="ctr">
                    <a:solidFill>
                      <a:srgbClr val="8D6E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80" b="1">
                          <a:solidFill>
                            <a:srgbClr val="FFFFFF"/>
                          </a:solidFill>
                          <a:latin typeface="Calibri"/>
                        </a:rPr>
                        <a:t>정의</a:t>
                      </a:r>
                    </a:p>
                  </a:txBody>
                  <a:tcPr marL="73152" marR="73152" marT="27432" marB="27432" anchor="ctr">
                    <a:solidFill>
                      <a:srgbClr val="8D6E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80" b="1">
                          <a:solidFill>
                            <a:srgbClr val="FFFFFF"/>
                          </a:solidFill>
                          <a:latin typeface="Calibri"/>
                        </a:rPr>
                        <a:t>섬유방향 대비 상대 강도</a:t>
                      </a:r>
                    </a:p>
                  </a:txBody>
                  <a:tcPr marL="73152" marR="73152" marT="27432" marB="27432" anchor="ctr">
                    <a:solidFill>
                      <a:srgbClr val="8D6E4B"/>
                    </a:solidFill>
                  </a:tcPr>
                </a:tc>
              </a:tr>
              <a:tr h="431074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2A1D16"/>
                          </a:solidFill>
                          <a:latin typeface="Calibri"/>
                        </a:rPr>
                        <a:t>종압축강도</a:t>
                      </a:r>
                    </a:p>
                  </a:txBody>
                  <a:tcPr marL="73152" marR="73152" marT="27432" marB="27432" anchor="ctr">
                    <a:solidFill>
                      <a:srgbClr val="F1E4C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A1D16"/>
                          </a:solidFill>
                          <a:latin typeface="Calibri"/>
                        </a:rPr>
                        <a:t>섬유 방향으로 누르는 힘</a:t>
                      </a:r>
                    </a:p>
                  </a:txBody>
                  <a:tcPr marL="73152" marR="73152" marT="27432" marB="27432" anchor="ctr">
                    <a:solidFill>
                      <a:srgbClr val="F1E4C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A1D16"/>
                          </a:solidFill>
                          <a:latin typeface="Calibri"/>
                        </a:rPr>
                        <a:t>기준(가장 잘 견디는 축)</a:t>
                      </a:r>
                    </a:p>
                  </a:txBody>
                  <a:tcPr marL="73152" marR="73152" marT="27432" marB="27432" anchor="ctr">
                    <a:solidFill>
                      <a:srgbClr val="F1E4CC"/>
                    </a:solidFill>
                  </a:tcPr>
                </a:tc>
              </a:tr>
              <a:tr h="431074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2A1D16"/>
                          </a:solidFill>
                          <a:latin typeface="Calibri"/>
                        </a:rPr>
                        <a:t>횡압축강도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A1D16"/>
                          </a:solidFill>
                          <a:latin typeface="Calibri"/>
                        </a:rPr>
                        <a:t>섬유에 직각으로 누르는 힘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A1D16"/>
                          </a:solidFill>
                          <a:latin typeface="Calibri"/>
                        </a:rPr>
                        <a:t>종압축의 약 1/4~1/10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31074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2A1D16"/>
                          </a:solidFill>
                          <a:latin typeface="Calibri"/>
                        </a:rPr>
                        <a:t>인장강도(섬유)</a:t>
                      </a:r>
                    </a:p>
                  </a:txBody>
                  <a:tcPr marL="73152" marR="73152" marT="27432" marB="27432" anchor="ctr">
                    <a:solidFill>
                      <a:srgbClr val="F1E4C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A1D16"/>
                          </a:solidFill>
                          <a:latin typeface="Calibri"/>
                        </a:rPr>
                        <a:t>섬유 방향으로 당기는 힘</a:t>
                      </a:r>
                    </a:p>
                  </a:txBody>
                  <a:tcPr marL="73152" marR="73152" marT="27432" marB="27432" anchor="ctr">
                    <a:solidFill>
                      <a:srgbClr val="F1E4C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A1D16"/>
                          </a:solidFill>
                          <a:latin typeface="Calibri"/>
                        </a:rPr>
                        <a:t>목재에서 가장 큰 강도값</a:t>
                      </a:r>
                    </a:p>
                  </a:txBody>
                  <a:tcPr marL="73152" marR="73152" marT="27432" marB="27432" anchor="ctr">
                    <a:solidFill>
                      <a:srgbClr val="F1E4CC"/>
                    </a:solidFill>
                  </a:tcPr>
                </a:tc>
              </a:tr>
              <a:tr h="431074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2A1D16"/>
                          </a:solidFill>
                          <a:latin typeface="Calibri"/>
                        </a:rPr>
                        <a:t>횡인장강도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A1D16"/>
                          </a:solidFill>
                          <a:latin typeface="Calibri"/>
                        </a:rPr>
                        <a:t>섬유에 직각으로 당기는 힘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A1D16"/>
                          </a:solidFill>
                          <a:latin typeface="Calibri"/>
                        </a:rPr>
                        <a:t>매우 약함(갈라지는 방향)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31074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2A1D16"/>
                          </a:solidFill>
                          <a:latin typeface="Calibri"/>
                        </a:rPr>
                        <a:t>전단강도</a:t>
                      </a:r>
                    </a:p>
                  </a:txBody>
                  <a:tcPr marL="73152" marR="73152" marT="27432" marB="27432" anchor="ctr">
                    <a:solidFill>
                      <a:srgbClr val="F1E4C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A1D16"/>
                          </a:solidFill>
                          <a:latin typeface="Calibri"/>
                        </a:rPr>
                        <a:t>층이 미끄러지듯 밀리는 힘</a:t>
                      </a:r>
                    </a:p>
                  </a:txBody>
                  <a:tcPr marL="73152" marR="73152" marT="27432" marB="27432" anchor="ctr">
                    <a:solidFill>
                      <a:srgbClr val="F1E4C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A1D16"/>
                          </a:solidFill>
                          <a:latin typeface="Calibri"/>
                        </a:rPr>
                        <a:t>섬유방향 전단 특히 약함</a:t>
                      </a:r>
                    </a:p>
                  </a:txBody>
                  <a:tcPr marL="73152" marR="73152" marT="27432" marB="27432" anchor="ctr">
                    <a:solidFill>
                      <a:srgbClr val="F1E4CC"/>
                    </a:solidFill>
                  </a:tcPr>
                </a:tc>
              </a:tr>
              <a:tr h="431074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2A1D16"/>
                          </a:solidFill>
                          <a:latin typeface="Calibri"/>
                        </a:rPr>
                        <a:t>휨강도(MOR)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A1D16"/>
                          </a:solidFill>
                          <a:latin typeface="Calibri"/>
                        </a:rPr>
                        <a:t>보처럼 걸쳐 눌렀을 때 파괴응력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A1D16"/>
                          </a:solidFill>
                          <a:latin typeface="Calibri"/>
                        </a:rPr>
                        <a:t>압축·인장·전단 복합작용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457200" y="4572000"/>
            <a:ext cx="11247120" cy="1874519"/>
          </a:xfrm>
          <a:prstGeom prst="roundRect">
            <a:avLst>
              <a:gd name="adj" fmla="val 10000"/>
            </a:avLst>
          </a:prstGeom>
          <a:solidFill>
            <a:srgbClr val="F1E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468172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1250" b="1" i="0">
                <a:solidFill>
                  <a:srgbClr val="45601F"/>
                </a:solidFill>
                <a:latin typeface="Cambria"/>
              </a:rPr>
              <a:t>MOE vs MOR (시험 단골)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5001768"/>
            <a:ext cx="10789920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indent="-182880" marL="182880">
              <a:lnSpc>
                <a:spcPct val="115000"/>
              </a:lnSpc>
              <a:spcAft>
                <a:spcPts val="400"/>
              </a:spcAft>
              <a:buFont typeface="Arial"/>
              <a:buChar char="•"/>
            </a:pPr>
            <a:r>
              <a:rPr sz="1080" b="0">
                <a:solidFill>
                  <a:srgbClr val="2A1D16"/>
                </a:solidFill>
                <a:latin typeface="Calibri"/>
              </a:rPr>
              <a:t>MOE(탄성계수): 하중에 얼마나 휘는가(강성) — 처짐 계산, MSR 표기에 사용</a:t>
            </a:r>
          </a:p>
          <a:p>
            <a:pPr algn="l" indent="-182880" marL="182880">
              <a:lnSpc>
                <a:spcPct val="115000"/>
              </a:lnSpc>
              <a:spcAft>
                <a:spcPts val="400"/>
              </a:spcAft>
              <a:buFont typeface="Arial"/>
              <a:buChar char="•"/>
            </a:pPr>
            <a:r>
              <a:rPr sz="1080" b="0">
                <a:solidFill>
                  <a:srgbClr val="2A1D16"/>
                </a:solidFill>
                <a:latin typeface="Calibri"/>
              </a:rPr>
              <a:t>MOR(파괴계수): 부러질 때까지의 최대 응력 — 강도 그 자체</a:t>
            </a:r>
          </a:p>
          <a:p>
            <a:pPr algn="l" indent="-182880" marL="182880">
              <a:lnSpc>
                <a:spcPct val="115000"/>
              </a:lnSpc>
              <a:spcAft>
                <a:spcPts val="400"/>
              </a:spcAft>
              <a:buFont typeface="Arial"/>
              <a:buChar char="•"/>
            </a:pPr>
            <a:r>
              <a:rPr sz="1080" b="0">
                <a:solidFill>
                  <a:srgbClr val="2A1D16"/>
                </a:solidFill>
                <a:latin typeface="Calibri"/>
              </a:rPr>
              <a:t>밀도↑ → 대체로 둘 다 ↑ 이지만 서로 별개의 물성 — MOE 높다고 MOR도 반드시 높은 건 아님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850" b="0" i="0">
                <a:solidFill>
                  <a:srgbClr val="7A6A5A"/>
                </a:solidFill>
                <a:latin typeface="Calibri"/>
              </a:rPr>
              <a:t>목공의 이해 · 상세노트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85855" y="649224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buNone/>
            </a:pPr>
            <a:r>
              <a:rPr sz="850" b="0" i="0">
                <a:solidFill>
                  <a:srgbClr val="7A6A5A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9144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1150" b="1" i="0">
                <a:solidFill>
                  <a:srgbClr val="45601F"/>
                </a:solidFill>
                <a:latin typeface="Calibri"/>
              </a:rPr>
              <a:t>4장  목재 강도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03504"/>
            <a:ext cx="11247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2500" b="1" i="0">
                <a:solidFill>
                  <a:srgbClr val="2A1D16"/>
                </a:solidFill>
                <a:latin typeface="Cambria"/>
              </a:rPr>
              <a:t>강도 영향 요인과 구조 등급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5486400" cy="41147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3657600"/>
              </a:tblGrid>
              <a:tr h="587828">
                <a:tc>
                  <a:txBody>
                    <a:bodyPr wrap="square"/>
                    <a:lstStyle/>
                    <a:p>
                      <a:r>
                        <a:rPr sz="1080" b="1">
                          <a:solidFill>
                            <a:srgbClr val="FFFFFF"/>
                          </a:solidFill>
                          <a:latin typeface="Calibri"/>
                        </a:rPr>
                        <a:t>요인</a:t>
                      </a:r>
                    </a:p>
                  </a:txBody>
                  <a:tcPr marL="73152" marR="73152" marT="27432" marB="27432" anchor="ctr">
                    <a:solidFill>
                      <a:srgbClr val="8D6E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80" b="1">
                          <a:solidFill>
                            <a:srgbClr val="FFFFFF"/>
                          </a:solidFill>
                          <a:latin typeface="Calibri"/>
                        </a:rPr>
                        <a:t>영향</a:t>
                      </a:r>
                    </a:p>
                  </a:txBody>
                  <a:tcPr marL="73152" marR="73152" marT="27432" marB="27432" anchor="ctr">
                    <a:solidFill>
                      <a:srgbClr val="8D6E4B"/>
                    </a:solidFill>
                  </a:tcPr>
                </a:tc>
              </a:tr>
              <a:tr h="587828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2A1D16"/>
                          </a:solidFill>
                          <a:latin typeface="Calibri"/>
                        </a:rPr>
                        <a:t>함수율</a:t>
                      </a:r>
                    </a:p>
                  </a:txBody>
                  <a:tcPr marL="73152" marR="73152" marT="27432" marB="27432" anchor="ctr">
                    <a:solidFill>
                      <a:srgbClr val="F1E4C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A1D16"/>
                          </a:solidFill>
                          <a:latin typeface="Calibri"/>
                        </a:rPr>
                        <a:t>FSP 이하 1%↓당 압축강도 약 4~6%↑</a:t>
                      </a:r>
                    </a:p>
                  </a:txBody>
                  <a:tcPr marL="73152" marR="73152" marT="27432" marB="27432" anchor="ctr">
                    <a:solidFill>
                      <a:srgbClr val="F1E4CC"/>
                    </a:solidFill>
                  </a:tcPr>
                </a:tc>
              </a:tr>
              <a:tr h="587828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2A1D16"/>
                          </a:solidFill>
                          <a:latin typeface="Calibri"/>
                        </a:rPr>
                        <a:t>밀도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A1D16"/>
                          </a:solidFill>
                          <a:latin typeface="Calibri"/>
                        </a:rPr>
                        <a:t>높을수록 강도↑(거듭제곱 비례 경향)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87828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2A1D16"/>
                          </a:solidFill>
                          <a:latin typeface="Calibri"/>
                        </a:rPr>
                        <a:t>옹이·결함</a:t>
                      </a:r>
                    </a:p>
                  </a:txBody>
                  <a:tcPr marL="73152" marR="73152" marT="27432" marB="27432" anchor="ctr">
                    <a:solidFill>
                      <a:srgbClr val="F1E4C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A1D16"/>
                          </a:solidFill>
                          <a:latin typeface="Calibri"/>
                        </a:rPr>
                        <a:t>인장강도 급감, 압축은 영향 적음</a:t>
                      </a:r>
                    </a:p>
                  </a:txBody>
                  <a:tcPr marL="73152" marR="73152" marT="27432" marB="27432" anchor="ctr">
                    <a:solidFill>
                      <a:srgbClr val="F1E4CC"/>
                    </a:solidFill>
                  </a:tcPr>
                </a:tc>
              </a:tr>
              <a:tr h="587828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2A1D16"/>
                          </a:solidFill>
                          <a:latin typeface="Calibri"/>
                        </a:rPr>
                        <a:t>경사결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A1D16"/>
                          </a:solidFill>
                          <a:latin typeface="Calibri"/>
                        </a:rPr>
                        <a:t>1:10 기울기만 되어도 강도 급감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87828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2A1D16"/>
                          </a:solidFill>
                          <a:latin typeface="Calibri"/>
                        </a:rPr>
                        <a:t>하중지속시간</a:t>
                      </a:r>
                    </a:p>
                  </a:txBody>
                  <a:tcPr marL="73152" marR="73152" marT="27432" marB="27432" anchor="ctr">
                    <a:solidFill>
                      <a:srgbClr val="F1E4C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A1D16"/>
                          </a:solidFill>
                          <a:latin typeface="Calibri"/>
                        </a:rPr>
                        <a:t>오래 지속될수록 강도↓(크리프)</a:t>
                      </a:r>
                    </a:p>
                  </a:txBody>
                  <a:tcPr marL="73152" marR="73152" marT="27432" marB="27432" anchor="ctr">
                    <a:solidFill>
                      <a:srgbClr val="F1E4CC"/>
                    </a:solidFill>
                  </a:tcPr>
                </a:tc>
              </a:tr>
              <a:tr h="587828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2A1D16"/>
                          </a:solidFill>
                          <a:latin typeface="Calibri"/>
                        </a:rPr>
                        <a:t>온도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A1D16"/>
                          </a:solidFill>
                          <a:latin typeface="Calibri"/>
                        </a:rPr>
                        <a:t>높을수록 강도↓, 크리프 가속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6217920" y="1371600"/>
            <a:ext cx="5486400" cy="2286000"/>
          </a:xfrm>
          <a:prstGeom prst="roundRect">
            <a:avLst>
              <a:gd name="adj" fmla="val 10000"/>
            </a:avLst>
          </a:prstGeom>
          <a:solidFill>
            <a:srgbClr val="F1E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46520" y="1490472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1250" b="1" i="0">
                <a:solidFill>
                  <a:srgbClr val="45601F"/>
                </a:solidFill>
                <a:latin typeface="Cambria"/>
              </a:rPr>
              <a:t>등급 방식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46520" y="1810512"/>
            <a:ext cx="502920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indent="-182880" marL="182880">
              <a:lnSpc>
                <a:spcPct val="115000"/>
              </a:lnSpc>
              <a:spcAft>
                <a:spcPts val="600"/>
              </a:spcAft>
              <a:buFont typeface="Arial"/>
              <a:buChar char="•"/>
            </a:pPr>
            <a:r>
              <a:rPr sz="1050" b="0">
                <a:solidFill>
                  <a:srgbClr val="2A1D16"/>
                </a:solidFill>
                <a:latin typeface="Calibri"/>
              </a:rPr>
              <a:t>육안등급: 옹이·결기울기·갈라짐을 육안 검사</a:t>
            </a:r>
          </a:p>
          <a:p>
            <a:pPr algn="l" indent="-182880" marL="182880">
              <a:lnSpc>
                <a:spcPct val="115000"/>
              </a:lnSpc>
              <a:spcAft>
                <a:spcPts val="600"/>
              </a:spcAft>
              <a:buFont typeface="Arial"/>
              <a:buChar char="•"/>
            </a:pPr>
            <a:r>
              <a:rPr sz="1050" b="0">
                <a:solidFill>
                  <a:srgbClr val="2A1D16"/>
                </a:solidFill>
                <a:latin typeface="Calibri"/>
              </a:rPr>
              <a:t>기계등급(MSR): 기계로 E(탄성계수) 실측</a:t>
            </a:r>
          </a:p>
          <a:p>
            <a:pPr algn="l" indent="-182880" marL="182880">
              <a:lnSpc>
                <a:spcPct val="115000"/>
              </a:lnSpc>
              <a:spcAft>
                <a:spcPts val="600"/>
              </a:spcAft>
              <a:buFont typeface="Arial"/>
              <a:buChar char="•"/>
            </a:pPr>
            <a:r>
              <a:rPr sz="1050" b="0">
                <a:solidFill>
                  <a:srgbClr val="2A1D16"/>
                </a:solidFill>
                <a:latin typeface="Calibri"/>
              </a:rPr>
              <a:t>표기 예: "1650Fb-1.5E" → 허용휨응력 1650psi, E=1.5×10⁶psi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3840480"/>
            <a:ext cx="5486400" cy="1645920"/>
          </a:xfrm>
          <a:prstGeom prst="roundRect">
            <a:avLst>
              <a:gd name="adj" fmla="val 10000"/>
            </a:avLst>
          </a:prstGeom>
          <a:solidFill>
            <a:srgbClr val="F1E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3959352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1200" b="1" i="0">
                <a:solidFill>
                  <a:srgbClr val="8D6E4B"/>
                </a:solidFill>
                <a:latin typeface="Cambria"/>
              </a:rPr>
              <a:t>등급 체계(북미 구조재 기준 참고)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46520" y="4315968"/>
            <a:ext cx="1005840" cy="502920"/>
          </a:xfrm>
          <a:prstGeom prst="roundRect">
            <a:avLst>
              <a:gd name="adj" fmla="val 20000"/>
            </a:avLst>
          </a:prstGeom>
          <a:solidFill>
            <a:srgbClr val="8D6E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4315968"/>
            <a:ext cx="10058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buNone/>
            </a:pPr>
            <a:r>
              <a:rPr sz="1250" b="1" i="0">
                <a:solidFill>
                  <a:srgbClr val="FFFFFF"/>
                </a:solidFill>
                <a:latin typeface="Calibri"/>
              </a:rPr>
              <a:t>SS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35240" y="4315968"/>
            <a:ext cx="1005840" cy="502920"/>
          </a:xfrm>
          <a:prstGeom prst="roundRect">
            <a:avLst>
              <a:gd name="adj" fmla="val 20000"/>
            </a:avLst>
          </a:prstGeom>
          <a:solidFill>
            <a:srgbClr val="8D6E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35240" y="4315968"/>
            <a:ext cx="10058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buNone/>
            </a:pPr>
            <a:r>
              <a:rPr sz="1250" b="1" i="0">
                <a:solidFill>
                  <a:srgbClr val="FFFFFF"/>
                </a:solidFill>
                <a:latin typeface="Calibri"/>
              </a:rPr>
              <a:t>No.1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23960" y="4315968"/>
            <a:ext cx="1005840" cy="502920"/>
          </a:xfrm>
          <a:prstGeom prst="roundRect">
            <a:avLst>
              <a:gd name="adj" fmla="val 20000"/>
            </a:avLst>
          </a:prstGeom>
          <a:solidFill>
            <a:srgbClr val="8D6E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823960" y="4315968"/>
            <a:ext cx="10058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buNone/>
            </a:pPr>
            <a:r>
              <a:rPr sz="1250" b="1" i="0">
                <a:solidFill>
                  <a:srgbClr val="FFFFFF"/>
                </a:solidFill>
                <a:latin typeface="Calibri"/>
              </a:rPr>
              <a:t>No.2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012680" y="4315968"/>
            <a:ext cx="1005840" cy="502920"/>
          </a:xfrm>
          <a:prstGeom prst="roundRect">
            <a:avLst>
              <a:gd name="adj" fmla="val 20000"/>
            </a:avLst>
          </a:prstGeom>
          <a:solidFill>
            <a:srgbClr val="8D6E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12680" y="4315968"/>
            <a:ext cx="10058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buNone/>
            </a:pPr>
            <a:r>
              <a:rPr sz="1250" b="1" i="0">
                <a:solidFill>
                  <a:srgbClr val="FFFFFF"/>
                </a:solidFill>
                <a:latin typeface="Calibri"/>
              </a:rPr>
              <a:t>No.3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493776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1000" b="0" i="1">
                <a:solidFill>
                  <a:srgbClr val="7A6A5A"/>
                </a:solidFill>
                <a:latin typeface="Calibri"/>
              </a:rPr>
              <a:t>등급↑ = 결함 허용치 엄격 → 큰 하중 보·기둥에 사용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850" b="0" i="0">
                <a:solidFill>
                  <a:srgbClr val="7A6A5A"/>
                </a:solidFill>
                <a:latin typeface="Calibri"/>
              </a:rPr>
              <a:t>목공의 이해 · 상세노트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85855" y="649224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buNone/>
            </a:pPr>
            <a:r>
              <a:rPr sz="850" b="0" i="0">
                <a:solidFill>
                  <a:srgbClr val="7A6A5A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9144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1150" b="1" i="0">
                <a:solidFill>
                  <a:srgbClr val="45601F"/>
                </a:solidFill>
                <a:latin typeface="Calibri"/>
              </a:rPr>
              <a:t>4장  목재 강도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03504"/>
            <a:ext cx="11247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2500" b="1" i="0">
                <a:solidFill>
                  <a:srgbClr val="2A1D16"/>
                </a:solidFill>
                <a:latin typeface="Cambria"/>
              </a:rPr>
              <a:t>그림으로 보기 — 압축·인장·휨 힘의 방향</a:t>
            </a:r>
          </a:p>
        </p:txBody>
      </p:sp>
      <p:pic>
        <p:nvPicPr>
          <p:cNvPr id="4" name="Picture 3" descr="04_강도종류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287" y="1492700"/>
            <a:ext cx="11247120" cy="487843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850" b="0" i="0">
                <a:solidFill>
                  <a:srgbClr val="7A6A5A"/>
                </a:solidFill>
                <a:latin typeface="Calibri"/>
              </a:rPr>
              <a:t>목공의 이해 · 상세노트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9224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buNone/>
            </a:pPr>
            <a:r>
              <a:rPr sz="850" b="0" i="0">
                <a:solidFill>
                  <a:srgbClr val="7A6A5A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9144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1150" b="1" i="0">
                <a:solidFill>
                  <a:srgbClr val="45601F"/>
                </a:solidFill>
                <a:latin typeface="Calibri"/>
              </a:rPr>
              <a:t>5장  목재의 다른 특성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03504"/>
            <a:ext cx="11247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2500" b="1" i="0">
                <a:solidFill>
                  <a:srgbClr val="2A1D16"/>
                </a:solidFill>
                <a:latin typeface="Cambria"/>
              </a:rPr>
              <a:t>열·불·빛·전기 — 그 밖의 특성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417320"/>
          <a:ext cx="5486399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85391"/>
                <a:gridCol w="3101008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재료</a:t>
                      </a:r>
                    </a:p>
                  </a:txBody>
                  <a:tcPr marL="73152" marR="73152" marT="27432" marB="27432" anchor="ctr">
                    <a:solidFill>
                      <a:srgbClr val="8D6E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열전도율(W/m·K, 대략)</a:t>
                      </a:r>
                    </a:p>
                  </a:txBody>
                  <a:tcPr marL="73152" marR="73152" marT="27432" marB="27432" anchor="ctr">
                    <a:solidFill>
                      <a:srgbClr val="8D6E4B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2A1D16"/>
                          </a:solidFill>
                          <a:latin typeface="Calibri"/>
                        </a:rPr>
                        <a:t>목재</a:t>
                      </a:r>
                    </a:p>
                  </a:txBody>
                  <a:tcPr marL="73152" marR="73152" marT="27432" marB="27432" anchor="ctr">
                    <a:solidFill>
                      <a:srgbClr val="F1E4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A1D16"/>
                          </a:solidFill>
                          <a:latin typeface="Calibri"/>
                        </a:rPr>
                        <a:t>0.1 ~ 0.2</a:t>
                      </a:r>
                    </a:p>
                  </a:txBody>
                  <a:tcPr marL="73152" marR="73152" marT="27432" marB="27432" anchor="ctr">
                    <a:solidFill>
                      <a:srgbClr val="F1E4CC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2A1D16"/>
                          </a:solidFill>
                          <a:latin typeface="Calibri"/>
                        </a:rPr>
                        <a:t>콘크리트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A1D16"/>
                          </a:solidFill>
                          <a:latin typeface="Calibri"/>
                        </a:rPr>
                        <a:t>1.4 ~ 1.7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2A1D16"/>
                          </a:solidFill>
                          <a:latin typeface="Calibri"/>
                        </a:rPr>
                        <a:t>강철</a:t>
                      </a:r>
                    </a:p>
                  </a:txBody>
                  <a:tcPr marL="73152" marR="73152" marT="27432" marB="27432" anchor="ctr">
                    <a:solidFill>
                      <a:srgbClr val="F1E4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A1D16"/>
                          </a:solidFill>
                          <a:latin typeface="Calibri"/>
                        </a:rPr>
                        <a:t>45 ~ 50</a:t>
                      </a:r>
                    </a:p>
                  </a:txBody>
                  <a:tcPr marL="73152" marR="73152" marT="27432" marB="27432" anchor="ctr">
                    <a:solidFill>
                      <a:srgbClr val="F1E4CC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3063240"/>
            <a:ext cx="5486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1000" b="0" i="1">
                <a:solidFill>
                  <a:srgbClr val="8D6E4B"/>
                </a:solidFill>
                <a:latin typeface="Calibri"/>
              </a:rPr>
              <a:t>밀도·함수율이 높을수록 열전도율도 증가(공극 감소)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17320"/>
            <a:ext cx="5486400" cy="2103120"/>
          </a:xfrm>
          <a:prstGeom prst="roundRect">
            <a:avLst>
              <a:gd name="adj" fmla="val 10000"/>
            </a:avLst>
          </a:prstGeom>
          <a:solidFill>
            <a:srgbClr val="F1E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536192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1250" b="1" i="0">
                <a:solidFill>
                  <a:srgbClr val="45601F"/>
                </a:solidFill>
                <a:latin typeface="Cambria"/>
              </a:rPr>
              <a:t>연소와 탄화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46520" y="1856231"/>
            <a:ext cx="502920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indent="-182880" marL="182880">
              <a:lnSpc>
                <a:spcPct val="115000"/>
              </a:lnSpc>
              <a:spcAft>
                <a:spcPts val="500"/>
              </a:spcAft>
              <a:buFont typeface="Arial"/>
              <a:buChar char="•"/>
            </a:pPr>
            <a:r>
              <a:rPr sz="1050" b="0">
                <a:solidFill>
                  <a:srgbClr val="2A1D16"/>
                </a:solidFill>
                <a:latin typeface="Calibri"/>
              </a:rPr>
              <a:t>착화점(발화점) 대략 250~300°C</a:t>
            </a:r>
          </a:p>
          <a:p>
            <a:pPr algn="l" indent="-182880" marL="182880">
              <a:lnSpc>
                <a:spcPct val="115000"/>
              </a:lnSpc>
              <a:spcAft>
                <a:spcPts val="500"/>
              </a:spcAft>
              <a:buFont typeface="Arial"/>
              <a:buChar char="•"/>
            </a:pPr>
            <a:r>
              <a:rPr sz="1050" b="0">
                <a:solidFill>
                  <a:srgbClr val="2A1D16"/>
                </a:solidFill>
                <a:latin typeface="Calibri"/>
              </a:rPr>
              <a:t>탄화속도 대략 0.6~0.8mm/분</a:t>
            </a:r>
          </a:p>
          <a:p>
            <a:pPr algn="l" indent="-182880" marL="182880">
              <a:lnSpc>
                <a:spcPct val="115000"/>
              </a:lnSpc>
              <a:spcAft>
                <a:spcPts val="500"/>
              </a:spcAft>
              <a:buFont typeface="Arial"/>
              <a:buChar char="•"/>
            </a:pPr>
            <a:r>
              <a:rPr sz="1050" b="0">
                <a:solidFill>
                  <a:srgbClr val="2A1D16"/>
                </a:solidFill>
                <a:latin typeface="Calibri"/>
              </a:rPr>
              <a:t>탄화층이 내부를 일정시간 보호(대형목구조 내화설계 근거)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40480"/>
            <a:ext cx="11247120" cy="2377440"/>
          </a:xfrm>
          <a:prstGeom prst="roundRect">
            <a:avLst>
              <a:gd name="adj" fmla="val 10000"/>
            </a:avLst>
          </a:prstGeom>
          <a:solidFill>
            <a:srgbClr val="F1E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3959352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1250" b="1" i="0">
                <a:solidFill>
                  <a:srgbClr val="8D6E4B"/>
                </a:solidFill>
                <a:latin typeface="Cambria"/>
              </a:rPr>
              <a:t>형광성 · 전기절연성 · 심리적 특성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279392"/>
            <a:ext cx="1078992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indent="-182880" marL="182880">
              <a:lnSpc>
                <a:spcPct val="115000"/>
              </a:lnSpc>
              <a:spcAft>
                <a:spcPts val="600"/>
              </a:spcAft>
              <a:buFont typeface="Arial"/>
              <a:buChar char="•"/>
            </a:pPr>
            <a:r>
              <a:rPr sz="1080" b="0">
                <a:solidFill>
                  <a:srgbClr val="2A1D16"/>
                </a:solidFill>
                <a:latin typeface="Calibri"/>
              </a:rPr>
              <a:t>형광성: 일부 수종(아까시나무 심재 등)이 UV에 형광 반응 — 수종 감별 보조</a:t>
            </a:r>
          </a:p>
          <a:p>
            <a:pPr algn="l" indent="-182880" marL="182880">
              <a:lnSpc>
                <a:spcPct val="115000"/>
              </a:lnSpc>
              <a:spcAft>
                <a:spcPts val="600"/>
              </a:spcAft>
              <a:buFont typeface="Arial"/>
              <a:buChar char="•"/>
            </a:pPr>
            <a:r>
              <a:rPr sz="1080" b="0">
                <a:solidFill>
                  <a:srgbClr val="2A1D16"/>
                </a:solidFill>
                <a:latin typeface="Calibri"/>
              </a:rPr>
              <a:t>전기 절연성: 건조목은 절연체에 가까우나 함수율↑ → 전기저항 급격히 ↓ (전기저항식 함수율계의 원리)</a:t>
            </a:r>
          </a:p>
          <a:p>
            <a:pPr algn="l" indent="-182880" marL="182880">
              <a:lnSpc>
                <a:spcPct val="115000"/>
              </a:lnSpc>
              <a:spcAft>
                <a:spcPts val="600"/>
              </a:spcAft>
              <a:buFont typeface="Arial"/>
              <a:buChar char="•"/>
            </a:pPr>
            <a:r>
              <a:rPr sz="1080" b="0">
                <a:solidFill>
                  <a:srgbClr val="2A1D16"/>
                </a:solidFill>
                <a:latin typeface="Calibri"/>
              </a:rPr>
              <a:t>심리적 특성: 나뭇결·향이 안정감을 줌 — 바이오필리아 디자인에서 활용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850" b="0" i="0">
                <a:solidFill>
                  <a:srgbClr val="7A6A5A"/>
                </a:solidFill>
                <a:latin typeface="Calibri"/>
              </a:rPr>
              <a:t>목공의 이해 · 상세노트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85855" y="649224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buNone/>
            </a:pPr>
            <a:r>
              <a:rPr sz="850" b="0" i="0">
                <a:solidFill>
                  <a:srgbClr val="7A6A5A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9144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1150" b="1" i="0">
                <a:solidFill>
                  <a:srgbClr val="45601F"/>
                </a:solidFill>
                <a:latin typeface="Calibri"/>
              </a:rPr>
              <a:t>5장  목재의 다른 특성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03504"/>
            <a:ext cx="11247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2500" b="1" i="0">
                <a:solidFill>
                  <a:srgbClr val="2A1D16"/>
                </a:solidFill>
                <a:latin typeface="Cambria"/>
              </a:rPr>
              <a:t>그림으로 보기 — 열·불·빛·전기</a:t>
            </a:r>
          </a:p>
        </p:txBody>
      </p:sp>
      <p:pic>
        <p:nvPicPr>
          <p:cNvPr id="4" name="Picture 3" descr="05_다른특성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287" y="1492700"/>
            <a:ext cx="11247120" cy="487843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850" b="0" i="0">
                <a:solidFill>
                  <a:srgbClr val="7A6A5A"/>
                </a:solidFill>
                <a:latin typeface="Calibri"/>
              </a:rPr>
              <a:t>목공의 이해 · 상세노트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9224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buNone/>
            </a:pPr>
            <a:r>
              <a:rPr sz="850" b="0" i="0">
                <a:solidFill>
                  <a:srgbClr val="7A6A5A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9144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1150" b="1" i="0">
                <a:solidFill>
                  <a:srgbClr val="45601F"/>
                </a:solidFill>
                <a:latin typeface="Calibri"/>
              </a:rPr>
              <a:t>6장  목재와 수분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03504"/>
            <a:ext cx="11247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2500" b="1" i="0">
                <a:solidFill>
                  <a:srgbClr val="2A1D16"/>
                </a:solidFill>
                <a:latin typeface="Cambria"/>
              </a:rPr>
              <a:t>함수율의 정의와 FSP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11247120" cy="914400"/>
          </a:xfrm>
          <a:prstGeom prst="roundRect">
            <a:avLst>
              <a:gd name="adj" fmla="val 10000"/>
            </a:avLst>
          </a:prstGeom>
          <a:solidFill>
            <a:srgbClr val="F1E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490472"/>
            <a:ext cx="10789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  <a:buNone/>
            </a:pPr>
            <a:r>
              <a:rPr sz="1150" b="1" i="0">
                <a:solidFill>
                  <a:srgbClr val="2A1D16"/>
                </a:solidFill>
                <a:latin typeface="Calibri"/>
              </a:rPr>
              <a:t>함수율(%) = (습윤중량 − 전건중량) ÷ </a:t>
            </a:r>
            <a:r>
              <a:rPr sz="1150" b="1" i="0">
                <a:solidFill>
                  <a:srgbClr val="45601F"/>
                </a:solidFill>
                <a:latin typeface="Calibri"/>
              </a:rPr>
              <a:t>전건중량</a:t>
            </a:r>
            <a:r>
              <a:rPr sz="1150" b="1" i="0">
                <a:solidFill>
                  <a:srgbClr val="2A1D16"/>
                </a:solidFill>
                <a:latin typeface="Calibri"/>
              </a:rPr>
              <a:t> × 100</a:t>
            </a:r>
          </a:p>
          <a:p>
            <a:pPr algn="l">
              <a:spcAft>
                <a:spcPts val="300"/>
              </a:spcAft>
              <a:buNone/>
            </a:pPr>
            <a:r>
              <a:rPr sz="1150" b="0" i="0">
                <a:solidFill>
                  <a:srgbClr val="2A1D16"/>
                </a:solidFill>
                <a:latin typeface="Calibri"/>
              </a:rPr>
              <a:t>분모가 전건중량이라 생재 함수율은 100%를 훌쩍 넘기도 함(침엽수 변재 200%↑ 사례도)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2514600"/>
          <a:ext cx="5486398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0788"/>
                <a:gridCol w="2037805"/>
                <a:gridCol w="2037805"/>
              </a:tblGrid>
              <a:tr h="50292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구분</a:t>
                      </a:r>
                    </a:p>
                  </a:txBody>
                  <a:tcPr marL="73152" marR="73152" marT="27432" marB="27432" anchor="ctr">
                    <a:solidFill>
                      <a:srgbClr val="8D6E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자유수</a:t>
                      </a:r>
                    </a:p>
                  </a:txBody>
                  <a:tcPr marL="73152" marR="73152" marT="27432" marB="27432" anchor="ctr">
                    <a:solidFill>
                      <a:srgbClr val="8D6E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결합수</a:t>
                      </a:r>
                    </a:p>
                  </a:txBody>
                  <a:tcPr marL="73152" marR="73152" marT="27432" marB="27432" anchor="ctr">
                    <a:solidFill>
                      <a:srgbClr val="8D6E4B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980" b="1">
                          <a:solidFill>
                            <a:srgbClr val="2A1D16"/>
                          </a:solidFill>
                          <a:latin typeface="Calibri"/>
                        </a:rPr>
                        <a:t>위치</a:t>
                      </a:r>
                    </a:p>
                  </a:txBody>
                  <a:tcPr marL="73152" marR="73152" marT="27432" marB="27432" anchor="ctr">
                    <a:solidFill>
                      <a:srgbClr val="F1E4C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80" b="0">
                          <a:solidFill>
                            <a:srgbClr val="2A1D16"/>
                          </a:solidFill>
                          <a:latin typeface="Calibri"/>
                        </a:rPr>
                        <a:t>세포 내강(빈 공간)</a:t>
                      </a:r>
                    </a:p>
                  </a:txBody>
                  <a:tcPr marL="73152" marR="73152" marT="27432" marB="27432" anchor="ctr">
                    <a:solidFill>
                      <a:srgbClr val="F1E4C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80" b="0">
                          <a:solidFill>
                            <a:srgbClr val="2A1D16"/>
                          </a:solidFill>
                          <a:latin typeface="Calibri"/>
                        </a:rPr>
                        <a:t>세포벽 내부(수소결합)</a:t>
                      </a:r>
                    </a:p>
                  </a:txBody>
                  <a:tcPr marL="73152" marR="73152" marT="27432" marB="27432" anchor="ctr">
                    <a:solidFill>
                      <a:srgbClr val="F1E4CC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980" b="1">
                          <a:solidFill>
                            <a:srgbClr val="2A1D16"/>
                          </a:solidFill>
                          <a:latin typeface="Calibri"/>
                        </a:rPr>
                        <a:t>특징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80" b="0">
                          <a:solidFill>
                            <a:srgbClr val="2A1D16"/>
                          </a:solidFill>
                          <a:latin typeface="Calibri"/>
                        </a:rPr>
                        <a:t>모세관현상, 빠지기 쉬움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80" b="0">
                          <a:solidFill>
                            <a:srgbClr val="2A1D16"/>
                          </a:solidFill>
                          <a:latin typeface="Calibri"/>
                        </a:rPr>
                        <a:t>빠지기 어려움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980" b="1">
                          <a:solidFill>
                            <a:srgbClr val="2A1D16"/>
                          </a:solidFill>
                          <a:latin typeface="Calibri"/>
                        </a:rPr>
                        <a:t>치수·강도 영향</a:t>
                      </a:r>
                    </a:p>
                  </a:txBody>
                  <a:tcPr marL="73152" marR="73152" marT="27432" marB="27432" anchor="ctr">
                    <a:solidFill>
                      <a:srgbClr val="F1E4C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80" b="0">
                          <a:solidFill>
                            <a:srgbClr val="2A1D16"/>
                          </a:solidFill>
                          <a:latin typeface="Calibri"/>
                        </a:rPr>
                        <a:t>거의 없음</a:t>
                      </a:r>
                    </a:p>
                  </a:txBody>
                  <a:tcPr marL="73152" marR="73152" marT="27432" marB="27432" anchor="ctr">
                    <a:solidFill>
                      <a:srgbClr val="F1E4C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80" b="0">
                          <a:solidFill>
                            <a:srgbClr val="2A1D16"/>
                          </a:solidFill>
                          <a:latin typeface="Calibri"/>
                        </a:rPr>
                        <a:t>수축의 원인, 강도 변화</a:t>
                      </a:r>
                    </a:p>
                  </a:txBody>
                  <a:tcPr marL="73152" marR="73152" marT="27432" marB="27432" anchor="ctr">
                    <a:solidFill>
                      <a:srgbClr val="F1E4CC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217920" y="2514600"/>
            <a:ext cx="5486400" cy="3017520"/>
          </a:xfrm>
          <a:prstGeom prst="roundRect">
            <a:avLst>
              <a:gd name="adj" fmla="val 10000"/>
            </a:avLst>
          </a:prstGeom>
          <a:solidFill>
            <a:srgbClr val="F1E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2633472"/>
            <a:ext cx="5029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1300" b="1" i="0">
                <a:solidFill>
                  <a:srgbClr val="45601F"/>
                </a:solidFill>
                <a:latin typeface="Cambria"/>
              </a:rPr>
              <a:t>섬유포화점(FSP)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2971800"/>
            <a:ext cx="502920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indent="-182880" marL="182880">
              <a:lnSpc>
                <a:spcPct val="115000"/>
              </a:lnSpc>
              <a:spcAft>
                <a:spcPts val="700"/>
              </a:spcAft>
              <a:buFont typeface="Arial"/>
              <a:buChar char="•"/>
            </a:pPr>
            <a:r>
              <a:rPr sz="1100" b="0">
                <a:solidFill>
                  <a:srgbClr val="2A1D16"/>
                </a:solidFill>
                <a:latin typeface="Calibri"/>
              </a:rPr>
              <a:t>자유수가 모두 빠지고 결합수만 남은 상태 — 대표적으로 약 28~30%(수종별 22~35%)</a:t>
            </a:r>
          </a:p>
          <a:p>
            <a:pPr algn="l" indent="-182880" marL="182880">
              <a:lnSpc>
                <a:spcPct val="115000"/>
              </a:lnSpc>
              <a:spcAft>
                <a:spcPts val="700"/>
              </a:spcAft>
              <a:buFont typeface="Arial"/>
              <a:buChar char="•"/>
            </a:pPr>
            <a:r>
              <a:rPr sz="1100" b="0">
                <a:solidFill>
                  <a:srgbClr val="2A1D16"/>
                </a:solidFill>
                <a:latin typeface="Calibri"/>
              </a:rPr>
              <a:t>FSP 이상: 함수율 변해도 치수·강도 불변(자유수만 증감)</a:t>
            </a:r>
          </a:p>
          <a:p>
            <a:pPr algn="l" indent="-182880" marL="182880">
              <a:lnSpc>
                <a:spcPct val="115000"/>
              </a:lnSpc>
              <a:spcAft>
                <a:spcPts val="700"/>
              </a:spcAft>
              <a:buFont typeface="Arial"/>
              <a:buChar char="•"/>
            </a:pPr>
            <a:r>
              <a:rPr sz="1100" b="0">
                <a:solidFill>
                  <a:srgbClr val="2A1D16"/>
                </a:solidFill>
                <a:latin typeface="Calibri"/>
              </a:rPr>
              <a:t>FSP 이하: 함수율 변하면 치수 변화 + 강도 변화(↓함수율 → ↑강도)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754880"/>
            <a:ext cx="1124712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1100" b="0" i="1">
                <a:solidFill>
                  <a:srgbClr val="7A6A5A"/>
                </a:solidFill>
                <a:latin typeface="Calibri"/>
              </a:rPr>
              <a:t>측정법: ① 전건법(고온 건조 전후 무게 비교, 가장 정확) ② 전기저항식 함수율계(저항 측정, 5~30% 구간 신뢰도 높음) ③ 정전용량식 함수율계(비접촉, 표층 측정)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850" b="0" i="0">
                <a:solidFill>
                  <a:srgbClr val="7A6A5A"/>
                </a:solidFill>
                <a:latin typeface="Calibri"/>
              </a:rPr>
              <a:t>목공의 이해 · 상세노트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85855" y="649224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buNone/>
            </a:pPr>
            <a:r>
              <a:rPr sz="850" b="0" i="0">
                <a:solidFill>
                  <a:srgbClr val="7A6A5A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9144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1150" b="1" i="0">
                <a:solidFill>
                  <a:srgbClr val="45601F"/>
                </a:solidFill>
                <a:latin typeface="Calibri"/>
              </a:rPr>
              <a:t>6장  목재와 수분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03504"/>
            <a:ext cx="11247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2500" b="1" i="0">
                <a:solidFill>
                  <a:srgbClr val="2A1D16"/>
                </a:solidFill>
                <a:latin typeface="Cambria"/>
              </a:rPr>
              <a:t>평형함수율(EMC)과 건조 단계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5486400" cy="2743200"/>
          </a:xfrm>
          <a:prstGeom prst="roundRect">
            <a:avLst>
              <a:gd name="adj" fmla="val 10000"/>
            </a:avLst>
          </a:prstGeom>
          <a:solidFill>
            <a:srgbClr val="F1E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490472"/>
            <a:ext cx="5029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1300" b="1" i="0">
                <a:solidFill>
                  <a:srgbClr val="45601F"/>
                </a:solidFill>
                <a:latin typeface="Cambria"/>
              </a:rPr>
              <a:t>평형함수율(EMC)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828800"/>
            <a:ext cx="50292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indent="-182880" marL="182880">
              <a:lnSpc>
                <a:spcPct val="115000"/>
              </a:lnSpc>
              <a:spcAft>
                <a:spcPts val="400"/>
              </a:spcAft>
              <a:buFont typeface="Arial"/>
              <a:buChar char="•"/>
            </a:pPr>
            <a:r>
              <a:rPr sz="1100" b="0">
                <a:solidFill>
                  <a:srgbClr val="2A1D16"/>
                </a:solidFill>
                <a:latin typeface="Calibri"/>
              </a:rPr>
              <a:t>일정 온습도에 오래 두면 도달하는 평형 함수율. 상대습도·온도로 결정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2834640"/>
          <a:ext cx="5029199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94892"/>
                <a:gridCol w="1934307"/>
              </a:tblGrid>
              <a:tr h="29718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계절·환경</a:t>
                      </a:r>
                    </a:p>
                  </a:txBody>
                  <a:tcPr marL="73152" marR="73152" marT="27432" marB="27432" anchor="ctr">
                    <a:solidFill>
                      <a:srgbClr val="8D6E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EMC(대략)</a:t>
                      </a:r>
                    </a:p>
                  </a:txBody>
                  <a:tcPr marL="73152" marR="73152" marT="27432" marB="27432" anchor="ctr">
                    <a:solidFill>
                      <a:srgbClr val="8D6E4B"/>
                    </a:solidFill>
                  </a:tcPr>
                </a:tc>
              </a:tr>
              <a:tr h="297180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2A1D16"/>
                          </a:solidFill>
                          <a:latin typeface="Calibri"/>
                        </a:rPr>
                        <a:t>여름(고온다습)</a:t>
                      </a:r>
                    </a:p>
                  </a:txBody>
                  <a:tcPr marL="73152" marR="73152" marT="27432" marB="27432" anchor="ctr">
                    <a:solidFill>
                      <a:srgbClr val="F1E4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2A1D16"/>
                          </a:solidFill>
                          <a:latin typeface="Calibri"/>
                        </a:rPr>
                        <a:t>16~18%</a:t>
                      </a:r>
                    </a:p>
                  </a:txBody>
                  <a:tcPr marL="73152" marR="73152" marT="27432" marB="27432" anchor="ctr">
                    <a:solidFill>
                      <a:srgbClr val="F1E4CC"/>
                    </a:solidFill>
                  </a:tcPr>
                </a:tc>
              </a:tr>
              <a:tr h="297180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2A1D16"/>
                          </a:solidFill>
                          <a:latin typeface="Calibri"/>
                        </a:rPr>
                        <a:t>겨울(저온건조,난방)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2A1D16"/>
                          </a:solidFill>
                          <a:latin typeface="Calibri"/>
                        </a:rPr>
                        <a:t>8~10%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297180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2A1D16"/>
                          </a:solidFill>
                          <a:latin typeface="Calibri"/>
                        </a:rPr>
                        <a:t>실내(냉난방 상시)</a:t>
                      </a:r>
                    </a:p>
                  </a:txBody>
                  <a:tcPr marL="73152" marR="73152" marT="27432" marB="27432" anchor="ctr">
                    <a:solidFill>
                      <a:srgbClr val="F1E4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2A1D16"/>
                          </a:solidFill>
                          <a:latin typeface="Calibri"/>
                        </a:rPr>
                        <a:t>10~12%</a:t>
                      </a:r>
                    </a:p>
                  </a:txBody>
                  <a:tcPr marL="73152" marR="73152" marT="27432" marB="27432" anchor="ctr">
                    <a:solidFill>
                      <a:srgbClr val="F1E4C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217920" y="1371600"/>
          <a:ext cx="5486398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2810"/>
                <a:gridCol w="1631091"/>
                <a:gridCol w="2372497"/>
              </a:tblGrid>
              <a:tr h="52578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구분</a:t>
                      </a:r>
                    </a:p>
                  </a:txBody>
                  <a:tcPr marL="73152" marR="73152" marT="27432" marB="27432" anchor="ctr">
                    <a:solidFill>
                      <a:srgbClr val="8D6E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함수율(대략)</a:t>
                      </a:r>
                    </a:p>
                  </a:txBody>
                  <a:tcPr marL="73152" marR="73152" marT="27432" marB="27432" anchor="ctr">
                    <a:solidFill>
                      <a:srgbClr val="8D6E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설명</a:t>
                      </a:r>
                    </a:p>
                  </a:txBody>
                  <a:tcPr marL="73152" marR="73152" marT="27432" marB="27432" anchor="ctr">
                    <a:solidFill>
                      <a:srgbClr val="8D6E4B"/>
                    </a:solidFill>
                  </a:tcPr>
                </a:tc>
              </a:tr>
              <a:tr h="525780">
                <a:tc>
                  <a:txBody>
                    <a:bodyPr wrap="square"/>
                    <a:lstStyle/>
                    <a:p>
                      <a:r>
                        <a:rPr sz="980" b="1">
                          <a:solidFill>
                            <a:srgbClr val="2A1D16"/>
                          </a:solidFill>
                          <a:latin typeface="Calibri"/>
                        </a:rPr>
                        <a:t>생재</a:t>
                      </a:r>
                    </a:p>
                  </a:txBody>
                  <a:tcPr marL="73152" marR="73152" marT="27432" marB="27432" anchor="ctr">
                    <a:solidFill>
                      <a:srgbClr val="F1E4C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80" b="0">
                          <a:solidFill>
                            <a:srgbClr val="2A1D16"/>
                          </a:solidFill>
                          <a:latin typeface="Calibri"/>
                        </a:rPr>
                        <a:t>FSP 이상(100%↑)</a:t>
                      </a:r>
                    </a:p>
                  </a:txBody>
                  <a:tcPr marL="73152" marR="73152" marT="27432" marB="27432" anchor="ctr">
                    <a:solidFill>
                      <a:srgbClr val="F1E4C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80" b="0">
                          <a:solidFill>
                            <a:srgbClr val="2A1D16"/>
                          </a:solidFill>
                          <a:latin typeface="Calibri"/>
                        </a:rPr>
                        <a:t>벌목 직후</a:t>
                      </a:r>
                    </a:p>
                  </a:txBody>
                  <a:tcPr marL="73152" marR="73152" marT="27432" marB="27432" anchor="ctr">
                    <a:solidFill>
                      <a:srgbClr val="F1E4CC"/>
                    </a:solidFill>
                  </a:tcPr>
                </a:tc>
              </a:tr>
              <a:tr h="525780">
                <a:tc>
                  <a:txBody>
                    <a:bodyPr wrap="square"/>
                    <a:lstStyle/>
                    <a:p>
                      <a:r>
                        <a:rPr sz="980" b="1">
                          <a:solidFill>
                            <a:srgbClr val="2A1D16"/>
                          </a:solidFill>
                          <a:latin typeface="Calibri"/>
                        </a:rPr>
                        <a:t>기건재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80" b="0">
                          <a:solidFill>
                            <a:srgbClr val="2A1D16"/>
                          </a:solidFill>
                          <a:latin typeface="Calibri"/>
                        </a:rPr>
                        <a:t>12~18%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80" b="0">
                          <a:solidFill>
                            <a:srgbClr val="2A1D16"/>
                          </a:solidFill>
                          <a:latin typeface="Calibri"/>
                        </a:rPr>
                        <a:t>자연 대기 건조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 wrap="square"/>
                    <a:lstStyle/>
                    <a:p>
                      <a:r>
                        <a:rPr sz="980" b="1">
                          <a:solidFill>
                            <a:srgbClr val="2A1D16"/>
                          </a:solidFill>
                          <a:latin typeface="Calibri"/>
                        </a:rPr>
                        <a:t>인공건조재</a:t>
                      </a:r>
                    </a:p>
                  </a:txBody>
                  <a:tcPr marL="73152" marR="73152" marT="27432" marB="27432" anchor="ctr">
                    <a:solidFill>
                      <a:srgbClr val="F1E4C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80" b="0">
                          <a:solidFill>
                            <a:srgbClr val="2A1D16"/>
                          </a:solidFill>
                          <a:latin typeface="Calibri"/>
                        </a:rPr>
                        <a:t>6~12%</a:t>
                      </a:r>
                    </a:p>
                  </a:txBody>
                  <a:tcPr marL="73152" marR="73152" marT="27432" marB="27432" anchor="ctr">
                    <a:solidFill>
                      <a:srgbClr val="F1E4C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80" b="0">
                          <a:solidFill>
                            <a:srgbClr val="2A1D16"/>
                          </a:solidFill>
                          <a:latin typeface="Calibri"/>
                        </a:rPr>
                        <a:t>건조실 강제 건조</a:t>
                      </a:r>
                    </a:p>
                  </a:txBody>
                  <a:tcPr marL="73152" marR="73152" marT="27432" marB="27432" anchor="ctr">
                    <a:solidFill>
                      <a:srgbClr val="F1E4CC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6217920" y="3749039"/>
            <a:ext cx="5486400" cy="2697480"/>
          </a:xfrm>
          <a:prstGeom prst="roundRect">
            <a:avLst>
              <a:gd name="adj" fmla="val 10000"/>
            </a:avLst>
          </a:prstGeom>
          <a:solidFill>
            <a:srgbClr val="F1E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3867912"/>
            <a:ext cx="5029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1250" b="1" i="0">
                <a:solidFill>
                  <a:srgbClr val="8D6E4B"/>
                </a:solidFill>
                <a:latin typeface="Cambria"/>
              </a:rPr>
              <a:t>실무 시사점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4206240"/>
            <a:ext cx="5029200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indent="-182880" marL="182880">
              <a:lnSpc>
                <a:spcPct val="115000"/>
              </a:lnSpc>
              <a:spcAft>
                <a:spcPts val="600"/>
              </a:spcAft>
              <a:buFont typeface="Arial"/>
              <a:buChar char="•"/>
            </a:pPr>
            <a:r>
              <a:rPr sz="1080" b="0">
                <a:solidFill>
                  <a:srgbClr val="2A1D16"/>
                </a:solidFill>
                <a:latin typeface="Calibri"/>
              </a:rPr>
              <a:t>가구·창호는 사용 환경 EMC에 맞춰 미리 건조해야 설치 후 변형이 없음</a:t>
            </a:r>
          </a:p>
          <a:p>
            <a:pPr algn="l" indent="-182880" marL="182880">
              <a:lnSpc>
                <a:spcPct val="115000"/>
              </a:lnSpc>
              <a:spcAft>
                <a:spcPts val="600"/>
              </a:spcAft>
              <a:buFont typeface="Arial"/>
              <a:buChar char="•"/>
            </a:pPr>
            <a:r>
              <a:rPr sz="1080" b="0">
                <a:solidFill>
                  <a:srgbClr val="2A1D16"/>
                </a:solidFill>
                <a:latin typeface="Calibri"/>
              </a:rPr>
              <a:t>실내 난방 환경이면 함수율 10~12%까지 낮춰 제작하는 것이 일반적</a:t>
            </a:r>
          </a:p>
          <a:p>
            <a:pPr algn="l" indent="-182880" marL="182880">
              <a:lnSpc>
                <a:spcPct val="115000"/>
              </a:lnSpc>
              <a:spcAft>
                <a:spcPts val="600"/>
              </a:spcAft>
              <a:buFont typeface="Arial"/>
              <a:buChar char="•"/>
            </a:pPr>
            <a:r>
              <a:rPr sz="1080" b="0">
                <a:solidFill>
                  <a:srgbClr val="2A1D16"/>
                </a:solidFill>
                <a:latin typeface="Calibri"/>
              </a:rPr>
              <a:t>불균일 수축 → 건조응력 → 표면/내부균열·뒤틀림으로 연결(8장)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850" b="0" i="0">
                <a:solidFill>
                  <a:srgbClr val="7A6A5A"/>
                </a:solidFill>
                <a:latin typeface="Calibri"/>
              </a:rPr>
              <a:t>목공의 이해 · 상세노트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85855" y="649224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buNone/>
            </a:pPr>
            <a:r>
              <a:rPr sz="850" b="0" i="0">
                <a:solidFill>
                  <a:srgbClr val="7A6A5A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9144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1150" b="1" i="0">
                <a:solidFill>
                  <a:srgbClr val="45601F"/>
                </a:solidFill>
                <a:latin typeface="Calibri"/>
              </a:rPr>
              <a:t>6장  목재와 수분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03504"/>
            <a:ext cx="11247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2500" b="1" i="0">
                <a:solidFill>
                  <a:srgbClr val="2A1D16"/>
                </a:solidFill>
                <a:latin typeface="Cambria"/>
              </a:rPr>
              <a:t>그림으로 보기 — 자유수·결합수·섬유포화점</a:t>
            </a:r>
          </a:p>
        </p:txBody>
      </p:sp>
      <p:pic>
        <p:nvPicPr>
          <p:cNvPr id="4" name="Picture 3" descr="06_수분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287" y="1492700"/>
            <a:ext cx="11247120" cy="487843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850" b="0" i="0">
                <a:solidFill>
                  <a:srgbClr val="7A6A5A"/>
                </a:solidFill>
                <a:latin typeface="Calibri"/>
              </a:rPr>
              <a:t>목공의 이해 · 상세노트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9224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buNone/>
            </a:pPr>
            <a:r>
              <a:rPr sz="850" b="0" i="0">
                <a:solidFill>
                  <a:srgbClr val="7A6A5A"/>
                </a:solidFill>
                <a:latin typeface="Calibri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9144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1150" b="1" i="0">
                <a:solidFill>
                  <a:srgbClr val="45601F"/>
                </a:solidFill>
                <a:latin typeface="Calibri"/>
              </a:rPr>
              <a:t>7장  목재 치수변화와 대처법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03504"/>
            <a:ext cx="11247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2500" b="1" i="0">
                <a:solidFill>
                  <a:srgbClr val="2A1D16"/>
                </a:solidFill>
                <a:latin typeface="Cambria"/>
              </a:rPr>
              <a:t>방향별 수축률과 변형 패턴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417320"/>
          <a:ext cx="5486399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9142"/>
                <a:gridCol w="2547257"/>
              </a:tblGrid>
              <a:tr h="48006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방향</a:t>
                      </a:r>
                    </a:p>
                  </a:txBody>
                  <a:tcPr marL="73152" marR="73152" marT="27432" marB="27432" anchor="ctr">
                    <a:solidFill>
                      <a:srgbClr val="8D6E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총 수축률(대략)</a:t>
                      </a:r>
                    </a:p>
                  </a:txBody>
                  <a:tcPr marL="73152" marR="73152" marT="27432" marB="27432" anchor="ctr">
                    <a:solidFill>
                      <a:srgbClr val="8D6E4B"/>
                    </a:solidFill>
                  </a:tcPr>
                </a:tc>
              </a:tr>
              <a:tr h="48006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2A1D16"/>
                          </a:solidFill>
                          <a:latin typeface="Calibri"/>
                        </a:rPr>
                        <a:t>길이(섬유)방향</a:t>
                      </a:r>
                    </a:p>
                  </a:txBody>
                  <a:tcPr marL="73152" marR="73152" marT="27432" marB="27432" anchor="ctr">
                    <a:solidFill>
                      <a:srgbClr val="F1E4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A1D16"/>
                          </a:solidFill>
                          <a:latin typeface="Calibri"/>
                        </a:rPr>
                        <a:t>0.1~0.3%</a:t>
                      </a:r>
                    </a:p>
                  </a:txBody>
                  <a:tcPr marL="73152" marR="73152" marT="27432" marB="27432" anchor="ctr">
                    <a:solidFill>
                      <a:srgbClr val="F1E4CC"/>
                    </a:solidFill>
                  </a:tcPr>
                </a:tc>
              </a:tr>
              <a:tr h="48006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2A1D16"/>
                          </a:solidFill>
                          <a:latin typeface="Calibri"/>
                        </a:rPr>
                        <a:t>방사방향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A1D16"/>
                          </a:solidFill>
                          <a:latin typeface="Calibri"/>
                        </a:rPr>
                        <a:t>3~6%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2A1D16"/>
                          </a:solidFill>
                          <a:latin typeface="Calibri"/>
                        </a:rPr>
                        <a:t>접선방향</a:t>
                      </a:r>
                    </a:p>
                  </a:txBody>
                  <a:tcPr marL="73152" marR="73152" marT="27432" marB="27432" anchor="ctr">
                    <a:solidFill>
                      <a:srgbClr val="F1E4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A1D16"/>
                          </a:solidFill>
                          <a:latin typeface="Calibri"/>
                        </a:rPr>
                        <a:t>6~12%</a:t>
                      </a:r>
                    </a:p>
                  </a:txBody>
                  <a:tcPr marL="73152" marR="73152" marT="27432" marB="27432" anchor="ctr">
                    <a:solidFill>
                      <a:srgbClr val="F1E4CC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3520440"/>
            <a:ext cx="5486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buNone/>
            </a:pPr>
            <a:r>
              <a:rPr sz="1030" b="0" i="1">
                <a:solidFill>
                  <a:srgbClr val="8D6E4B"/>
                </a:solidFill>
                <a:latin typeface="Calibri"/>
              </a:rPr>
              <a:t>T/R비(접선/방사 수축비) = 접선÷방사 ≈ 1.5~2.0배 — 이 비율이 클수록 건조 중 뒤틀림 경향이 큰 수종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17320"/>
            <a:ext cx="5486400" cy="3017520"/>
          </a:xfrm>
          <a:prstGeom prst="roundRect">
            <a:avLst>
              <a:gd name="adj" fmla="val 10000"/>
            </a:avLst>
          </a:prstGeom>
          <a:solidFill>
            <a:srgbClr val="F1E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536192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1250" b="1" i="0">
                <a:solidFill>
                  <a:srgbClr val="45601F"/>
                </a:solidFill>
                <a:latin typeface="Cambria"/>
              </a:rPr>
              <a:t>방향차가 생기는 이유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46520" y="1856231"/>
            <a:ext cx="502920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indent="-182880" marL="182880">
              <a:lnSpc>
                <a:spcPct val="115000"/>
              </a:lnSpc>
              <a:spcAft>
                <a:spcPts val="700"/>
              </a:spcAft>
              <a:buFont typeface="Arial"/>
              <a:buChar char="•"/>
            </a:pPr>
            <a:r>
              <a:rPr sz="1100" b="0">
                <a:solidFill>
                  <a:srgbClr val="2A1D16"/>
                </a:solidFill>
                <a:latin typeface="Calibri"/>
              </a:rPr>
              <a:t>세포가 길이방향으로 길게 배열 → 축방향 수축 거의 없음</a:t>
            </a:r>
          </a:p>
          <a:p>
            <a:pPr algn="l" indent="-182880" marL="182880">
              <a:lnSpc>
                <a:spcPct val="115000"/>
              </a:lnSpc>
              <a:spcAft>
                <a:spcPts val="700"/>
              </a:spcAft>
              <a:buFont typeface="Arial"/>
              <a:buChar char="•"/>
            </a:pPr>
            <a:r>
              <a:rPr sz="1100" b="0">
                <a:solidFill>
                  <a:srgbClr val="2A1D16"/>
                </a:solidFill>
                <a:latin typeface="Calibri"/>
              </a:rPr>
              <a:t>방사조직이 방사방향 수축을 물리적으로 억제</a:t>
            </a:r>
          </a:p>
          <a:p>
            <a:pPr algn="l" indent="-182880" marL="182880">
              <a:lnSpc>
                <a:spcPct val="115000"/>
              </a:lnSpc>
              <a:spcAft>
                <a:spcPts val="700"/>
              </a:spcAft>
              <a:buFont typeface="Arial"/>
              <a:buChar char="•"/>
            </a:pPr>
            <a:r>
              <a:rPr sz="1100" b="0">
                <a:solidFill>
                  <a:srgbClr val="2A1D16"/>
                </a:solidFill>
                <a:latin typeface="Calibri"/>
              </a:rPr>
              <a:t>나이테가 곡선이므로 켜는 방법(정목/판목)에 따라 체감 변형 방향이 달라짐(13장)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4572000"/>
          <a:ext cx="1124712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98720"/>
                <a:gridCol w="6248400"/>
              </a:tblGrid>
              <a:tr h="40005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판재 위치(원목 단면 기준)</a:t>
                      </a:r>
                    </a:p>
                  </a:txBody>
                  <a:tcPr marL="73152" marR="73152" marT="27432" marB="27432" anchor="ctr">
                    <a:solidFill>
                      <a:srgbClr val="8D6E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변형 형태</a:t>
                      </a:r>
                    </a:p>
                  </a:txBody>
                  <a:tcPr marL="73152" marR="73152" marT="27432" marB="27432" anchor="ctr">
                    <a:solidFill>
                      <a:srgbClr val="8D6E4B"/>
                    </a:solidFill>
                  </a:tcPr>
                </a:tc>
              </a:tr>
              <a:tr h="400050">
                <a:tc>
                  <a:txBody>
                    <a:bodyPr wrap="square"/>
                    <a:lstStyle/>
                    <a:p>
                      <a:r>
                        <a:rPr sz="930" b="1">
                          <a:solidFill>
                            <a:srgbClr val="2A1D16"/>
                          </a:solidFill>
                          <a:latin typeface="Calibri"/>
                        </a:rPr>
                        <a:t>수심 부근(정목에 가까움)</a:t>
                      </a:r>
                    </a:p>
                  </a:txBody>
                  <a:tcPr marL="73152" marR="73152" marT="27432" marB="27432" anchor="ctr">
                    <a:solidFill>
                      <a:srgbClr val="F1E4C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30" b="0">
                          <a:solidFill>
                            <a:srgbClr val="2A1D16"/>
                          </a:solidFill>
                          <a:latin typeface="Calibri"/>
                        </a:rPr>
                        <a:t>변형 적음, 비교적 안정</a:t>
                      </a:r>
                    </a:p>
                  </a:txBody>
                  <a:tcPr marL="73152" marR="73152" marT="27432" marB="27432" anchor="ctr">
                    <a:solidFill>
                      <a:srgbClr val="F1E4CC"/>
                    </a:solidFill>
                  </a:tcPr>
                </a:tc>
              </a:tr>
              <a:tr h="400050">
                <a:tc>
                  <a:txBody>
                    <a:bodyPr wrap="square"/>
                    <a:lstStyle/>
                    <a:p>
                      <a:r>
                        <a:rPr sz="930" b="1">
                          <a:solidFill>
                            <a:srgbClr val="2A1D16"/>
                          </a:solidFill>
                          <a:latin typeface="Calibri"/>
                        </a:rPr>
                        <a:t>원목 바깥쪽(판목에 가까움)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30" b="0">
                          <a:solidFill>
                            <a:srgbClr val="2A1D16"/>
                          </a:solidFill>
                          <a:latin typeface="Calibri"/>
                        </a:rPr>
                        <a:t>컵핑(cupping) — 접선수축 커서 활처럼 휨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 wrap="square"/>
                    <a:lstStyle/>
                    <a:p>
                      <a:r>
                        <a:rPr sz="930" b="1">
                          <a:solidFill>
                            <a:srgbClr val="2A1D16"/>
                          </a:solidFill>
                          <a:latin typeface="Calibri"/>
                        </a:rPr>
                        <a:t>수심 포함 판재 / 정사각 각재</a:t>
                      </a:r>
                    </a:p>
                  </a:txBody>
                  <a:tcPr marL="73152" marR="73152" marT="27432" marB="27432" anchor="ctr">
                    <a:solidFill>
                      <a:srgbClr val="F1E4C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30" b="0">
                          <a:solidFill>
                            <a:srgbClr val="2A1D16"/>
                          </a:solidFill>
                          <a:latin typeface="Calibri"/>
                        </a:rPr>
                        <a:t>다이아몬드형 변형 / 원형→타원형 변형</a:t>
                      </a:r>
                    </a:p>
                  </a:txBody>
                  <a:tcPr marL="73152" marR="73152" marT="27432" marB="27432" anchor="ctr">
                    <a:solidFill>
                      <a:srgbClr val="F1E4CC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850" b="0" i="0">
                <a:solidFill>
                  <a:srgbClr val="7A6A5A"/>
                </a:solidFill>
                <a:latin typeface="Calibri"/>
              </a:rPr>
              <a:t>목공의 이해 · 상세노트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85855" y="649224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buNone/>
            </a:pPr>
            <a:r>
              <a:rPr sz="850" b="0" i="0">
                <a:solidFill>
                  <a:srgbClr val="7A6A5A"/>
                </a:solidFill>
                <a:latin typeface="Calibri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9144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1150" b="1" i="0">
                <a:solidFill>
                  <a:srgbClr val="45601F"/>
                </a:solidFill>
                <a:latin typeface="Calibri"/>
              </a:rPr>
              <a:t>7장  목재 치수변화와 대처법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03504"/>
            <a:ext cx="11247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2500" b="1" i="0">
                <a:solidFill>
                  <a:srgbClr val="2A1D16"/>
                </a:solidFill>
                <a:latin typeface="Cambria"/>
              </a:rPr>
              <a:t>치수 변화 대처법 7가지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17320"/>
            <a:ext cx="5440680" cy="1005840"/>
          </a:xfrm>
          <a:prstGeom prst="roundRect">
            <a:avLst>
              <a:gd name="adj" fmla="val 10000"/>
            </a:avLst>
          </a:prstGeom>
          <a:solidFill>
            <a:srgbClr val="F1E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40080" y="1691640"/>
            <a:ext cx="457200" cy="457200"/>
          </a:xfrm>
          <a:prstGeom prst="ellipse">
            <a:avLst/>
          </a:prstGeom>
          <a:solidFill>
            <a:srgbClr val="6E9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</a:rPr>
              <a:t>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508760"/>
            <a:ext cx="4480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1250" b="1" i="0">
                <a:solidFill>
                  <a:srgbClr val="2A1D16"/>
                </a:solidFill>
                <a:latin typeface="Cambria"/>
              </a:rPr>
              <a:t>사전건조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01368"/>
            <a:ext cx="4480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buNone/>
            </a:pPr>
            <a:r>
              <a:rPr sz="1000" b="0" i="0">
                <a:solidFill>
                  <a:srgbClr val="7A6A5A"/>
                </a:solidFill>
                <a:latin typeface="Calibri"/>
              </a:rPr>
              <a:t>사용 환경 EMC에 맞춰 미리 건조 — 가장 근본적 대책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17320"/>
            <a:ext cx="5440680" cy="1005840"/>
          </a:xfrm>
          <a:prstGeom prst="roundRect">
            <a:avLst>
              <a:gd name="adj" fmla="val 10000"/>
            </a:avLst>
          </a:prstGeom>
          <a:solidFill>
            <a:srgbClr val="F1E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446520" y="1691640"/>
            <a:ext cx="457200" cy="457200"/>
          </a:xfrm>
          <a:prstGeom prst="ellipse">
            <a:avLst/>
          </a:prstGeom>
          <a:solidFill>
            <a:srgbClr val="6E9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69164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</a:rPr>
              <a:t>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0" y="1508760"/>
            <a:ext cx="4480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1250" b="1" i="0">
                <a:solidFill>
                  <a:srgbClr val="2A1D16"/>
                </a:solidFill>
                <a:latin typeface="Cambria"/>
              </a:rPr>
              <a:t>수분흡수 제어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0" y="1801368"/>
            <a:ext cx="4480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buNone/>
            </a:pPr>
            <a:r>
              <a:rPr sz="1000" b="0" i="0">
                <a:solidFill>
                  <a:srgbClr val="7A6A5A"/>
                </a:solidFill>
                <a:latin typeface="Calibri"/>
              </a:rPr>
              <a:t>도장으로 수분 출입 '속도'를 늦춤(완전 차단 불가)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2587752"/>
            <a:ext cx="5440680" cy="1005840"/>
          </a:xfrm>
          <a:prstGeom prst="roundRect">
            <a:avLst>
              <a:gd name="adj" fmla="val 10000"/>
            </a:avLst>
          </a:prstGeom>
          <a:solidFill>
            <a:srgbClr val="F1E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0080" y="2862072"/>
            <a:ext cx="457200" cy="457200"/>
          </a:xfrm>
          <a:prstGeom prst="ellipse">
            <a:avLst/>
          </a:prstGeom>
          <a:solidFill>
            <a:srgbClr val="6E9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2862072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</a:rPr>
              <a:t>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2679192"/>
            <a:ext cx="4480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1250" b="1" i="0">
                <a:solidFill>
                  <a:srgbClr val="2A1D16"/>
                </a:solidFill>
                <a:latin typeface="Cambria"/>
              </a:rPr>
              <a:t>기계적 제한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2971800"/>
            <a:ext cx="4480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buNone/>
            </a:pPr>
            <a:r>
              <a:rPr sz="1000" b="0" i="0">
                <a:solidFill>
                  <a:srgbClr val="7A6A5A"/>
                </a:solidFill>
                <a:latin typeface="Calibri"/>
              </a:rPr>
              <a:t>슬롯 홀·부동촉 등으로 여유는 주되 방향은 구속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2587752"/>
            <a:ext cx="5440680" cy="1005840"/>
          </a:xfrm>
          <a:prstGeom prst="roundRect">
            <a:avLst>
              <a:gd name="adj" fmla="val 10000"/>
            </a:avLst>
          </a:prstGeom>
          <a:solidFill>
            <a:srgbClr val="F1E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46520" y="2862072"/>
            <a:ext cx="457200" cy="457200"/>
          </a:xfrm>
          <a:prstGeom prst="ellipse">
            <a:avLst/>
          </a:prstGeom>
          <a:solidFill>
            <a:srgbClr val="6E9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2862072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</a:rPr>
              <a:t>④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40880" y="2679192"/>
            <a:ext cx="4480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1250" b="1" i="0">
                <a:solidFill>
                  <a:srgbClr val="2A1D16"/>
                </a:solidFill>
                <a:latin typeface="Cambria"/>
              </a:rPr>
              <a:t>화학적 안정화 처리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2971800"/>
            <a:ext cx="4480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buNone/>
            </a:pPr>
            <a:r>
              <a:rPr sz="1000" b="0" i="0">
                <a:solidFill>
                  <a:srgbClr val="7A6A5A"/>
                </a:solidFill>
                <a:latin typeface="Calibri"/>
              </a:rPr>
              <a:t>PEG 함침 등으로 세포벽 내부를 채워 수축·팽윤 자체를 감소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3758184"/>
            <a:ext cx="5440680" cy="1005840"/>
          </a:xfrm>
          <a:prstGeom prst="roundRect">
            <a:avLst>
              <a:gd name="adj" fmla="val 10000"/>
            </a:avLst>
          </a:prstGeom>
          <a:solidFill>
            <a:srgbClr val="F1E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40080" y="4032504"/>
            <a:ext cx="457200" cy="457200"/>
          </a:xfrm>
          <a:prstGeom prst="ellipse">
            <a:avLst/>
          </a:prstGeom>
          <a:solidFill>
            <a:srgbClr val="6E9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4032504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</a:rPr>
              <a:t>⑤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34440" y="3849624"/>
            <a:ext cx="4480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1250" b="1" i="0">
                <a:solidFill>
                  <a:srgbClr val="2A1D16"/>
                </a:solidFill>
                <a:latin typeface="Cambria"/>
              </a:rPr>
              <a:t>설계 대응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34440" y="4142232"/>
            <a:ext cx="4480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buNone/>
            </a:pPr>
            <a:r>
              <a:rPr sz="1000" b="0" i="0">
                <a:solidFill>
                  <a:srgbClr val="7A6A5A"/>
                </a:solidFill>
                <a:latin typeface="Calibri"/>
              </a:rPr>
              <a:t>정목 켜기 우선, 결 방향 직교배치, 여유 슬롯 설계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63640" y="3758184"/>
            <a:ext cx="5440680" cy="1005840"/>
          </a:xfrm>
          <a:prstGeom prst="roundRect">
            <a:avLst>
              <a:gd name="adj" fmla="val 10000"/>
            </a:avLst>
          </a:prstGeom>
          <a:solidFill>
            <a:srgbClr val="F1E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446520" y="4032504"/>
            <a:ext cx="457200" cy="457200"/>
          </a:xfrm>
          <a:prstGeom prst="ellipse">
            <a:avLst/>
          </a:prstGeom>
          <a:solidFill>
            <a:srgbClr val="6E9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46520" y="4032504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</a:rPr>
              <a:t>⑥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40880" y="3849624"/>
            <a:ext cx="4480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1250" b="1" i="0">
                <a:solidFill>
                  <a:srgbClr val="2A1D16"/>
                </a:solidFill>
                <a:latin typeface="Cambria"/>
              </a:rPr>
              <a:t>습도 추적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40880" y="4142232"/>
            <a:ext cx="4480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buNone/>
            </a:pPr>
            <a:r>
              <a:rPr sz="1000" b="0" i="0">
                <a:solidFill>
                  <a:srgbClr val="7A6A5A"/>
                </a:solidFill>
                <a:latin typeface="Calibri"/>
              </a:rPr>
              <a:t>습도계로 작업장·보관 환경 상시 확인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4928616"/>
            <a:ext cx="5440680" cy="1005840"/>
          </a:xfrm>
          <a:prstGeom prst="roundRect">
            <a:avLst>
              <a:gd name="adj" fmla="val 10000"/>
            </a:avLst>
          </a:prstGeom>
          <a:solidFill>
            <a:srgbClr val="F1E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40080" y="5202936"/>
            <a:ext cx="457200" cy="457200"/>
          </a:xfrm>
          <a:prstGeom prst="ellipse">
            <a:avLst/>
          </a:prstGeom>
          <a:solidFill>
            <a:srgbClr val="6E9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" y="5202936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</a:rPr>
              <a:t>⑦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234440" y="5020055"/>
            <a:ext cx="4480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1250" b="1" i="0">
                <a:solidFill>
                  <a:srgbClr val="2A1D16"/>
                </a:solidFill>
                <a:latin typeface="Cambria"/>
              </a:rPr>
              <a:t>자가 수분측정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34440" y="5312664"/>
            <a:ext cx="4480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buNone/>
            </a:pPr>
            <a:r>
              <a:rPr sz="1000" b="0" i="0">
                <a:solidFill>
                  <a:srgbClr val="7A6A5A"/>
                </a:solidFill>
                <a:latin typeface="Calibri"/>
              </a:rPr>
              <a:t>휴대용 함수율계로 가공 전 목표 함수율(8~12%) 확인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850" b="0" i="0">
                <a:solidFill>
                  <a:srgbClr val="7A6A5A"/>
                </a:solidFill>
                <a:latin typeface="Calibri"/>
              </a:rPr>
              <a:t>목공의 이해 · 상세노트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185855" y="649224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buNone/>
            </a:pPr>
            <a:r>
              <a:rPr sz="850" b="0" i="0">
                <a:solidFill>
                  <a:srgbClr val="7A6A5A"/>
                </a:solidFill>
                <a:latin typeface="Calibri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9144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1150" b="1" i="0">
                <a:solidFill>
                  <a:srgbClr val="45601F"/>
                </a:solidFill>
                <a:latin typeface="Calibri"/>
              </a:rPr>
              <a:t>7장  목재 치수변화와 대처법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03504"/>
            <a:ext cx="11247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2500" b="1" i="0">
                <a:solidFill>
                  <a:srgbClr val="2A1D16"/>
                </a:solidFill>
                <a:latin typeface="Cambria"/>
              </a:rPr>
              <a:t>그림으로 보기 — 방향별 수축과 변형</a:t>
            </a:r>
          </a:p>
        </p:txBody>
      </p:sp>
      <p:pic>
        <p:nvPicPr>
          <p:cNvPr id="4" name="Picture 3" descr="07_치수변화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287" y="1492700"/>
            <a:ext cx="11247120" cy="487843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850" b="0" i="0">
                <a:solidFill>
                  <a:srgbClr val="7A6A5A"/>
                </a:solidFill>
                <a:latin typeface="Calibri"/>
              </a:rPr>
              <a:t>목공의 이해 · 상세노트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9224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buNone/>
            </a:pPr>
            <a:r>
              <a:rPr sz="850" b="0" i="0">
                <a:solidFill>
                  <a:srgbClr val="7A6A5A"/>
                </a:solidFill>
                <a:latin typeface="Calibri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9144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1150" b="1" i="0">
                <a:solidFill>
                  <a:srgbClr val="45601F"/>
                </a:solidFill>
                <a:latin typeface="Calibri"/>
              </a:rPr>
              <a:t>8장  목재 건조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03504"/>
            <a:ext cx="11247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2500" b="1" i="0">
                <a:solidFill>
                  <a:srgbClr val="2A1D16"/>
                </a:solidFill>
                <a:latin typeface="Cambria"/>
              </a:rPr>
              <a:t>건조 방식과 건조 스케줄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417320"/>
          <a:ext cx="1124712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9424"/>
                <a:gridCol w="4248912"/>
                <a:gridCol w="4748784"/>
              </a:tblGrid>
              <a:tr h="52578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구분</a:t>
                      </a:r>
                    </a:p>
                  </a:txBody>
                  <a:tcPr marL="73152" marR="73152" marT="27432" marB="27432" anchor="ctr">
                    <a:solidFill>
                      <a:srgbClr val="8D6E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천연건조(Air-drying)</a:t>
                      </a:r>
                    </a:p>
                  </a:txBody>
                  <a:tcPr marL="73152" marR="73152" marT="27432" marB="27432" anchor="ctr">
                    <a:solidFill>
                      <a:srgbClr val="8D6E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인공건조(Kiln-drying)</a:t>
                      </a:r>
                    </a:p>
                  </a:txBody>
                  <a:tcPr marL="73152" marR="73152" marT="27432" marB="27432" anchor="ctr">
                    <a:solidFill>
                      <a:srgbClr val="8D6E4B"/>
                    </a:solidFill>
                  </a:tcPr>
                </a:tc>
              </a:tr>
              <a:tr h="525780">
                <a:tc>
                  <a:txBody>
                    <a:bodyPr wrap="square"/>
                    <a:lstStyle/>
                    <a:p>
                      <a:r>
                        <a:rPr sz="980" b="1">
                          <a:solidFill>
                            <a:srgbClr val="2A1D16"/>
                          </a:solidFill>
                          <a:latin typeface="Calibri"/>
                        </a:rPr>
                        <a:t>원리</a:t>
                      </a:r>
                    </a:p>
                  </a:txBody>
                  <a:tcPr marL="73152" marR="73152" marT="27432" marB="27432" anchor="ctr">
                    <a:solidFill>
                      <a:srgbClr val="F1E4C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80" b="0">
                          <a:solidFill>
                            <a:srgbClr val="2A1D16"/>
                          </a:solidFill>
                          <a:latin typeface="Calibri"/>
                        </a:rPr>
                        <a:t>그늘·통풍으로 자연 증발</a:t>
                      </a:r>
                    </a:p>
                  </a:txBody>
                  <a:tcPr marL="73152" marR="73152" marT="27432" marB="27432" anchor="ctr">
                    <a:solidFill>
                      <a:srgbClr val="F1E4C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80" b="0">
                          <a:solidFill>
                            <a:srgbClr val="2A1D16"/>
                          </a:solidFill>
                          <a:latin typeface="Calibri"/>
                        </a:rPr>
                        <a:t>건조실에서 온습도·풍속 강제 제어</a:t>
                      </a:r>
                    </a:p>
                  </a:txBody>
                  <a:tcPr marL="73152" marR="73152" marT="27432" marB="27432" anchor="ctr">
                    <a:solidFill>
                      <a:srgbClr val="F1E4CC"/>
                    </a:solidFill>
                  </a:tcPr>
                </a:tc>
              </a:tr>
              <a:tr h="525780">
                <a:tc>
                  <a:txBody>
                    <a:bodyPr wrap="square"/>
                    <a:lstStyle/>
                    <a:p>
                      <a:r>
                        <a:rPr sz="980" b="1">
                          <a:solidFill>
                            <a:srgbClr val="2A1D16"/>
                          </a:solidFill>
                          <a:latin typeface="Calibri"/>
                        </a:rPr>
                        <a:t>소요기간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80" b="0">
                          <a:solidFill>
                            <a:srgbClr val="2A1D16"/>
                          </a:solidFill>
                          <a:latin typeface="Calibri"/>
                        </a:rPr>
                        <a:t>수개월~수년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80" b="0">
                          <a:solidFill>
                            <a:srgbClr val="2A1D16"/>
                          </a:solidFill>
                          <a:latin typeface="Calibri"/>
                        </a:rPr>
                        <a:t>며칠~수 주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 wrap="square"/>
                    <a:lstStyle/>
                    <a:p>
                      <a:r>
                        <a:rPr sz="980" b="1">
                          <a:solidFill>
                            <a:srgbClr val="2A1D16"/>
                          </a:solidFill>
                          <a:latin typeface="Calibri"/>
                        </a:rPr>
                        <a:t>도달 함수율</a:t>
                      </a:r>
                    </a:p>
                  </a:txBody>
                  <a:tcPr marL="73152" marR="73152" marT="27432" marB="27432" anchor="ctr">
                    <a:solidFill>
                      <a:srgbClr val="F1E4C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80" b="0">
                          <a:solidFill>
                            <a:srgbClr val="2A1D16"/>
                          </a:solidFill>
                          <a:latin typeface="Calibri"/>
                        </a:rPr>
                        <a:t>지역 EMC 수준(약 12~18%)까지만</a:t>
                      </a:r>
                    </a:p>
                  </a:txBody>
                  <a:tcPr marL="73152" marR="73152" marT="27432" marB="27432" anchor="ctr">
                    <a:solidFill>
                      <a:srgbClr val="F1E4C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80" b="0">
                          <a:solidFill>
                            <a:srgbClr val="2A1D16"/>
                          </a:solidFill>
                          <a:latin typeface="Calibri"/>
                        </a:rPr>
                        <a:t>목표 함수율(6~12%)까지 자유 조절</a:t>
                      </a:r>
                    </a:p>
                  </a:txBody>
                  <a:tcPr marL="73152" marR="73152" marT="27432" marB="27432" anchor="ctr">
                    <a:solidFill>
                      <a:srgbClr val="F1E4CC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457200" y="3749039"/>
            <a:ext cx="11247120" cy="2743200"/>
          </a:xfrm>
          <a:prstGeom prst="roundRect">
            <a:avLst>
              <a:gd name="adj" fmla="val 10000"/>
            </a:avLst>
          </a:prstGeom>
          <a:solidFill>
            <a:srgbClr val="F1E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3867912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1250" b="1" i="0">
                <a:solidFill>
                  <a:srgbClr val="45601F"/>
                </a:solidFill>
                <a:latin typeface="Cambria"/>
              </a:rPr>
              <a:t>건조 스케줄 4단계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4187952"/>
            <a:ext cx="10789920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indent="-182880" marL="182880">
              <a:lnSpc>
                <a:spcPct val="115000"/>
              </a:lnSpc>
              <a:spcAft>
                <a:spcPts val="600"/>
              </a:spcAft>
              <a:buFont typeface="Arial"/>
              <a:buChar char="•"/>
            </a:pPr>
            <a:r>
              <a:rPr sz="1100" b="0">
                <a:solidFill>
                  <a:srgbClr val="2A1D16"/>
                </a:solidFill>
                <a:latin typeface="Calibri"/>
              </a:rPr>
              <a:t>① 초기가열(초기증기처리): 표면 급건조 방지 위해 높은 습도에서 예열</a:t>
            </a:r>
          </a:p>
          <a:p>
            <a:pPr algn="l" indent="-182880" marL="182880">
              <a:lnSpc>
                <a:spcPct val="115000"/>
              </a:lnSpc>
              <a:spcAft>
                <a:spcPts val="600"/>
              </a:spcAft>
              <a:buFont typeface="Arial"/>
              <a:buChar char="•"/>
            </a:pPr>
            <a:r>
              <a:rPr sz="1100" b="0">
                <a:solidFill>
                  <a:srgbClr val="2A1D16"/>
                </a:solidFill>
                <a:latin typeface="Calibri"/>
              </a:rPr>
              <a:t>② 주 건조 단계: 함수율↓에 따라 온도↑·습도↓로 건조속도 유지</a:t>
            </a:r>
          </a:p>
          <a:p>
            <a:pPr algn="l" indent="-182880" marL="182880">
              <a:lnSpc>
                <a:spcPct val="115000"/>
              </a:lnSpc>
              <a:spcAft>
                <a:spcPts val="600"/>
              </a:spcAft>
              <a:buFont typeface="Arial"/>
              <a:buChar char="•"/>
            </a:pPr>
            <a:r>
              <a:rPr sz="1100" b="0">
                <a:solidFill>
                  <a:srgbClr val="2A1D16"/>
                </a:solidFill>
                <a:latin typeface="Calibri"/>
              </a:rPr>
              <a:t>③ 평형화(Equalizing): 부재 간·부재 내 함수율 편차 감소</a:t>
            </a:r>
          </a:p>
          <a:p>
            <a:pPr algn="l" indent="-182880" marL="182880">
              <a:lnSpc>
                <a:spcPct val="115000"/>
              </a:lnSpc>
              <a:spcAft>
                <a:spcPts val="600"/>
              </a:spcAft>
              <a:buFont typeface="Arial"/>
              <a:buChar char="•"/>
            </a:pPr>
            <a:r>
              <a:rPr sz="1100" b="0">
                <a:solidFill>
                  <a:srgbClr val="2A1D16"/>
                </a:solidFill>
                <a:latin typeface="Calibri"/>
              </a:rPr>
              <a:t>④ 컨디셔닝(Conditioning): 건조응력 해소 위해 일시적으로 습도↑</a:t>
            </a:r>
          </a:p>
          <a:p>
            <a:pPr algn="l" indent="-182880" marL="182880">
              <a:lnSpc>
                <a:spcPct val="115000"/>
              </a:lnSpc>
              <a:spcAft>
                <a:spcPts val="600"/>
              </a:spcAft>
              <a:buFont typeface="Arial"/>
              <a:buChar char="•"/>
            </a:pPr>
            <a:r>
              <a:rPr sz="1100" b="0">
                <a:solidFill>
                  <a:srgbClr val="2A1D16"/>
                </a:solidFill>
                <a:latin typeface="Calibri"/>
              </a:rPr>
              <a:t>급건조 위험: 표면 먼저 수축(인장응력) → 표면균열 / 케이스하드닝(내부 잔류응력)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850" b="0" i="0">
                <a:solidFill>
                  <a:srgbClr val="7A6A5A"/>
                </a:solidFill>
                <a:latin typeface="Calibri"/>
              </a:rPr>
              <a:t>목공의 이해 · 상세노트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85855" y="649224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buNone/>
            </a:pPr>
            <a:r>
              <a:rPr sz="850" b="0" i="0">
                <a:solidFill>
                  <a:srgbClr val="7A6A5A"/>
                </a:solidFill>
                <a:latin typeface="Calibri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9144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1150" b="1" i="0">
                <a:solidFill>
                  <a:srgbClr val="45601F"/>
                </a:solidFill>
                <a:latin typeface="Calibri"/>
              </a:rPr>
              <a:t>8장  목재 건조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03504"/>
            <a:ext cx="11247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2500" b="1" i="0">
                <a:solidFill>
                  <a:srgbClr val="2A1D16"/>
                </a:solidFill>
                <a:latin typeface="Cambria"/>
              </a:rPr>
              <a:t>건조 결함과 제재목 보관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417320"/>
          <a:ext cx="11247119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7501"/>
                <a:gridCol w="7069618"/>
              </a:tblGrid>
              <a:tr h="44196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결함</a:t>
                      </a:r>
                    </a:p>
                  </a:txBody>
                  <a:tcPr marL="73152" marR="73152" marT="27432" marB="27432" anchor="ctr">
                    <a:solidFill>
                      <a:srgbClr val="8D6E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원인</a:t>
                      </a:r>
                    </a:p>
                  </a:txBody>
                  <a:tcPr marL="73152" marR="73152" marT="27432" marB="27432" anchor="ctr">
                    <a:solidFill>
                      <a:srgbClr val="8D6E4B"/>
                    </a:solidFill>
                  </a:tcPr>
                </a:tc>
              </a:tr>
              <a:tr h="441960">
                <a:tc>
                  <a:txBody>
                    <a:bodyPr wrap="square"/>
                    <a:lstStyle/>
                    <a:p>
                      <a:r>
                        <a:rPr sz="980" b="1">
                          <a:solidFill>
                            <a:srgbClr val="2A1D16"/>
                          </a:solidFill>
                          <a:latin typeface="Calibri"/>
                        </a:rPr>
                        <a:t>표면균열(Surface check)</a:t>
                      </a:r>
                    </a:p>
                  </a:txBody>
                  <a:tcPr marL="73152" marR="73152" marT="27432" marB="27432" anchor="ctr">
                    <a:solidFill>
                      <a:srgbClr val="F1E4C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80" b="0">
                          <a:solidFill>
                            <a:srgbClr val="2A1D16"/>
                          </a:solidFill>
                          <a:latin typeface="Calibri"/>
                        </a:rPr>
                        <a:t>급속 건조로 표면-내부 수축 속도 차이</a:t>
                      </a:r>
                    </a:p>
                  </a:txBody>
                  <a:tcPr marL="73152" marR="73152" marT="27432" marB="27432" anchor="ctr">
                    <a:solidFill>
                      <a:srgbClr val="F1E4CC"/>
                    </a:solidFill>
                  </a:tcPr>
                </a:tc>
              </a:tr>
              <a:tr h="441960">
                <a:tc>
                  <a:txBody>
                    <a:bodyPr wrap="square"/>
                    <a:lstStyle/>
                    <a:p>
                      <a:r>
                        <a:rPr sz="980" b="1">
                          <a:solidFill>
                            <a:srgbClr val="2A1D16"/>
                          </a:solidFill>
                          <a:latin typeface="Calibri"/>
                        </a:rPr>
                        <a:t>내부균열(Honeycombing)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80" b="0">
                          <a:solidFill>
                            <a:srgbClr val="2A1D16"/>
                          </a:solidFill>
                          <a:latin typeface="Calibri"/>
                        </a:rPr>
                        <a:t>케이스하드닝 상태에서 내부가 나중에 수축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41960">
                <a:tc>
                  <a:txBody>
                    <a:bodyPr wrap="square"/>
                    <a:lstStyle/>
                    <a:p>
                      <a:r>
                        <a:rPr sz="980" b="1">
                          <a:solidFill>
                            <a:srgbClr val="2A1D16"/>
                          </a:solidFill>
                          <a:latin typeface="Calibri"/>
                        </a:rPr>
                        <a:t>케이스 하드닝</a:t>
                      </a:r>
                    </a:p>
                  </a:txBody>
                  <a:tcPr marL="73152" marR="73152" marT="27432" marB="27432" anchor="ctr">
                    <a:solidFill>
                      <a:srgbClr val="F1E4C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80" b="0">
                          <a:solidFill>
                            <a:srgbClr val="2A1D16"/>
                          </a:solidFill>
                          <a:latin typeface="Calibri"/>
                        </a:rPr>
                        <a:t>표면 대비 내부 잔류응력 — 절단 시 확인됨</a:t>
                      </a:r>
                    </a:p>
                  </a:txBody>
                  <a:tcPr marL="73152" marR="73152" marT="27432" marB="27432" anchor="ctr">
                    <a:solidFill>
                      <a:srgbClr val="F1E4CC"/>
                    </a:solidFill>
                  </a:tcPr>
                </a:tc>
              </a:tr>
              <a:tr h="441960">
                <a:tc>
                  <a:txBody>
                    <a:bodyPr wrap="square"/>
                    <a:lstStyle/>
                    <a:p>
                      <a:r>
                        <a:rPr sz="980" b="1">
                          <a:solidFill>
                            <a:srgbClr val="2A1D16"/>
                          </a:solidFill>
                          <a:latin typeface="Calibri"/>
                        </a:rPr>
                        <a:t>붕괴(Collapse)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80" b="0">
                          <a:solidFill>
                            <a:srgbClr val="2A1D16"/>
                          </a:solidFill>
                          <a:latin typeface="Calibri"/>
                        </a:rPr>
                        <a:t>일부 수종 세포가 통째로 찌그러짐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41960">
                <a:tc>
                  <a:txBody>
                    <a:bodyPr wrap="square"/>
                    <a:lstStyle/>
                    <a:p>
                      <a:r>
                        <a:rPr sz="980" b="1">
                          <a:solidFill>
                            <a:srgbClr val="2A1D16"/>
                          </a:solidFill>
                          <a:latin typeface="Calibri"/>
                        </a:rPr>
                        <a:t>뒤틀림(Warp)</a:t>
                      </a:r>
                    </a:p>
                  </a:txBody>
                  <a:tcPr marL="73152" marR="73152" marT="27432" marB="27432" anchor="ctr">
                    <a:solidFill>
                      <a:srgbClr val="F1E4C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80" b="0">
                          <a:solidFill>
                            <a:srgbClr val="2A1D16"/>
                          </a:solidFill>
                          <a:latin typeface="Calibri"/>
                        </a:rPr>
                        <a:t>불균일 수축 — bow·crook·twist·cup</a:t>
                      </a:r>
                    </a:p>
                  </a:txBody>
                  <a:tcPr marL="73152" marR="73152" marT="27432" marB="27432" anchor="ctr">
                    <a:solidFill>
                      <a:srgbClr val="F1E4CC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457200" y="4343400"/>
            <a:ext cx="11247120" cy="2103120"/>
          </a:xfrm>
          <a:prstGeom prst="roundRect">
            <a:avLst>
              <a:gd name="adj" fmla="val 10000"/>
            </a:avLst>
          </a:prstGeom>
          <a:solidFill>
            <a:srgbClr val="F1E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4462272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1250" b="1" i="0">
                <a:solidFill>
                  <a:srgbClr val="8D6E4B"/>
                </a:solidFill>
                <a:latin typeface="Cambria"/>
              </a:rPr>
              <a:t>스티킹(Sticking) 보관 핵심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4773168"/>
            <a:ext cx="1078992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indent="-182880" marL="182880">
              <a:lnSpc>
                <a:spcPct val="115000"/>
              </a:lnSpc>
              <a:spcAft>
                <a:spcPts val="500"/>
              </a:spcAft>
              <a:buFont typeface="Arial"/>
              <a:buChar char="•"/>
            </a:pPr>
            <a:r>
              <a:rPr sz="1050" b="0">
                <a:solidFill>
                  <a:srgbClr val="2A1D16"/>
                </a:solidFill>
                <a:latin typeface="Calibri"/>
              </a:rPr>
              <a:t>받침대로 지면과 15~20cm 이상 띄우기, 스티커(간격재) 15~25mm 균일 사용</a:t>
            </a:r>
          </a:p>
          <a:p>
            <a:pPr algn="l" indent="-182880" marL="182880">
              <a:lnSpc>
                <a:spcPct val="115000"/>
              </a:lnSpc>
              <a:spcAft>
                <a:spcPts val="500"/>
              </a:spcAft>
              <a:buFont typeface="Arial"/>
              <a:buChar char="•"/>
            </a:pPr>
            <a:r>
              <a:rPr sz="1050" b="0">
                <a:solidFill>
                  <a:srgbClr val="2A1D16"/>
                </a:solidFill>
                <a:latin typeface="Calibri"/>
              </a:rPr>
              <a:t>스티커를 수직 일직선으로 배치(어긋나면 처짐·변형), 간격 약 60cm</a:t>
            </a:r>
          </a:p>
          <a:p>
            <a:pPr algn="l" indent="-182880" marL="182880">
              <a:lnSpc>
                <a:spcPct val="115000"/>
              </a:lnSpc>
              <a:spcAft>
                <a:spcPts val="500"/>
              </a:spcAft>
              <a:buFont typeface="Arial"/>
              <a:buChar char="•"/>
            </a:pPr>
            <a:r>
              <a:rPr sz="1050" b="0">
                <a:solidFill>
                  <a:srgbClr val="2A1D16"/>
                </a:solidFill>
                <a:latin typeface="Calibri"/>
              </a:rPr>
              <a:t>최상단에 하중을 얹어 뒤틀림 억제, 덮개로 직사광선·비 차단, 측면은 통풍 확보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850" b="0" i="0">
                <a:solidFill>
                  <a:srgbClr val="7A6A5A"/>
                </a:solidFill>
                <a:latin typeface="Calibri"/>
              </a:rPr>
              <a:t>목공의 이해 · 상세노트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85855" y="649224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buNone/>
            </a:pPr>
            <a:r>
              <a:rPr sz="850" b="0" i="0">
                <a:solidFill>
                  <a:srgbClr val="7A6A5A"/>
                </a:solidFill>
                <a:latin typeface="Calibri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9144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1150" b="1" i="0">
                <a:solidFill>
                  <a:srgbClr val="45601F"/>
                </a:solidFill>
                <a:latin typeface="Calibri"/>
              </a:rPr>
              <a:t>8장  목재 건조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03504"/>
            <a:ext cx="11247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2500" b="1" i="0">
                <a:solidFill>
                  <a:srgbClr val="2A1D16"/>
                </a:solidFill>
                <a:latin typeface="Cambria"/>
              </a:rPr>
              <a:t>그림으로 보기 — 제재목 보관(스티킹)</a:t>
            </a:r>
          </a:p>
        </p:txBody>
      </p:sp>
      <p:pic>
        <p:nvPicPr>
          <p:cNvPr id="4" name="Picture 3" descr="08_건조_보관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287" y="1492700"/>
            <a:ext cx="11247120" cy="487843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850" b="0" i="0">
                <a:solidFill>
                  <a:srgbClr val="7A6A5A"/>
                </a:solidFill>
                <a:latin typeface="Calibri"/>
              </a:rPr>
              <a:t>목공의 이해 · 상세노트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9224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buNone/>
            </a:pPr>
            <a:r>
              <a:rPr sz="850" b="0" i="0">
                <a:solidFill>
                  <a:srgbClr val="7A6A5A"/>
                </a:solidFill>
                <a:latin typeface="Calibri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9144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1150" b="1" i="0">
                <a:solidFill>
                  <a:srgbClr val="45601F"/>
                </a:solidFill>
                <a:latin typeface="Calibri"/>
              </a:rPr>
              <a:t>9장  목재 절삭과 휨가공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03504"/>
            <a:ext cx="11247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2500" b="1" i="0">
                <a:solidFill>
                  <a:srgbClr val="2A1D16"/>
                </a:solidFill>
                <a:latin typeface="Cambria"/>
              </a:rPr>
              <a:t>절삭의 원리와 휨가공 비교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17320"/>
            <a:ext cx="11247120" cy="1920240"/>
          </a:xfrm>
          <a:prstGeom prst="roundRect">
            <a:avLst>
              <a:gd name="adj" fmla="val 10000"/>
            </a:avLst>
          </a:prstGeom>
          <a:solidFill>
            <a:srgbClr val="F1E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536192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1250" b="1" i="0">
                <a:solidFill>
                  <a:srgbClr val="45601F"/>
                </a:solidFill>
                <a:latin typeface="Cambria"/>
              </a:rPr>
              <a:t>절삭각과 절삭성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856231"/>
            <a:ext cx="1078992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indent="-182880" marL="182880">
              <a:lnSpc>
                <a:spcPct val="115000"/>
              </a:lnSpc>
              <a:spcAft>
                <a:spcPts val="500"/>
              </a:spcAft>
              <a:buFont typeface="Arial"/>
              <a:buChar char="•"/>
            </a:pPr>
            <a:r>
              <a:rPr sz="1080" b="0">
                <a:solidFill>
                  <a:srgbClr val="2A1D16"/>
                </a:solidFill>
                <a:latin typeface="Calibri"/>
              </a:rPr>
              <a:t>절삭각이 작을수록 순결 방향에선 매끄럽지만, 역결·옹이에서는 뜯김↑ — 옹이 많으면 절삭각을 다소 크게</a:t>
            </a:r>
          </a:p>
          <a:p>
            <a:pPr algn="l" indent="-182880" marL="182880">
              <a:lnSpc>
                <a:spcPct val="115000"/>
              </a:lnSpc>
              <a:spcAft>
                <a:spcPts val="500"/>
              </a:spcAft>
              <a:buFont typeface="Arial"/>
              <a:buChar char="•"/>
            </a:pPr>
            <a:r>
              <a:rPr sz="1080" b="0">
                <a:solidFill>
                  <a:srgbClr val="2A1D16"/>
                </a:solidFill>
                <a:latin typeface="Calibri"/>
              </a:rPr>
              <a:t>함수율 8~15% 구간에서 절삭성이 가장 양호 (과건조=부스러짐 / 과습=눌림)</a:t>
            </a:r>
          </a:p>
          <a:p>
            <a:pPr algn="l" indent="-182880" marL="182880">
              <a:lnSpc>
                <a:spcPct val="115000"/>
              </a:lnSpc>
              <a:spcAft>
                <a:spcPts val="500"/>
              </a:spcAft>
              <a:buFont typeface="Arial"/>
              <a:buChar char="•"/>
            </a:pPr>
            <a:r>
              <a:rPr sz="1080" b="0">
                <a:solidFill>
                  <a:srgbClr val="2A1D16"/>
                </a:solidFill>
                <a:latin typeface="Calibri"/>
              </a:rPr>
              <a:t>톱밥 형태로 진단: 고운 가루=날 무디거나 과건조 / 긴 리본=정상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3566160"/>
          <a:ext cx="11247119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93004"/>
                <a:gridCol w="4307407"/>
                <a:gridCol w="4546708"/>
              </a:tblGrid>
              <a:tr h="48768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구분</a:t>
                      </a:r>
                    </a:p>
                  </a:txBody>
                  <a:tcPr marL="73152" marR="73152" marT="27432" marB="27432" anchor="ctr">
                    <a:solidFill>
                      <a:srgbClr val="8D6E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증기 휨(Steam Bending)</a:t>
                      </a:r>
                    </a:p>
                  </a:txBody>
                  <a:tcPr marL="73152" marR="73152" marT="27432" marB="27432" anchor="ctr">
                    <a:solidFill>
                      <a:srgbClr val="8D6E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적층 휨(Laminated Bending)</a:t>
                      </a:r>
                    </a:p>
                  </a:txBody>
                  <a:tcPr marL="73152" marR="73152" marT="27432" marB="27432" anchor="ctr">
                    <a:solidFill>
                      <a:srgbClr val="8D6E4B"/>
                    </a:solidFill>
                  </a:tcPr>
                </a:tc>
              </a:tr>
              <a:tr h="487680">
                <a:tc>
                  <a:txBody>
                    <a:bodyPr wrap="square"/>
                    <a:lstStyle/>
                    <a:p>
                      <a:r>
                        <a:rPr sz="930" b="1">
                          <a:solidFill>
                            <a:srgbClr val="2A1D16"/>
                          </a:solidFill>
                          <a:latin typeface="Calibri"/>
                        </a:rPr>
                        <a:t>재료</a:t>
                      </a:r>
                    </a:p>
                  </a:txBody>
                  <a:tcPr marL="73152" marR="73152" marT="27432" marB="27432" anchor="ctr">
                    <a:solidFill>
                      <a:srgbClr val="F1E4C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30" b="0">
                          <a:solidFill>
                            <a:srgbClr val="2A1D16"/>
                          </a:solidFill>
                          <a:latin typeface="Calibri"/>
                        </a:rPr>
                        <a:t>원목 각재(통재)</a:t>
                      </a:r>
                    </a:p>
                  </a:txBody>
                  <a:tcPr marL="73152" marR="73152" marT="27432" marB="27432" anchor="ctr">
                    <a:solidFill>
                      <a:srgbClr val="F1E4C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30" b="0">
                          <a:solidFill>
                            <a:srgbClr val="2A1D16"/>
                          </a:solidFill>
                          <a:latin typeface="Calibri"/>
                        </a:rPr>
                        <a:t>얇은 베니어 여러 장</a:t>
                      </a:r>
                    </a:p>
                  </a:txBody>
                  <a:tcPr marL="73152" marR="73152" marT="27432" marB="27432" anchor="ctr">
                    <a:solidFill>
                      <a:srgbClr val="F1E4CC"/>
                    </a:solidFill>
                  </a:tcPr>
                </a:tc>
              </a:tr>
              <a:tr h="487680">
                <a:tc>
                  <a:txBody>
                    <a:bodyPr wrap="square"/>
                    <a:lstStyle/>
                    <a:p>
                      <a:r>
                        <a:rPr sz="930" b="1">
                          <a:solidFill>
                            <a:srgbClr val="2A1D16"/>
                          </a:solidFill>
                          <a:latin typeface="Calibri"/>
                        </a:rPr>
                        <a:t>처리 조건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30" b="0">
                          <a:solidFill>
                            <a:srgbClr val="2A1D16"/>
                          </a:solidFill>
                          <a:latin typeface="Calibri"/>
                        </a:rPr>
                        <a:t>증기 약 100°C, 두께 25mm 기준 약 1시간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30" b="0">
                          <a:solidFill>
                            <a:srgbClr val="2A1D16"/>
                          </a:solidFill>
                          <a:latin typeface="Calibri"/>
                        </a:rPr>
                        <a:t>접착제로 겹겹이 압착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 wrap="square"/>
                    <a:lstStyle/>
                    <a:p>
                      <a:r>
                        <a:rPr sz="930" b="1">
                          <a:solidFill>
                            <a:srgbClr val="2A1D16"/>
                          </a:solidFill>
                          <a:latin typeface="Calibri"/>
                        </a:rPr>
                        <a:t>곡률 제한(경험적)</a:t>
                      </a:r>
                    </a:p>
                  </a:txBody>
                  <a:tcPr marL="73152" marR="73152" marT="27432" marB="27432" anchor="ctr">
                    <a:solidFill>
                      <a:srgbClr val="F1E4C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30" b="0">
                          <a:solidFill>
                            <a:srgbClr val="2A1D16"/>
                          </a:solidFill>
                          <a:latin typeface="Calibri"/>
                        </a:rPr>
                        <a:t>반지름 ≥ 두께×8~10배</a:t>
                      </a:r>
                    </a:p>
                  </a:txBody>
                  <a:tcPr marL="73152" marR="73152" marT="27432" marB="27432" anchor="ctr">
                    <a:solidFill>
                      <a:srgbClr val="F1E4C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30" b="0">
                          <a:solidFill>
                            <a:srgbClr val="2A1D16"/>
                          </a:solidFill>
                          <a:latin typeface="Calibri"/>
                        </a:rPr>
                        <a:t>반지름 ≥ 베니어두께×100배</a:t>
                      </a:r>
                    </a:p>
                  </a:txBody>
                  <a:tcPr marL="73152" marR="73152" marT="27432" marB="27432" anchor="ctr">
                    <a:solidFill>
                      <a:srgbClr val="F1E4CC"/>
                    </a:solidFill>
                  </a:tcPr>
                </a:tc>
              </a:tr>
              <a:tr h="487680">
                <a:tc>
                  <a:txBody>
                    <a:bodyPr wrap="square"/>
                    <a:lstStyle/>
                    <a:p>
                      <a:r>
                        <a:rPr sz="930" b="1">
                          <a:solidFill>
                            <a:srgbClr val="2A1D16"/>
                          </a:solidFill>
                          <a:latin typeface="Calibri"/>
                        </a:rPr>
                        <a:t>형태 유지력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30" b="0">
                          <a:solidFill>
                            <a:srgbClr val="2A1D16"/>
                          </a:solidFill>
                          <a:latin typeface="Calibri"/>
                        </a:rPr>
                        <a:t>스프링백 있음, 시간 지나 다소 풀림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30" b="0">
                          <a:solidFill>
                            <a:srgbClr val="2A1D16"/>
                          </a:solidFill>
                          <a:latin typeface="Calibri"/>
                        </a:rPr>
                        <a:t>접착제가 고정, 유지력 우수(스프링백 보정 필요)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 wrap="square"/>
                    <a:lstStyle/>
                    <a:p>
                      <a:r>
                        <a:rPr sz="930" b="1">
                          <a:solidFill>
                            <a:srgbClr val="2A1D16"/>
                          </a:solidFill>
                          <a:latin typeface="Calibri"/>
                        </a:rPr>
                        <a:t>대표 용도</a:t>
                      </a:r>
                    </a:p>
                  </a:txBody>
                  <a:tcPr marL="73152" marR="73152" marT="27432" marB="27432" anchor="ctr">
                    <a:solidFill>
                      <a:srgbClr val="F1E4C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30" b="0">
                          <a:solidFill>
                            <a:srgbClr val="2A1D16"/>
                          </a:solidFill>
                          <a:latin typeface="Calibri"/>
                        </a:rPr>
                        <a:t>의자 등받이, 선체 골격</a:t>
                      </a:r>
                    </a:p>
                  </a:txBody>
                  <a:tcPr marL="73152" marR="73152" marT="27432" marB="27432" anchor="ctr">
                    <a:solidFill>
                      <a:srgbClr val="F1E4C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30" b="0">
                          <a:solidFill>
                            <a:srgbClr val="2A1D16"/>
                          </a:solidFill>
                          <a:latin typeface="Calibri"/>
                        </a:rPr>
                        <a:t>곡선 의자·캔틸레버 구조</a:t>
                      </a:r>
                    </a:p>
                  </a:txBody>
                  <a:tcPr marL="73152" marR="73152" marT="27432" marB="27432" anchor="ctr">
                    <a:solidFill>
                      <a:srgbClr val="F1E4CC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850" b="0" i="0">
                <a:solidFill>
                  <a:srgbClr val="7A6A5A"/>
                </a:solidFill>
                <a:latin typeface="Calibri"/>
              </a:rPr>
              <a:t>목공의 이해 · 상세노트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85855" y="649224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buNone/>
            </a:pPr>
            <a:r>
              <a:rPr sz="850" b="0" i="0">
                <a:solidFill>
                  <a:srgbClr val="7A6A5A"/>
                </a:solidFill>
                <a:latin typeface="Calibri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9144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1150" b="1" i="0">
                <a:solidFill>
                  <a:srgbClr val="45601F"/>
                </a:solidFill>
                <a:latin typeface="Calibri"/>
              </a:rPr>
              <a:t>9장  목재 절삭과 휨가공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03504"/>
            <a:ext cx="11247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2500" b="1" i="0">
                <a:solidFill>
                  <a:srgbClr val="2A1D16"/>
                </a:solidFill>
                <a:latin typeface="Cambria"/>
              </a:rPr>
              <a:t>그림으로 보기 — 순결·역결 절삭</a:t>
            </a:r>
          </a:p>
        </p:txBody>
      </p:sp>
      <p:pic>
        <p:nvPicPr>
          <p:cNvPr id="4" name="Picture 3" descr="09_절삭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287" y="1492700"/>
            <a:ext cx="11247120" cy="487843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850" b="0" i="0">
                <a:solidFill>
                  <a:srgbClr val="7A6A5A"/>
                </a:solidFill>
                <a:latin typeface="Calibri"/>
              </a:rPr>
              <a:t>목공의 이해 · 상세노트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9224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buNone/>
            </a:pPr>
            <a:r>
              <a:rPr sz="850" b="0" i="0">
                <a:solidFill>
                  <a:srgbClr val="7A6A5A"/>
                </a:solidFill>
                <a:latin typeface="Calibri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9144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1150" b="1" i="0">
                <a:solidFill>
                  <a:srgbClr val="45601F"/>
                </a:solidFill>
                <a:latin typeface="Calibri"/>
              </a:rPr>
              <a:t>9장  목재 절삭과 휨가공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03504"/>
            <a:ext cx="11247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2500" b="1" i="0">
                <a:solidFill>
                  <a:srgbClr val="2A1D16"/>
                </a:solidFill>
                <a:latin typeface="Cambria"/>
              </a:rPr>
              <a:t>그림으로 보기 — 증기휨과 적층휨</a:t>
            </a:r>
          </a:p>
        </p:txBody>
      </p:sp>
      <p:pic>
        <p:nvPicPr>
          <p:cNvPr id="4" name="Picture 3" descr="09_휨가공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287" y="1492700"/>
            <a:ext cx="11247120" cy="487843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850" b="0" i="0">
                <a:solidFill>
                  <a:srgbClr val="7A6A5A"/>
                </a:solidFill>
                <a:latin typeface="Calibri"/>
              </a:rPr>
              <a:t>목공의 이해 · 상세노트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9224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buNone/>
            </a:pPr>
            <a:r>
              <a:rPr sz="850" b="0" i="0">
                <a:solidFill>
                  <a:srgbClr val="7A6A5A"/>
                </a:solidFill>
                <a:latin typeface="Calibri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9144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1150" b="1" i="0">
                <a:solidFill>
                  <a:srgbClr val="45601F"/>
                </a:solidFill>
                <a:latin typeface="Calibri"/>
              </a:rPr>
              <a:t>10장  목재 접합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03504"/>
            <a:ext cx="11247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2500" b="1" i="0">
                <a:solidFill>
                  <a:srgbClr val="2A1D16"/>
                </a:solidFill>
                <a:latin typeface="Cambria"/>
              </a:rPr>
              <a:t>접합의 기본 형태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417320"/>
          <a:ext cx="11247120" cy="39319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6876"/>
                <a:gridCol w="3186684"/>
                <a:gridCol w="2811780"/>
                <a:gridCol w="2811780"/>
              </a:tblGrid>
              <a:tr h="561702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이음</a:t>
                      </a:r>
                    </a:p>
                  </a:txBody>
                  <a:tcPr marL="73152" marR="73152" marT="27432" marB="27432" anchor="ctr">
                    <a:solidFill>
                      <a:srgbClr val="8D6E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구조</a:t>
                      </a:r>
                    </a:p>
                  </a:txBody>
                  <a:tcPr marL="73152" marR="73152" marT="27432" marB="27432" anchor="ctr">
                    <a:solidFill>
                      <a:srgbClr val="8D6E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강도 특징</a:t>
                      </a:r>
                    </a:p>
                  </a:txBody>
                  <a:tcPr marL="73152" marR="73152" marT="27432" marB="27432" anchor="ctr">
                    <a:solidFill>
                      <a:srgbClr val="8D6E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용도</a:t>
                      </a:r>
                    </a:p>
                  </a:txBody>
                  <a:tcPr marL="73152" marR="73152" marT="27432" marB="27432" anchor="ctr">
                    <a:solidFill>
                      <a:srgbClr val="8D6E4B"/>
                    </a:solidFill>
                  </a:tcPr>
                </a:tc>
              </a:tr>
              <a:tr h="561702">
                <a:tc>
                  <a:txBody>
                    <a:bodyPr wrap="square"/>
                    <a:lstStyle/>
                    <a:p>
                      <a:r>
                        <a:rPr sz="930" b="1">
                          <a:solidFill>
                            <a:srgbClr val="2A1D16"/>
                          </a:solidFill>
                          <a:latin typeface="Calibri"/>
                        </a:rPr>
                        <a:t>맞댄이음(Butt)</a:t>
                      </a:r>
                    </a:p>
                  </a:txBody>
                  <a:tcPr marL="73152" marR="73152" marT="27432" marB="27432" anchor="ctr">
                    <a:solidFill>
                      <a:srgbClr val="F1E4C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30" b="0">
                          <a:solidFill>
                            <a:srgbClr val="2A1D16"/>
                          </a:solidFill>
                          <a:latin typeface="Calibri"/>
                        </a:rPr>
                        <a:t>면과 면을 단순히 맞댐</a:t>
                      </a:r>
                    </a:p>
                  </a:txBody>
                  <a:tcPr marL="73152" marR="73152" marT="27432" marB="27432" anchor="ctr">
                    <a:solidFill>
                      <a:srgbClr val="F1E4C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30" b="0">
                          <a:solidFill>
                            <a:srgbClr val="2A1D16"/>
                          </a:solidFill>
                          <a:latin typeface="Calibri"/>
                        </a:rPr>
                        <a:t>접착만으론 가장 약함</a:t>
                      </a:r>
                    </a:p>
                  </a:txBody>
                  <a:tcPr marL="73152" marR="73152" marT="27432" marB="27432" anchor="ctr">
                    <a:solidFill>
                      <a:srgbClr val="F1E4C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30" b="0">
                          <a:solidFill>
                            <a:srgbClr val="2A1D16"/>
                          </a:solidFill>
                          <a:latin typeface="Calibri"/>
                        </a:rPr>
                        <a:t>못/나사 병용, 비구조용</a:t>
                      </a:r>
                    </a:p>
                  </a:txBody>
                  <a:tcPr marL="73152" marR="73152" marT="27432" marB="27432" anchor="ctr">
                    <a:solidFill>
                      <a:srgbClr val="F1E4CC"/>
                    </a:solidFill>
                  </a:tcPr>
                </a:tc>
              </a:tr>
              <a:tr h="561702">
                <a:tc>
                  <a:txBody>
                    <a:bodyPr wrap="square"/>
                    <a:lstStyle/>
                    <a:p>
                      <a:r>
                        <a:rPr sz="930" b="1">
                          <a:solidFill>
                            <a:srgbClr val="2A1D16"/>
                          </a:solidFill>
                          <a:latin typeface="Calibri"/>
                        </a:rPr>
                        <a:t>겹침이음(Lap)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30" b="0">
                          <a:solidFill>
                            <a:srgbClr val="2A1D16"/>
                          </a:solidFill>
                          <a:latin typeface="Calibri"/>
                        </a:rPr>
                        <a:t>두 부재를 겹쳐 붙임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30" b="0">
                          <a:solidFill>
                            <a:srgbClr val="2A1D16"/>
                          </a:solidFill>
                          <a:latin typeface="Calibri"/>
                        </a:rPr>
                        <a:t>접착면적 증가로 더 강함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30" b="0">
                          <a:solidFill>
                            <a:srgbClr val="2A1D16"/>
                          </a:solidFill>
                          <a:latin typeface="Calibri"/>
                        </a:rPr>
                        <a:t>반턱이음 등으로 응용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61702">
                <a:tc>
                  <a:txBody>
                    <a:bodyPr wrap="square"/>
                    <a:lstStyle/>
                    <a:p>
                      <a:r>
                        <a:rPr sz="930" b="1">
                          <a:solidFill>
                            <a:srgbClr val="2A1D16"/>
                          </a:solidFill>
                          <a:latin typeface="Calibri"/>
                        </a:rPr>
                        <a:t>장부이음(Mortise&amp;Tenon)</a:t>
                      </a:r>
                    </a:p>
                  </a:txBody>
                  <a:tcPr marL="73152" marR="73152" marT="27432" marB="27432" anchor="ctr">
                    <a:solidFill>
                      <a:srgbClr val="F1E4C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30" b="0">
                          <a:solidFill>
                            <a:srgbClr val="2A1D16"/>
                          </a:solidFill>
                          <a:latin typeface="Calibri"/>
                        </a:rPr>
                        <a:t>장부구멍에 장부를 끼움</a:t>
                      </a:r>
                    </a:p>
                  </a:txBody>
                  <a:tcPr marL="73152" marR="73152" marT="27432" marB="27432" anchor="ctr">
                    <a:solidFill>
                      <a:srgbClr val="F1E4C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30" b="0">
                          <a:solidFill>
                            <a:srgbClr val="2A1D16"/>
                          </a:solidFill>
                          <a:latin typeface="Calibri"/>
                        </a:rPr>
                        <a:t>전단·휨에 강함</a:t>
                      </a:r>
                    </a:p>
                  </a:txBody>
                  <a:tcPr marL="73152" marR="73152" marT="27432" marB="27432" anchor="ctr">
                    <a:solidFill>
                      <a:srgbClr val="F1E4C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30" b="0">
                          <a:solidFill>
                            <a:srgbClr val="2A1D16"/>
                          </a:solidFill>
                          <a:latin typeface="Calibri"/>
                        </a:rPr>
                        <a:t>문·창틀, 테이블 프레임</a:t>
                      </a:r>
                    </a:p>
                  </a:txBody>
                  <a:tcPr marL="73152" marR="73152" marT="27432" marB="27432" anchor="ctr">
                    <a:solidFill>
                      <a:srgbClr val="F1E4CC"/>
                    </a:solidFill>
                  </a:tcPr>
                </a:tc>
              </a:tr>
              <a:tr h="561702">
                <a:tc>
                  <a:txBody>
                    <a:bodyPr wrap="square"/>
                    <a:lstStyle/>
                    <a:p>
                      <a:r>
                        <a:rPr sz="930" b="1">
                          <a:solidFill>
                            <a:srgbClr val="2A1D16"/>
                          </a:solidFill>
                          <a:latin typeface="Calibri"/>
                        </a:rPr>
                        <a:t>사개물림(Dovetail)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30" b="0">
                          <a:solidFill>
                            <a:srgbClr val="2A1D16"/>
                          </a:solidFill>
                          <a:latin typeface="Calibri"/>
                        </a:rPr>
                        <a:t>쐐기형 핀·테일이 맞물림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30" b="0">
                          <a:solidFill>
                            <a:srgbClr val="2A1D16"/>
                          </a:solidFill>
                          <a:latin typeface="Calibri"/>
                        </a:rPr>
                        <a:t>인장(당기는 힘)에 강함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30" b="0">
                          <a:solidFill>
                            <a:srgbClr val="2A1D16"/>
                          </a:solidFill>
                          <a:latin typeface="Calibri"/>
                        </a:rPr>
                        <a:t>서랍, 상자 모서리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61702">
                <a:tc>
                  <a:txBody>
                    <a:bodyPr wrap="square"/>
                    <a:lstStyle/>
                    <a:p>
                      <a:r>
                        <a:rPr sz="930" b="1">
                          <a:solidFill>
                            <a:srgbClr val="2A1D16"/>
                          </a:solidFill>
                          <a:latin typeface="Calibri"/>
                        </a:rPr>
                        <a:t>핑거조인트(Finger)</a:t>
                      </a:r>
                    </a:p>
                  </a:txBody>
                  <a:tcPr marL="73152" marR="73152" marT="27432" marB="27432" anchor="ctr">
                    <a:solidFill>
                      <a:srgbClr val="F1E4C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30" b="0">
                          <a:solidFill>
                            <a:srgbClr val="2A1D16"/>
                          </a:solidFill>
                          <a:latin typeface="Calibri"/>
                        </a:rPr>
                        <a:t>톱니모양으로 맞물려 접착</a:t>
                      </a:r>
                    </a:p>
                  </a:txBody>
                  <a:tcPr marL="73152" marR="73152" marT="27432" marB="27432" anchor="ctr">
                    <a:solidFill>
                      <a:srgbClr val="F1E4C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30" b="0">
                          <a:solidFill>
                            <a:srgbClr val="2A1D16"/>
                          </a:solidFill>
                          <a:latin typeface="Calibri"/>
                        </a:rPr>
                        <a:t>길이 이음용</a:t>
                      </a:r>
                    </a:p>
                  </a:txBody>
                  <a:tcPr marL="73152" marR="73152" marT="27432" marB="27432" anchor="ctr">
                    <a:solidFill>
                      <a:srgbClr val="F1E4C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30" b="0">
                          <a:solidFill>
                            <a:srgbClr val="2A1D16"/>
                          </a:solidFill>
                          <a:latin typeface="Calibri"/>
                        </a:rPr>
                        <a:t>집성재 원자재, 몰딩재</a:t>
                      </a:r>
                    </a:p>
                  </a:txBody>
                  <a:tcPr marL="73152" marR="73152" marT="27432" marB="27432" anchor="ctr">
                    <a:solidFill>
                      <a:srgbClr val="F1E4CC"/>
                    </a:solidFill>
                  </a:tcPr>
                </a:tc>
              </a:tr>
              <a:tr h="561702">
                <a:tc>
                  <a:txBody>
                    <a:bodyPr wrap="square"/>
                    <a:lstStyle/>
                    <a:p>
                      <a:r>
                        <a:rPr sz="930" b="1">
                          <a:solidFill>
                            <a:srgbClr val="2A1D16"/>
                          </a:solidFill>
                          <a:latin typeface="Calibri"/>
                        </a:rPr>
                        <a:t>비스킷/도미노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30" b="0">
                          <a:solidFill>
                            <a:srgbClr val="2A1D16"/>
                          </a:solidFill>
                          <a:latin typeface="Calibri"/>
                        </a:rPr>
                        <a:t>타원형 비스킷을 홈에 삽입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30" b="0">
                          <a:solidFill>
                            <a:srgbClr val="2A1D16"/>
                          </a:solidFill>
                          <a:latin typeface="Calibri"/>
                        </a:rPr>
                        <a:t>정렬+접착면적 소폭 증가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30" b="0">
                          <a:solidFill>
                            <a:srgbClr val="2A1D16"/>
                          </a:solidFill>
                          <a:latin typeface="Calibri"/>
                        </a:rPr>
                        <a:t>현대 가구 제작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5532120"/>
            <a:ext cx="112471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1050" b="0" i="1">
                <a:solidFill>
                  <a:srgbClr val="8D6E4B"/>
                </a:solidFill>
                <a:latin typeface="Calibri"/>
              </a:rPr>
              <a:t>접합부는 대체로 부재 본체보다 약한 지점이 되기 쉬우므로, '가장 약한 고리(weakest link)'를 파악하는 것이 설계의 핵심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850" b="0" i="0">
                <a:solidFill>
                  <a:srgbClr val="7A6A5A"/>
                </a:solidFill>
                <a:latin typeface="Calibri"/>
              </a:rPr>
              <a:t>목공의 이해 · 상세노트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85855" y="649224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buNone/>
            </a:pPr>
            <a:r>
              <a:rPr sz="850" b="0" i="0">
                <a:solidFill>
                  <a:srgbClr val="7A6A5A"/>
                </a:solidFill>
                <a:latin typeface="Calibri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9144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1150" b="1" i="0">
                <a:solidFill>
                  <a:srgbClr val="45601F"/>
                </a:solidFill>
                <a:latin typeface="Calibri"/>
              </a:rPr>
              <a:t>10장  목재 접합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03504"/>
            <a:ext cx="11247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2500" b="1" i="0">
                <a:solidFill>
                  <a:srgbClr val="2A1D16"/>
                </a:solidFill>
                <a:latin typeface="Cambria"/>
              </a:rPr>
              <a:t>장부이음 설계와 체결접합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17320"/>
            <a:ext cx="11247120" cy="1600200"/>
          </a:xfrm>
          <a:prstGeom prst="roundRect">
            <a:avLst>
              <a:gd name="adj" fmla="val 10000"/>
            </a:avLst>
          </a:prstGeom>
          <a:solidFill>
            <a:srgbClr val="F1E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536192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1250" b="1" i="0">
                <a:solidFill>
                  <a:srgbClr val="45601F"/>
                </a:solidFill>
                <a:latin typeface="Cambria"/>
              </a:rPr>
              <a:t>장부이음 설계 기준(경험칙)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856231"/>
            <a:ext cx="1078992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indent="-182880" marL="182880">
              <a:lnSpc>
                <a:spcPct val="115000"/>
              </a:lnSpc>
              <a:spcAft>
                <a:spcPts val="500"/>
              </a:spcAft>
              <a:buFont typeface="Arial"/>
              <a:buChar char="•"/>
            </a:pPr>
            <a:r>
              <a:rPr sz="1100" b="0">
                <a:solidFill>
                  <a:srgbClr val="2A1D16"/>
                </a:solidFill>
                <a:latin typeface="Calibri"/>
              </a:rPr>
              <a:t>장부 두께: 통상 부재 두께의 약 1/3 규칙 (예: 30mm 부재 → 장부 약 10mm)</a:t>
            </a:r>
          </a:p>
          <a:p>
            <a:pPr algn="l" indent="-182880" marL="182880">
              <a:lnSpc>
                <a:spcPct val="115000"/>
              </a:lnSpc>
              <a:spcAft>
                <a:spcPts val="500"/>
              </a:spcAft>
              <a:buFont typeface="Arial"/>
              <a:buChar char="•"/>
            </a:pPr>
            <a:r>
              <a:rPr sz="1100" b="0">
                <a:solidFill>
                  <a:srgbClr val="2A1D16"/>
                </a:solidFill>
                <a:latin typeface="Calibri"/>
              </a:rPr>
              <a:t>장부는 부재의 섬유 방향과 나란해야 강도 확보(결을 가로지르면 쉽게 부러짐)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3200400"/>
          <a:ext cx="11247119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13462"/>
                <a:gridCol w="8033657"/>
              </a:tblGrid>
              <a:tr h="402336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체결구</a:t>
                      </a:r>
                    </a:p>
                  </a:txBody>
                  <a:tcPr marL="73152" marR="73152" marT="27432" marB="27432" anchor="ctr">
                    <a:solidFill>
                      <a:srgbClr val="8D6E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특징</a:t>
                      </a:r>
                    </a:p>
                  </a:txBody>
                  <a:tcPr marL="73152" marR="73152" marT="27432" marB="27432" anchor="ctr">
                    <a:solidFill>
                      <a:srgbClr val="8D6E4B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980" b="1">
                          <a:solidFill>
                            <a:srgbClr val="2A1D16"/>
                          </a:solidFill>
                          <a:latin typeface="Calibri"/>
                        </a:rPr>
                        <a:t>못(Nail)</a:t>
                      </a:r>
                    </a:p>
                  </a:txBody>
                  <a:tcPr marL="73152" marR="73152" marT="27432" marB="27432" anchor="ctr">
                    <a:solidFill>
                      <a:srgbClr val="F1E4C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80" b="0">
                          <a:solidFill>
                            <a:srgbClr val="2A1D16"/>
                          </a:solidFill>
                          <a:latin typeface="Calibri"/>
                        </a:rPr>
                        <a:t>시공 속도 빠름, 인발강도 낮음(링생크 못은 보강)</a:t>
                      </a:r>
                    </a:p>
                  </a:txBody>
                  <a:tcPr marL="73152" marR="73152" marT="27432" marB="27432" anchor="ctr">
                    <a:solidFill>
                      <a:srgbClr val="F1E4CC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980" b="1">
                          <a:solidFill>
                            <a:srgbClr val="2A1D16"/>
                          </a:solidFill>
                          <a:latin typeface="Calibri"/>
                        </a:rPr>
                        <a:t>나사(Screw)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80" b="0">
                          <a:solidFill>
                            <a:srgbClr val="2A1D16"/>
                          </a:solidFill>
                          <a:latin typeface="Calibri"/>
                        </a:rPr>
                        <a:t>나사산이 파고들어 인발강도↑, 재시공(분해) 가능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980" b="1">
                          <a:solidFill>
                            <a:srgbClr val="2A1D16"/>
                          </a:solidFill>
                          <a:latin typeface="Calibri"/>
                        </a:rPr>
                        <a:t>볼트·너트</a:t>
                      </a:r>
                    </a:p>
                  </a:txBody>
                  <a:tcPr marL="73152" marR="73152" marT="27432" marB="27432" anchor="ctr">
                    <a:solidFill>
                      <a:srgbClr val="F1E4C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80" b="0">
                          <a:solidFill>
                            <a:srgbClr val="2A1D16"/>
                          </a:solidFill>
                          <a:latin typeface="Calibri"/>
                        </a:rPr>
                        <a:t>큰 구조 접합, 분해 가능, 와셔로 압축손상 방지</a:t>
                      </a:r>
                    </a:p>
                  </a:txBody>
                  <a:tcPr marL="73152" marR="73152" marT="27432" marB="27432" anchor="ctr">
                    <a:solidFill>
                      <a:srgbClr val="F1E4CC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980" b="1">
                          <a:solidFill>
                            <a:srgbClr val="2A1D16"/>
                          </a:solidFill>
                          <a:latin typeface="Calibri"/>
                        </a:rPr>
                        <a:t>목심(Dowel)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80" b="0">
                          <a:solidFill>
                            <a:srgbClr val="2A1D16"/>
                          </a:solidFill>
                          <a:latin typeface="Calibri"/>
                        </a:rPr>
                        <a:t>접착제 병용, 이음을 감추며 전단 보강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5440680"/>
            <a:ext cx="112471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buNone/>
            </a:pPr>
            <a:r>
              <a:rPr sz="1030" b="0" i="1">
                <a:solidFill>
                  <a:srgbClr val="8D6E4B"/>
                </a:solidFill>
                <a:latin typeface="Calibri"/>
              </a:rPr>
              <a:t>체결부 취약성: 못·나사가 섬유에 직각으로 당기는 방향(횡인장)에 작용하면 쪼개짐 위험 → 미리 구멍(pilot hole), 충분한 연단거리 확보 필요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850" b="0" i="0">
                <a:solidFill>
                  <a:srgbClr val="7A6A5A"/>
                </a:solidFill>
                <a:latin typeface="Calibri"/>
              </a:rPr>
              <a:t>목공의 이해 · 상세노트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85855" y="649224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buNone/>
            </a:pPr>
            <a:r>
              <a:rPr sz="850" b="0" i="0">
                <a:solidFill>
                  <a:srgbClr val="7A6A5A"/>
                </a:solidFill>
                <a:latin typeface="Calibri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9144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1150" b="1" i="0">
                <a:solidFill>
                  <a:srgbClr val="45601F"/>
                </a:solidFill>
                <a:latin typeface="Calibri"/>
              </a:rPr>
              <a:t>10장  목재 접합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03504"/>
            <a:ext cx="11247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2500" b="1" i="0">
                <a:solidFill>
                  <a:srgbClr val="2A1D16"/>
                </a:solidFill>
                <a:latin typeface="Cambria"/>
              </a:rPr>
              <a:t>그림으로 보기 — 접합의 기본 형태</a:t>
            </a:r>
          </a:p>
        </p:txBody>
      </p:sp>
      <p:pic>
        <p:nvPicPr>
          <p:cNvPr id="4" name="Picture 3" descr="10_접합형태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287" y="1492700"/>
            <a:ext cx="11247120" cy="487843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850" b="0" i="0">
                <a:solidFill>
                  <a:srgbClr val="7A6A5A"/>
                </a:solidFill>
                <a:latin typeface="Calibri"/>
              </a:rPr>
              <a:t>목공의 이해 · 상세노트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9224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buNone/>
            </a:pPr>
            <a:r>
              <a:rPr sz="850" b="0" i="0">
                <a:solidFill>
                  <a:srgbClr val="7A6A5A"/>
                </a:solidFill>
                <a:latin typeface="Calibri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9144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1150" b="1" i="0">
                <a:solidFill>
                  <a:srgbClr val="45601F"/>
                </a:solidFill>
                <a:latin typeface="Calibri"/>
              </a:rPr>
              <a:t>11장  접착과 접착제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03504"/>
            <a:ext cx="11247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2500" b="1" i="0">
                <a:solidFill>
                  <a:srgbClr val="2A1D16"/>
                </a:solidFill>
                <a:latin typeface="Cambria"/>
              </a:rPr>
              <a:t>접착의 원리와 접착제 비교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buNone/>
            </a:pPr>
            <a:r>
              <a:rPr sz="1100" b="0" i="0">
                <a:solidFill>
                  <a:srgbClr val="7A6A5A"/>
                </a:solidFill>
                <a:latin typeface="Calibri"/>
              </a:rPr>
              <a:t>기계적 맞물림(목재 표면 구멍에 스며들어 굳으며 맞물림) + 화학적 결합(접착제-목재 성분 간 수소결합 등)이 함께 작용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2011680"/>
          <a:ext cx="11247118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9255"/>
                <a:gridCol w="3012621"/>
                <a:gridCol w="2209255"/>
                <a:gridCol w="3815987"/>
              </a:tblGrid>
              <a:tr h="49149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접착제</a:t>
                      </a:r>
                    </a:p>
                  </a:txBody>
                  <a:tcPr marL="73152" marR="73152" marT="27432" marB="27432" anchor="ctr">
                    <a:solidFill>
                      <a:srgbClr val="8D6E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주성분</a:t>
                      </a:r>
                    </a:p>
                  </a:txBody>
                  <a:tcPr marL="73152" marR="73152" marT="27432" marB="27432" anchor="ctr">
                    <a:solidFill>
                      <a:srgbClr val="8D6E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내수성</a:t>
                      </a:r>
                    </a:p>
                  </a:txBody>
                  <a:tcPr marL="73152" marR="73152" marT="27432" marB="27432" anchor="ctr">
                    <a:solidFill>
                      <a:srgbClr val="8D6E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특징·용도</a:t>
                      </a:r>
                    </a:p>
                  </a:txBody>
                  <a:tcPr marL="73152" marR="73152" marT="27432" marB="27432" anchor="ctr">
                    <a:solidFill>
                      <a:srgbClr val="8D6E4B"/>
                    </a:solidFill>
                  </a:tcPr>
                </a:tc>
              </a:tr>
              <a:tr h="491490">
                <a:tc>
                  <a:txBody>
                    <a:bodyPr wrap="square"/>
                    <a:lstStyle/>
                    <a:p>
                      <a:r>
                        <a:rPr sz="930" b="1">
                          <a:solidFill>
                            <a:srgbClr val="2A1D16"/>
                          </a:solidFill>
                          <a:latin typeface="Calibri"/>
                        </a:rPr>
                        <a:t>PVA(목공풀)</a:t>
                      </a:r>
                    </a:p>
                  </a:txBody>
                  <a:tcPr marL="73152" marR="73152" marT="27432" marB="27432" anchor="ctr">
                    <a:solidFill>
                      <a:srgbClr val="F1E4C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30" b="0">
                          <a:solidFill>
                            <a:srgbClr val="2A1D16"/>
                          </a:solidFill>
                          <a:latin typeface="Calibri"/>
                        </a:rPr>
                        <a:t>폴리비닐아세테이트</a:t>
                      </a:r>
                    </a:p>
                  </a:txBody>
                  <a:tcPr marL="73152" marR="73152" marT="27432" marB="27432" anchor="ctr">
                    <a:solidFill>
                      <a:srgbClr val="F1E4C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30" b="0">
                          <a:solidFill>
                            <a:srgbClr val="2A1D16"/>
                          </a:solidFill>
                          <a:latin typeface="Calibri"/>
                        </a:rPr>
                        <a:t>낮음~중간</a:t>
                      </a:r>
                    </a:p>
                  </a:txBody>
                  <a:tcPr marL="73152" marR="73152" marT="27432" marB="27432" anchor="ctr">
                    <a:solidFill>
                      <a:srgbClr val="F1E4C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30" b="0">
                          <a:solidFill>
                            <a:srgbClr val="2A1D16"/>
                          </a:solidFill>
                          <a:latin typeface="Calibri"/>
                        </a:rPr>
                        <a:t>실내 가구 표준, 사용 간편</a:t>
                      </a:r>
                    </a:p>
                  </a:txBody>
                  <a:tcPr marL="73152" marR="73152" marT="27432" marB="27432" anchor="ctr">
                    <a:solidFill>
                      <a:srgbClr val="F1E4CC"/>
                    </a:solidFill>
                  </a:tcPr>
                </a:tc>
              </a:tr>
              <a:tr h="491490">
                <a:tc>
                  <a:txBody>
                    <a:bodyPr wrap="square"/>
                    <a:lstStyle/>
                    <a:p>
                      <a:r>
                        <a:rPr sz="930" b="1">
                          <a:solidFill>
                            <a:srgbClr val="2A1D16"/>
                          </a:solidFill>
                          <a:latin typeface="Calibri"/>
                        </a:rPr>
                        <a:t>에폭시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30" b="0">
                          <a:solidFill>
                            <a:srgbClr val="2A1D16"/>
                          </a:solidFill>
                          <a:latin typeface="Calibri"/>
                        </a:rPr>
                        <a:t>2액형 수지+경화제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30" b="0">
                          <a:solidFill>
                            <a:srgbClr val="2A1D16"/>
                          </a:solidFill>
                          <a:latin typeface="Calibri"/>
                        </a:rPr>
                        <a:t>매우 높음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30" b="0">
                          <a:solidFill>
                            <a:srgbClr val="2A1D16"/>
                          </a:solidFill>
                          <a:latin typeface="Calibri"/>
                        </a:rPr>
                        <a:t>강력 접착, 틈 메움, 이종재료 접합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91490">
                <a:tc>
                  <a:txBody>
                    <a:bodyPr wrap="square"/>
                    <a:lstStyle/>
                    <a:p>
                      <a:r>
                        <a:rPr sz="930" b="1">
                          <a:solidFill>
                            <a:srgbClr val="2A1D16"/>
                          </a:solidFill>
                          <a:latin typeface="Calibri"/>
                        </a:rPr>
                        <a:t>폴리우레탄(PU)</a:t>
                      </a:r>
                    </a:p>
                  </a:txBody>
                  <a:tcPr marL="73152" marR="73152" marT="27432" marB="27432" anchor="ctr">
                    <a:solidFill>
                      <a:srgbClr val="F1E4C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30" b="0">
                          <a:solidFill>
                            <a:srgbClr val="2A1D16"/>
                          </a:solidFill>
                          <a:latin typeface="Calibri"/>
                        </a:rPr>
                        <a:t>이소시아네이트계</a:t>
                      </a:r>
                    </a:p>
                  </a:txBody>
                  <a:tcPr marL="73152" marR="73152" marT="27432" marB="27432" anchor="ctr">
                    <a:solidFill>
                      <a:srgbClr val="F1E4C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30" b="0">
                          <a:solidFill>
                            <a:srgbClr val="2A1D16"/>
                          </a:solidFill>
                          <a:latin typeface="Calibri"/>
                        </a:rPr>
                        <a:t>매우 높음</a:t>
                      </a:r>
                    </a:p>
                  </a:txBody>
                  <a:tcPr marL="73152" marR="73152" marT="27432" marB="27432" anchor="ctr">
                    <a:solidFill>
                      <a:srgbClr val="F1E4C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30" b="0">
                          <a:solidFill>
                            <a:srgbClr val="2A1D16"/>
                          </a:solidFill>
                          <a:latin typeface="Calibri"/>
                        </a:rPr>
                        <a:t>경화 중 발포, 외부용</a:t>
                      </a:r>
                    </a:p>
                  </a:txBody>
                  <a:tcPr marL="73152" marR="73152" marT="27432" marB="27432" anchor="ctr">
                    <a:solidFill>
                      <a:srgbClr val="F1E4CC"/>
                    </a:solidFill>
                  </a:tcPr>
                </a:tc>
              </a:tr>
              <a:tr h="491490">
                <a:tc>
                  <a:txBody>
                    <a:bodyPr wrap="square"/>
                    <a:lstStyle/>
                    <a:p>
                      <a:r>
                        <a:rPr sz="930" b="1">
                          <a:solidFill>
                            <a:srgbClr val="2A1D16"/>
                          </a:solidFill>
                          <a:latin typeface="Calibri"/>
                        </a:rPr>
                        <a:t>요소수지(UF)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30" b="0">
                          <a:solidFill>
                            <a:srgbClr val="2A1D16"/>
                          </a:solidFill>
                          <a:latin typeface="Calibri"/>
                        </a:rPr>
                        <a:t>요소+포름알데히드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30" b="0">
                          <a:solidFill>
                            <a:srgbClr val="2A1D16"/>
                          </a:solidFill>
                          <a:latin typeface="Calibri"/>
                        </a:rPr>
                        <a:t>낮음(실내용)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30" b="0">
                          <a:solidFill>
                            <a:srgbClr val="2A1D16"/>
                          </a:solidFill>
                          <a:latin typeface="Calibri"/>
                        </a:rPr>
                        <a:t>합판·PB·MDF 대량생산용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91490">
                <a:tc>
                  <a:txBody>
                    <a:bodyPr wrap="square"/>
                    <a:lstStyle/>
                    <a:p>
                      <a:r>
                        <a:rPr sz="930" b="1">
                          <a:solidFill>
                            <a:srgbClr val="2A1D16"/>
                          </a:solidFill>
                          <a:latin typeface="Calibri"/>
                        </a:rPr>
                        <a:t>페놀수지(PF)</a:t>
                      </a:r>
                    </a:p>
                  </a:txBody>
                  <a:tcPr marL="73152" marR="73152" marT="27432" marB="27432" anchor="ctr">
                    <a:solidFill>
                      <a:srgbClr val="F1E4C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30" b="0">
                          <a:solidFill>
                            <a:srgbClr val="2A1D16"/>
                          </a:solidFill>
                          <a:latin typeface="Calibri"/>
                        </a:rPr>
                        <a:t>페놀+포름알데히드</a:t>
                      </a:r>
                    </a:p>
                  </a:txBody>
                  <a:tcPr marL="73152" marR="73152" marT="27432" marB="27432" anchor="ctr">
                    <a:solidFill>
                      <a:srgbClr val="F1E4C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30" b="0">
                          <a:solidFill>
                            <a:srgbClr val="2A1D16"/>
                          </a:solidFill>
                          <a:latin typeface="Calibri"/>
                        </a:rPr>
                        <a:t>매우 높음(내수1급)</a:t>
                      </a:r>
                    </a:p>
                  </a:txBody>
                  <a:tcPr marL="73152" marR="73152" marT="27432" marB="27432" anchor="ctr">
                    <a:solidFill>
                      <a:srgbClr val="F1E4C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30" b="0">
                          <a:solidFill>
                            <a:srgbClr val="2A1D16"/>
                          </a:solidFill>
                          <a:latin typeface="Calibri"/>
                        </a:rPr>
                        <a:t>구조용 합판·OSB</a:t>
                      </a:r>
                    </a:p>
                  </a:txBody>
                  <a:tcPr marL="73152" marR="73152" marT="27432" marB="27432" anchor="ctr">
                    <a:solidFill>
                      <a:srgbClr val="F1E4CC"/>
                    </a:solidFill>
                  </a:tcPr>
                </a:tc>
              </a:tr>
              <a:tr h="491490">
                <a:tc>
                  <a:txBody>
                    <a:bodyPr wrap="square"/>
                    <a:lstStyle/>
                    <a:p>
                      <a:r>
                        <a:rPr sz="930" b="1">
                          <a:solidFill>
                            <a:srgbClr val="2A1D16"/>
                          </a:solidFill>
                          <a:latin typeface="Calibri"/>
                        </a:rPr>
                        <a:t>멜라민수지(MUF)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30" b="0">
                          <a:solidFill>
                            <a:srgbClr val="2A1D16"/>
                          </a:solidFill>
                          <a:latin typeface="Calibri"/>
                        </a:rPr>
                        <a:t>멜라민 강화 요소수지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30" b="0">
                          <a:solidFill>
                            <a:srgbClr val="2A1D16"/>
                          </a:solidFill>
                          <a:latin typeface="Calibri"/>
                        </a:rPr>
                        <a:t>높음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30" b="0">
                          <a:solidFill>
                            <a:srgbClr val="2A1D16"/>
                          </a:solidFill>
                          <a:latin typeface="Calibri"/>
                        </a:rPr>
                        <a:t>UF보다 내수성↑, 집성재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91490">
                <a:tc>
                  <a:txBody>
                    <a:bodyPr wrap="square"/>
                    <a:lstStyle/>
                    <a:p>
                      <a:r>
                        <a:rPr sz="930" b="1">
                          <a:solidFill>
                            <a:srgbClr val="2A1D16"/>
                          </a:solidFill>
                          <a:latin typeface="Calibri"/>
                        </a:rPr>
                        <a:t>핫멜트</a:t>
                      </a:r>
                    </a:p>
                  </a:txBody>
                  <a:tcPr marL="73152" marR="73152" marT="27432" marB="27432" anchor="ctr">
                    <a:solidFill>
                      <a:srgbClr val="F1E4C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30" b="0">
                          <a:solidFill>
                            <a:srgbClr val="2A1D16"/>
                          </a:solidFill>
                          <a:latin typeface="Calibri"/>
                        </a:rPr>
                        <a:t>열가소성 수지</a:t>
                      </a:r>
                    </a:p>
                  </a:txBody>
                  <a:tcPr marL="73152" marR="73152" marT="27432" marB="27432" anchor="ctr">
                    <a:solidFill>
                      <a:srgbClr val="F1E4C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30" b="0">
                          <a:solidFill>
                            <a:srgbClr val="2A1D16"/>
                          </a:solidFill>
                          <a:latin typeface="Calibri"/>
                        </a:rPr>
                        <a:t>제품별 상이</a:t>
                      </a:r>
                    </a:p>
                  </a:txBody>
                  <a:tcPr marL="73152" marR="73152" marT="27432" marB="27432" anchor="ctr">
                    <a:solidFill>
                      <a:srgbClr val="F1E4C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30" b="0">
                          <a:solidFill>
                            <a:srgbClr val="2A1D16"/>
                          </a:solidFill>
                          <a:latin typeface="Calibri"/>
                        </a:rPr>
                        <a:t>엣지밴딩 등 신속 가접착</a:t>
                      </a:r>
                    </a:p>
                  </a:txBody>
                  <a:tcPr marL="73152" marR="73152" marT="27432" marB="27432" anchor="ctr">
                    <a:solidFill>
                      <a:srgbClr val="F1E4CC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850" b="0" i="0">
                <a:solidFill>
                  <a:srgbClr val="7A6A5A"/>
                </a:solidFill>
                <a:latin typeface="Calibri"/>
              </a:rPr>
              <a:t>목공의 이해 · 상세노트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85855" y="649224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buNone/>
            </a:pPr>
            <a:r>
              <a:rPr sz="850" b="0" i="0">
                <a:solidFill>
                  <a:srgbClr val="7A6A5A"/>
                </a:solidFill>
                <a:latin typeface="Calibri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9144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1150" b="1" i="0">
                <a:solidFill>
                  <a:srgbClr val="45601F"/>
                </a:solidFill>
                <a:latin typeface="Calibri"/>
              </a:rPr>
              <a:t>11장  접착과 접착제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03504"/>
            <a:ext cx="11247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2500" b="1" i="0">
                <a:solidFill>
                  <a:srgbClr val="2A1D16"/>
                </a:solidFill>
                <a:latin typeface="Cambria"/>
              </a:rPr>
              <a:t>그림으로 보기 — 접착제 비교</a:t>
            </a:r>
          </a:p>
        </p:txBody>
      </p:sp>
      <p:pic>
        <p:nvPicPr>
          <p:cNvPr id="4" name="Picture 3" descr="11_접착제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287" y="1492700"/>
            <a:ext cx="11247120" cy="487843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850" b="0" i="0">
                <a:solidFill>
                  <a:srgbClr val="7A6A5A"/>
                </a:solidFill>
                <a:latin typeface="Calibri"/>
              </a:rPr>
              <a:t>목공의 이해 · 상세노트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9224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buNone/>
            </a:pPr>
            <a:r>
              <a:rPr sz="850" b="0" i="0">
                <a:solidFill>
                  <a:srgbClr val="7A6A5A"/>
                </a:solidFill>
                <a:latin typeface="Calibri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9144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1150" b="1" i="0">
                <a:solidFill>
                  <a:srgbClr val="45601F"/>
                </a:solidFill>
                <a:latin typeface="Calibri"/>
              </a:rPr>
              <a:t>12장  목재 도장과 보존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03504"/>
            <a:ext cx="11247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2500" b="1" i="0">
                <a:solidFill>
                  <a:srgbClr val="2A1D16"/>
                </a:solidFill>
                <a:latin typeface="Cambria"/>
              </a:rPr>
              <a:t>도장 방식과 공정 순서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417320"/>
          <a:ext cx="11247119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5861"/>
                <a:gridCol w="2959768"/>
                <a:gridCol w="3157086"/>
                <a:gridCol w="3354404"/>
              </a:tblGrid>
              <a:tr h="530352">
                <a:tc>
                  <a:txBody>
                    <a:bodyPr wrap="square"/>
                    <a:lstStyle/>
                    <a:p>
                      <a:r>
                        <a:rPr sz="980" b="1">
                          <a:solidFill>
                            <a:srgbClr val="FFFFFF"/>
                          </a:solidFill>
                          <a:latin typeface="Calibri"/>
                        </a:rPr>
                        <a:t>방식</a:t>
                      </a:r>
                    </a:p>
                  </a:txBody>
                  <a:tcPr marL="73152" marR="73152" marT="27432" marB="27432" anchor="ctr">
                    <a:solidFill>
                      <a:srgbClr val="8D6E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80" b="1">
                          <a:solidFill>
                            <a:srgbClr val="FFFFFF"/>
                          </a:solidFill>
                          <a:latin typeface="Calibri"/>
                        </a:rPr>
                        <a:t>원리</a:t>
                      </a:r>
                    </a:p>
                  </a:txBody>
                  <a:tcPr marL="73152" marR="73152" marT="27432" marB="27432" anchor="ctr">
                    <a:solidFill>
                      <a:srgbClr val="8D6E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80" b="1">
                          <a:solidFill>
                            <a:srgbClr val="FFFFFF"/>
                          </a:solidFill>
                          <a:latin typeface="Calibri"/>
                        </a:rPr>
                        <a:t>장점</a:t>
                      </a:r>
                    </a:p>
                  </a:txBody>
                  <a:tcPr marL="73152" marR="73152" marT="27432" marB="27432" anchor="ctr">
                    <a:solidFill>
                      <a:srgbClr val="8D6E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80" b="1">
                          <a:solidFill>
                            <a:srgbClr val="FFFFFF"/>
                          </a:solidFill>
                          <a:latin typeface="Calibri"/>
                        </a:rPr>
                        <a:t>단점</a:t>
                      </a:r>
                    </a:p>
                  </a:txBody>
                  <a:tcPr marL="73152" marR="73152" marT="27432" marB="27432" anchor="ctr">
                    <a:solidFill>
                      <a:srgbClr val="8D6E4B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2A1D16"/>
                          </a:solidFill>
                          <a:latin typeface="Calibri"/>
                        </a:rPr>
                        <a:t>무처리</a:t>
                      </a:r>
                    </a:p>
                  </a:txBody>
                  <a:tcPr marL="73152" marR="73152" marT="27432" marB="27432" anchor="ctr">
                    <a:solidFill>
                      <a:srgbClr val="F1E4C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2A1D16"/>
                          </a:solidFill>
                          <a:latin typeface="Calibri"/>
                        </a:rPr>
                        <a:t>표면 그대로</a:t>
                      </a:r>
                    </a:p>
                  </a:txBody>
                  <a:tcPr marL="73152" marR="73152" marT="27432" marB="27432" anchor="ctr">
                    <a:solidFill>
                      <a:srgbClr val="F1E4C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2A1D16"/>
                          </a:solidFill>
                          <a:latin typeface="Calibri"/>
                        </a:rPr>
                        <a:t>가장 자연스러운 질감</a:t>
                      </a:r>
                    </a:p>
                  </a:txBody>
                  <a:tcPr marL="73152" marR="73152" marT="27432" marB="27432" anchor="ctr">
                    <a:solidFill>
                      <a:srgbClr val="F1E4C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2A1D16"/>
                          </a:solidFill>
                          <a:latin typeface="Calibri"/>
                        </a:rPr>
                        <a:t>오염·변색·수분에 취약</a:t>
                      </a:r>
                    </a:p>
                  </a:txBody>
                  <a:tcPr marL="73152" marR="73152" marT="27432" marB="27432" anchor="ctr">
                    <a:solidFill>
                      <a:srgbClr val="F1E4CC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2A1D16"/>
                          </a:solidFill>
                          <a:latin typeface="Calibri"/>
                        </a:rPr>
                        <a:t>코팅형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2A1D16"/>
                          </a:solidFill>
                          <a:latin typeface="Calibri"/>
                        </a:rPr>
                        <a:t>표면에 연속 도막 형성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2A1D16"/>
                          </a:solidFill>
                          <a:latin typeface="Calibri"/>
                        </a:rPr>
                        <a:t>내마모·내수성 우수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2A1D16"/>
                          </a:solidFill>
                          <a:latin typeface="Calibri"/>
                        </a:rPr>
                        <a:t>촉감↓, 재도장시 전체 벗겨야함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2A1D16"/>
                          </a:solidFill>
                          <a:latin typeface="Calibri"/>
                        </a:rPr>
                        <a:t>침투형</a:t>
                      </a:r>
                    </a:p>
                  </a:txBody>
                  <a:tcPr marL="73152" marR="73152" marT="27432" marB="27432" anchor="ctr">
                    <a:solidFill>
                      <a:srgbClr val="F1E4C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2A1D16"/>
                          </a:solidFill>
                          <a:latin typeface="Calibri"/>
                        </a:rPr>
                        <a:t>내부로 스며들어 발수</a:t>
                      </a:r>
                    </a:p>
                  </a:txBody>
                  <a:tcPr marL="73152" marR="73152" marT="27432" marB="27432" anchor="ctr">
                    <a:solidFill>
                      <a:srgbClr val="F1E4C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2A1D16"/>
                          </a:solidFill>
                          <a:latin typeface="Calibri"/>
                        </a:rPr>
                        <a:t>촉감 자연스러움, 부분보수 용이</a:t>
                      </a:r>
                    </a:p>
                  </a:txBody>
                  <a:tcPr marL="73152" marR="73152" marT="27432" marB="27432" anchor="ctr">
                    <a:solidFill>
                      <a:srgbClr val="F1E4C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2A1D16"/>
                          </a:solidFill>
                          <a:latin typeface="Calibri"/>
                        </a:rPr>
                        <a:t>보호력 약함, 정기관리(연1~2회)</a:t>
                      </a:r>
                    </a:p>
                  </a:txBody>
                  <a:tcPr marL="73152" marR="73152" marT="27432" marB="27432" anchor="ctr">
                    <a:solidFill>
                      <a:srgbClr val="F1E4CC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2A1D16"/>
                          </a:solidFill>
                          <a:latin typeface="Calibri"/>
                        </a:rPr>
                        <a:t>조합(침투+코팅)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2A1D16"/>
                          </a:solidFill>
                          <a:latin typeface="Calibri"/>
                        </a:rPr>
                        <a:t>침투 후 보호층 추가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2A1D16"/>
                          </a:solidFill>
                          <a:latin typeface="Calibri"/>
                        </a:rPr>
                        <a:t>질감+보호력 절충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2A1D16"/>
                          </a:solidFill>
                          <a:latin typeface="Calibri"/>
                        </a:rPr>
                        <a:t>공정 단계 증가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457200" y="4343400"/>
            <a:ext cx="11247120" cy="2103120"/>
          </a:xfrm>
          <a:prstGeom prst="roundRect">
            <a:avLst>
              <a:gd name="adj" fmla="val 10000"/>
            </a:avLst>
          </a:prstGeom>
          <a:solidFill>
            <a:srgbClr val="F1E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4462272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1250" b="1" i="0">
                <a:solidFill>
                  <a:srgbClr val="45601F"/>
                </a:solidFill>
                <a:latin typeface="Cambria"/>
              </a:rPr>
              <a:t>도장 공정 순서(코팅형 기준)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4800600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1150" b="1" i="0">
                <a:solidFill>
                  <a:srgbClr val="2A1D16"/>
                </a:solidFill>
                <a:latin typeface="Calibri"/>
              </a:rPr>
              <a:t>표면 준비(샌딩) → 샌딩실러(모공 메움) → 사포 재작업(#220) → 중도 → 사포 재작업 → 상도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5349240"/>
            <a:ext cx="107899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indent="-182880" marL="182880">
              <a:lnSpc>
                <a:spcPct val="115000"/>
              </a:lnSpc>
              <a:spcAft>
                <a:spcPts val="400"/>
              </a:spcAft>
              <a:buFont typeface="Arial"/>
              <a:buChar char="•"/>
            </a:pPr>
            <a:r>
              <a:rPr sz="1030" b="0">
                <a:solidFill>
                  <a:srgbClr val="2A1D16"/>
                </a:solidFill>
                <a:latin typeface="Calibri"/>
              </a:rPr>
              <a:t>도장 전 목표 함수율 10~14% 확인 — 높으면 도막 들뜸·백화 위험</a:t>
            </a:r>
          </a:p>
          <a:p>
            <a:pPr algn="l" indent="-182880" marL="182880">
              <a:lnSpc>
                <a:spcPct val="115000"/>
              </a:lnSpc>
              <a:spcAft>
                <a:spcPts val="400"/>
              </a:spcAft>
              <a:buFont typeface="Arial"/>
              <a:buChar char="•"/>
            </a:pPr>
            <a:r>
              <a:rPr sz="1030" b="0">
                <a:solidFill>
                  <a:srgbClr val="2A1D16"/>
                </a:solidFill>
                <a:latin typeface="Calibri"/>
              </a:rPr>
              <a:t>샌딩실러는 환공재처럼 도관이 큰 목재에서 특히 중요(흡수 불균일 방지)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850" b="0" i="0">
                <a:solidFill>
                  <a:srgbClr val="7A6A5A"/>
                </a:solidFill>
                <a:latin typeface="Calibri"/>
              </a:rPr>
              <a:t>목공의 이해 · 상세노트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85855" y="649224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buNone/>
            </a:pPr>
            <a:r>
              <a:rPr sz="850" b="0" i="0">
                <a:solidFill>
                  <a:srgbClr val="7A6A5A"/>
                </a:solidFill>
                <a:latin typeface="Calibri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9144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1150" b="1" i="0">
                <a:solidFill>
                  <a:srgbClr val="45601F"/>
                </a:solidFill>
                <a:latin typeface="Calibri"/>
              </a:rPr>
              <a:t>12장  목재 도장과 보존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03504"/>
            <a:ext cx="11247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2500" b="1" i="0">
                <a:solidFill>
                  <a:srgbClr val="2A1D16"/>
                </a:solidFill>
                <a:latin typeface="Cambria"/>
              </a:rPr>
              <a:t>목재 보존처리 — 야외·구조용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417320"/>
          <a:ext cx="11247118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74366"/>
                <a:gridCol w="3824020"/>
                <a:gridCol w="4948732"/>
              </a:tblGrid>
              <a:tr h="438912">
                <a:tc>
                  <a:txBody>
                    <a:bodyPr wrap="square"/>
                    <a:lstStyle/>
                    <a:p>
                      <a:r>
                        <a:rPr sz="1030" b="1">
                          <a:solidFill>
                            <a:srgbClr val="FFFFFF"/>
                          </a:solidFill>
                          <a:latin typeface="Calibri"/>
                        </a:rPr>
                        <a:t>처리</a:t>
                      </a:r>
                    </a:p>
                  </a:txBody>
                  <a:tcPr marL="73152" marR="73152" marT="27432" marB="27432" anchor="ctr">
                    <a:solidFill>
                      <a:srgbClr val="8D6E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30" b="1">
                          <a:solidFill>
                            <a:srgbClr val="FFFFFF"/>
                          </a:solidFill>
                          <a:latin typeface="Calibri"/>
                        </a:rPr>
                        <a:t>목적</a:t>
                      </a:r>
                    </a:p>
                  </a:txBody>
                  <a:tcPr marL="73152" marR="73152" marT="27432" marB="27432" anchor="ctr">
                    <a:solidFill>
                      <a:srgbClr val="8D6E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30" b="1">
                          <a:solidFill>
                            <a:srgbClr val="FFFFFF"/>
                          </a:solidFill>
                          <a:latin typeface="Calibri"/>
                        </a:rPr>
                        <a:t>방법</a:t>
                      </a:r>
                    </a:p>
                  </a:txBody>
                  <a:tcPr marL="73152" marR="73152" marT="27432" marB="27432" anchor="ctr">
                    <a:solidFill>
                      <a:srgbClr val="8D6E4B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2A1D16"/>
                          </a:solidFill>
                          <a:latin typeface="Calibri"/>
                        </a:rPr>
                        <a:t>방부처리</a:t>
                      </a:r>
                    </a:p>
                  </a:txBody>
                  <a:tcPr marL="73152" marR="73152" marT="27432" marB="27432" anchor="ctr">
                    <a:solidFill>
                      <a:srgbClr val="F1E4C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A1D16"/>
                          </a:solidFill>
                          <a:latin typeface="Calibri"/>
                        </a:rPr>
                        <a:t>부패균·곤충 침입 방지</a:t>
                      </a:r>
                    </a:p>
                  </a:txBody>
                  <a:tcPr marL="73152" marR="73152" marT="27432" marB="27432" anchor="ctr">
                    <a:solidFill>
                      <a:srgbClr val="F1E4C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A1D16"/>
                          </a:solidFill>
                          <a:latin typeface="Calibri"/>
                        </a:rPr>
                        <a:t>가압주입 또는 표면도포(변재가 침투 잘됨)</a:t>
                      </a:r>
                    </a:p>
                  </a:txBody>
                  <a:tcPr marL="73152" marR="73152" marT="27432" marB="27432" anchor="ctr">
                    <a:solidFill>
                      <a:srgbClr val="F1E4CC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2A1D16"/>
                          </a:solidFill>
                          <a:latin typeface="Calibri"/>
                        </a:rPr>
                        <a:t>방염처리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A1D16"/>
                          </a:solidFill>
                          <a:latin typeface="Calibri"/>
                        </a:rPr>
                        <a:t>화재 확산 지연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A1D16"/>
                          </a:solidFill>
                          <a:latin typeface="Calibri"/>
                        </a:rPr>
                        <a:t>표면도포형 또는 침윤형 방염제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2A1D16"/>
                          </a:solidFill>
                          <a:latin typeface="Calibri"/>
                        </a:rPr>
                        <a:t>UV 차단 마감</a:t>
                      </a:r>
                    </a:p>
                  </a:txBody>
                  <a:tcPr marL="73152" marR="73152" marT="27432" marB="27432" anchor="ctr">
                    <a:solidFill>
                      <a:srgbClr val="F1E4C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A1D16"/>
                          </a:solidFill>
                          <a:latin typeface="Calibri"/>
                        </a:rPr>
                        <a:t>은회색 풍화(그레잉) 지연</a:t>
                      </a:r>
                    </a:p>
                  </a:txBody>
                  <a:tcPr marL="73152" marR="73152" marT="27432" marB="27432" anchor="ctr">
                    <a:solidFill>
                      <a:srgbClr val="F1E4C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A1D16"/>
                          </a:solidFill>
                          <a:latin typeface="Calibri"/>
                        </a:rPr>
                        <a:t>UV 흡수제 함유 오일/도료</a:t>
                      </a:r>
                    </a:p>
                  </a:txBody>
                  <a:tcPr marL="73152" marR="73152" marT="27432" marB="27432" anchor="ctr">
                    <a:solidFill>
                      <a:srgbClr val="F1E4CC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2A1D16"/>
                          </a:solidFill>
                          <a:latin typeface="Calibri"/>
                        </a:rPr>
                        <a:t>방수처리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A1D16"/>
                          </a:solidFill>
                          <a:latin typeface="Calibri"/>
                        </a:rPr>
                        <a:t>수분 흡수 차단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A1D16"/>
                          </a:solidFill>
                          <a:latin typeface="Calibri"/>
                        </a:rPr>
                        <a:t>발수제, 오일 마감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457200" y="3886200"/>
            <a:ext cx="11247120" cy="1828800"/>
          </a:xfrm>
          <a:prstGeom prst="roundRect">
            <a:avLst>
              <a:gd name="adj" fmla="val 10000"/>
            </a:avLst>
          </a:prstGeom>
          <a:solidFill>
            <a:srgbClr val="F1E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4114800"/>
            <a:ext cx="1078992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indent="-182880" marL="182880">
              <a:lnSpc>
                <a:spcPct val="115000"/>
              </a:lnSpc>
              <a:spcAft>
                <a:spcPts val="800"/>
              </a:spcAft>
              <a:buFont typeface="Arial"/>
              <a:buChar char="•"/>
            </a:pPr>
            <a:r>
              <a:rPr sz="1100" b="0">
                <a:solidFill>
                  <a:srgbClr val="2A1D16"/>
                </a:solidFill>
                <a:latin typeface="Calibri"/>
              </a:rPr>
              <a:t>가압방부처리 등급: 지면 접촉·침수 여부 등 사용 환경에 따라 방부제 주입량 기준이 다름 — 데크재는 구조재보다 높은 등급 요구</a:t>
            </a:r>
          </a:p>
          <a:p>
            <a:pPr algn="l" indent="-182880" marL="182880">
              <a:lnSpc>
                <a:spcPct val="115000"/>
              </a:lnSpc>
              <a:spcAft>
                <a:spcPts val="800"/>
              </a:spcAft>
              <a:buFont typeface="Arial"/>
              <a:buChar char="•"/>
            </a:pPr>
            <a:r>
              <a:rPr sz="1100" b="0">
                <a:solidFill>
                  <a:srgbClr val="2A1D16"/>
                </a:solidFill>
                <a:latin typeface="Calibri"/>
              </a:rPr>
              <a:t>어떤 처리도 영구 보장은 안 됨 → 정기 점검 + 필요시 재처리가 실질적 장기 대책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850" b="0" i="0">
                <a:solidFill>
                  <a:srgbClr val="7A6A5A"/>
                </a:solidFill>
                <a:latin typeface="Calibri"/>
              </a:rPr>
              <a:t>목공의 이해 · 상세노트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85855" y="649224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buNone/>
            </a:pPr>
            <a:r>
              <a:rPr sz="850" b="0" i="0">
                <a:solidFill>
                  <a:srgbClr val="7A6A5A"/>
                </a:solidFill>
                <a:latin typeface="Calibri"/>
              </a:rP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9144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1150" b="1" i="0">
                <a:solidFill>
                  <a:srgbClr val="45601F"/>
                </a:solidFill>
                <a:latin typeface="Calibri"/>
              </a:rPr>
              <a:t>12장  목재 도장과 보존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03504"/>
            <a:ext cx="11247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2500" b="1" i="0">
                <a:solidFill>
                  <a:srgbClr val="2A1D16"/>
                </a:solidFill>
                <a:latin typeface="Cambria"/>
              </a:rPr>
              <a:t>그림으로 보기 — 도장 4방식</a:t>
            </a:r>
          </a:p>
        </p:txBody>
      </p:sp>
      <p:pic>
        <p:nvPicPr>
          <p:cNvPr id="4" name="Picture 3" descr="12_도장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287" y="1492700"/>
            <a:ext cx="11247120" cy="487843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850" b="0" i="0">
                <a:solidFill>
                  <a:srgbClr val="7A6A5A"/>
                </a:solidFill>
                <a:latin typeface="Calibri"/>
              </a:rPr>
              <a:t>목공의 이해 · 상세노트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9224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buNone/>
            </a:pPr>
            <a:r>
              <a:rPr sz="850" b="0" i="0">
                <a:solidFill>
                  <a:srgbClr val="7A6A5A"/>
                </a:solidFill>
                <a:latin typeface="Calibri"/>
              </a:rP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9144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1150" b="1" i="0">
                <a:solidFill>
                  <a:srgbClr val="45601F"/>
                </a:solidFill>
                <a:latin typeface="Calibri"/>
              </a:rPr>
              <a:t>13장  제재목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03504"/>
            <a:ext cx="11247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2500" b="1" i="0">
                <a:solidFill>
                  <a:srgbClr val="2A1D16"/>
                </a:solidFill>
                <a:latin typeface="Cambria"/>
              </a:rPr>
              <a:t>제재 방식 — 정목과 판목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417320"/>
          <a:ext cx="11247119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3703"/>
                <a:gridCol w="4546708"/>
                <a:gridCol w="4546708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구분</a:t>
                      </a:r>
                    </a:p>
                  </a:txBody>
                  <a:tcPr marL="73152" marR="73152" marT="27432" marB="27432" anchor="ctr">
                    <a:solidFill>
                      <a:srgbClr val="8D6E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정목(Quarter-sawn)</a:t>
                      </a:r>
                    </a:p>
                  </a:txBody>
                  <a:tcPr marL="73152" marR="73152" marT="27432" marB="27432" anchor="ctr">
                    <a:solidFill>
                      <a:srgbClr val="8D6E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판목(Flat-sawn)</a:t>
                      </a:r>
                    </a:p>
                  </a:txBody>
                  <a:tcPr marL="73152" marR="73152" marT="27432" marB="27432" anchor="ctr">
                    <a:solidFill>
                      <a:srgbClr val="8D6E4B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930" b="1">
                          <a:solidFill>
                            <a:srgbClr val="2A1D16"/>
                          </a:solidFill>
                          <a:latin typeface="Calibri"/>
                        </a:rPr>
                        <a:t>절단 각도</a:t>
                      </a:r>
                    </a:p>
                  </a:txBody>
                  <a:tcPr marL="73152" marR="73152" marT="27432" marB="27432" anchor="ctr">
                    <a:solidFill>
                      <a:srgbClr val="F1E4C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30" b="0">
                          <a:solidFill>
                            <a:srgbClr val="2A1D16"/>
                          </a:solidFill>
                          <a:latin typeface="Calibri"/>
                        </a:rPr>
                        <a:t>나이테와 거의 수직</a:t>
                      </a:r>
                    </a:p>
                  </a:txBody>
                  <a:tcPr marL="73152" marR="73152" marT="27432" marB="27432" anchor="ctr">
                    <a:solidFill>
                      <a:srgbClr val="F1E4C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30" b="0">
                          <a:solidFill>
                            <a:srgbClr val="2A1D16"/>
                          </a:solidFill>
                          <a:latin typeface="Calibri"/>
                        </a:rPr>
                        <a:t>나이테와 거의 평행</a:t>
                      </a:r>
                    </a:p>
                  </a:txBody>
                  <a:tcPr marL="73152" marR="73152" marT="27432" marB="27432" anchor="ctr">
                    <a:solidFill>
                      <a:srgbClr val="F1E4CC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930" b="1">
                          <a:solidFill>
                            <a:srgbClr val="2A1D16"/>
                          </a:solidFill>
                          <a:latin typeface="Calibri"/>
                        </a:rPr>
                        <a:t>무늬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30" b="0">
                          <a:solidFill>
                            <a:srgbClr val="2A1D16"/>
                          </a:solidFill>
                          <a:latin typeface="Calibri"/>
                        </a:rPr>
                        <a:t>일정하고 좁은 직선(메디큘러 레이)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30" b="0">
                          <a:solidFill>
                            <a:srgbClr val="2A1D16"/>
                          </a:solidFill>
                          <a:latin typeface="Calibri"/>
                        </a:rPr>
                        <a:t>넓고 화려한 산 무늬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930" b="1">
                          <a:solidFill>
                            <a:srgbClr val="2A1D16"/>
                          </a:solidFill>
                          <a:latin typeface="Calibri"/>
                        </a:rPr>
                        <a:t>치수 안정성</a:t>
                      </a:r>
                    </a:p>
                  </a:txBody>
                  <a:tcPr marL="73152" marR="73152" marT="27432" marB="27432" anchor="ctr">
                    <a:solidFill>
                      <a:srgbClr val="F1E4C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30" b="0">
                          <a:solidFill>
                            <a:srgbClr val="2A1D16"/>
                          </a:solidFill>
                          <a:latin typeface="Calibri"/>
                        </a:rPr>
                        <a:t>높음(접선수축이 두께방향으로만)</a:t>
                      </a:r>
                    </a:p>
                  </a:txBody>
                  <a:tcPr marL="73152" marR="73152" marT="27432" marB="27432" anchor="ctr">
                    <a:solidFill>
                      <a:srgbClr val="F1E4C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30" b="0">
                          <a:solidFill>
                            <a:srgbClr val="2A1D16"/>
                          </a:solidFill>
                          <a:latin typeface="Calibri"/>
                        </a:rPr>
                        <a:t>낮음(접선수축이 폭방향 → 컵핑)</a:t>
                      </a:r>
                    </a:p>
                  </a:txBody>
                  <a:tcPr marL="73152" marR="73152" marT="27432" marB="27432" anchor="ctr">
                    <a:solidFill>
                      <a:srgbClr val="F1E4CC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930" b="1">
                          <a:solidFill>
                            <a:srgbClr val="2A1D16"/>
                          </a:solidFill>
                          <a:latin typeface="Calibri"/>
                        </a:rPr>
                        <a:t>수율·가격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30" b="0">
                          <a:solidFill>
                            <a:srgbClr val="2A1D16"/>
                          </a:solidFill>
                          <a:latin typeface="Calibri"/>
                        </a:rPr>
                        <a:t>수율 낮음 / 가격 높음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30" b="0">
                          <a:solidFill>
                            <a:srgbClr val="2A1D16"/>
                          </a:solidFill>
                          <a:latin typeface="Calibri"/>
                        </a:rPr>
                        <a:t>수율 높음 / 가격 낮음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930" b="1">
                          <a:solidFill>
                            <a:srgbClr val="2A1D16"/>
                          </a:solidFill>
                          <a:latin typeface="Calibri"/>
                        </a:rPr>
                        <a:t>용도</a:t>
                      </a:r>
                    </a:p>
                  </a:txBody>
                  <a:tcPr marL="73152" marR="73152" marT="27432" marB="27432" anchor="ctr">
                    <a:solidFill>
                      <a:srgbClr val="F1E4C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30" b="0">
                          <a:solidFill>
                            <a:srgbClr val="2A1D16"/>
                          </a:solidFill>
                          <a:latin typeface="Calibri"/>
                        </a:rPr>
                        <a:t>고급 가구, 마루판</a:t>
                      </a:r>
                    </a:p>
                  </a:txBody>
                  <a:tcPr marL="73152" marR="73152" marT="27432" marB="27432" anchor="ctr">
                    <a:solidFill>
                      <a:srgbClr val="F1E4C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30" b="0">
                          <a:solidFill>
                            <a:srgbClr val="2A1D16"/>
                          </a:solidFill>
                          <a:latin typeface="Calibri"/>
                        </a:rPr>
                        <a:t>일반 구조재·보편적 가구재</a:t>
                      </a:r>
                    </a:p>
                  </a:txBody>
                  <a:tcPr marL="73152" marR="73152" marT="27432" marB="27432" anchor="ctr">
                    <a:solidFill>
                      <a:srgbClr val="F1E4CC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457200" y="4434840"/>
            <a:ext cx="11247120" cy="2011680"/>
          </a:xfrm>
          <a:prstGeom prst="roundRect">
            <a:avLst>
              <a:gd name="adj" fmla="val 10000"/>
            </a:avLst>
          </a:prstGeom>
          <a:solidFill>
            <a:srgbClr val="F1E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4553712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1250" b="1" i="0">
                <a:solidFill>
                  <a:srgbClr val="45601F"/>
                </a:solidFill>
                <a:latin typeface="Cambria"/>
              </a:rPr>
              <a:t>제재율(수율)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489204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1200" b="1" i="0">
                <a:solidFill>
                  <a:srgbClr val="2A1D16"/>
                </a:solidFill>
                <a:latin typeface="Calibri"/>
              </a:rPr>
              <a:t>제재율(%) = 실제 사용 가능 목재 부피 ÷ 원목 부피 × 100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5303520"/>
            <a:ext cx="1078992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indent="-182880" marL="182880">
              <a:lnSpc>
                <a:spcPct val="115000"/>
              </a:lnSpc>
              <a:spcAft>
                <a:spcPts val="400"/>
              </a:spcAft>
              <a:buFont typeface="Arial"/>
              <a:buChar char="•"/>
            </a:pPr>
            <a:r>
              <a:rPr sz="1030" b="0">
                <a:solidFill>
                  <a:srgbClr val="2A1D16"/>
                </a:solidFill>
                <a:latin typeface="Calibri"/>
              </a:rPr>
              <a:t>손실 요인: 겉껍질, 변재 결함부, 톱날 두께 손실(kerf loss), 옹이·갈라짐 제거</a:t>
            </a:r>
          </a:p>
          <a:p>
            <a:pPr algn="l" indent="-182880" marL="182880">
              <a:lnSpc>
                <a:spcPct val="115000"/>
              </a:lnSpc>
              <a:spcAft>
                <a:spcPts val="400"/>
              </a:spcAft>
              <a:buFont typeface="Arial"/>
              <a:buChar char="•"/>
            </a:pPr>
            <a:r>
              <a:rPr sz="1030" b="0">
                <a:solidFill>
                  <a:srgbClr val="2A1D16"/>
                </a:solidFill>
                <a:latin typeface="Calibri"/>
              </a:rPr>
              <a:t>반정목(Rift-sawn): 정목·판목 중간 각도(약 30~60도) — 무늬 균일 + 수율 개선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850" b="0" i="0">
                <a:solidFill>
                  <a:srgbClr val="7A6A5A"/>
                </a:solidFill>
                <a:latin typeface="Calibri"/>
              </a:rPr>
              <a:t>목공의 이해 · 상세노트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85855" y="649224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buNone/>
            </a:pPr>
            <a:r>
              <a:rPr sz="850" b="0" i="0">
                <a:solidFill>
                  <a:srgbClr val="7A6A5A"/>
                </a:solidFill>
                <a:latin typeface="Calibri"/>
              </a:rP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9144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1150" b="1" i="0">
                <a:solidFill>
                  <a:srgbClr val="45601F"/>
                </a:solidFill>
                <a:latin typeface="Calibri"/>
              </a:rPr>
              <a:t>13장  제재목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03504"/>
            <a:ext cx="11247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2500" b="1" i="0">
                <a:solidFill>
                  <a:srgbClr val="2A1D16"/>
                </a:solidFill>
                <a:latin typeface="Cambria"/>
              </a:rPr>
              <a:t>명목치수 vs 실제치수, 등급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17320"/>
            <a:ext cx="5486400" cy="868680"/>
          </a:xfrm>
          <a:prstGeom prst="roundRect">
            <a:avLst>
              <a:gd name="adj" fmla="val 10000"/>
            </a:avLst>
          </a:prstGeom>
          <a:solidFill>
            <a:srgbClr val="F1E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536192"/>
            <a:ext cx="50292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buNone/>
            </a:pPr>
            <a:r>
              <a:rPr sz="1080" b="1" i="0">
                <a:solidFill>
                  <a:srgbClr val="45601F"/>
                </a:solidFill>
                <a:latin typeface="Calibri"/>
              </a:rPr>
              <a:t>건조(수축)+대패가공(절삭)으로 실제치수는 명목치수보다 작아진다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2423160"/>
          <a:ext cx="548640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3291840"/>
              </a:tblGrid>
              <a:tr h="475488">
                <a:tc>
                  <a:txBody>
                    <a:bodyPr wrap="square"/>
                    <a:lstStyle/>
                    <a:p>
                      <a:r>
                        <a:rPr sz="1080" b="1">
                          <a:solidFill>
                            <a:srgbClr val="FFFFFF"/>
                          </a:solidFill>
                          <a:latin typeface="Calibri"/>
                        </a:rPr>
                        <a:t>명목치수</a:t>
                      </a:r>
                    </a:p>
                  </a:txBody>
                  <a:tcPr marL="73152" marR="73152" marT="27432" marB="27432" anchor="ctr">
                    <a:solidFill>
                      <a:srgbClr val="8D6E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80" b="1">
                          <a:solidFill>
                            <a:srgbClr val="FFFFFF"/>
                          </a:solidFill>
                          <a:latin typeface="Calibri"/>
                        </a:rPr>
                        <a:t>실제치수(대략)</a:t>
                      </a:r>
                    </a:p>
                  </a:txBody>
                  <a:tcPr marL="73152" marR="73152" marT="27432" marB="27432" anchor="ctr">
                    <a:solidFill>
                      <a:srgbClr val="8D6E4B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2A1D16"/>
                          </a:solidFill>
                          <a:latin typeface="Calibri"/>
                        </a:rPr>
                        <a:t>1×(예: 1×4)</a:t>
                      </a:r>
                    </a:p>
                  </a:txBody>
                  <a:tcPr marL="73152" marR="73152" marT="27432" marB="27432" anchor="ctr">
                    <a:solidFill>
                      <a:srgbClr val="F1E4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A1D16"/>
                          </a:solidFill>
                          <a:latin typeface="Calibri"/>
                        </a:rPr>
                        <a:t>약 19mm(3/4") 두께</a:t>
                      </a:r>
                    </a:p>
                  </a:txBody>
                  <a:tcPr marL="73152" marR="73152" marT="27432" marB="27432" anchor="ctr">
                    <a:solidFill>
                      <a:srgbClr val="F1E4CC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2A1D16"/>
                          </a:solidFill>
                          <a:latin typeface="Calibri"/>
                        </a:rPr>
                        <a:t>2×4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A1D16"/>
                          </a:solidFill>
                          <a:latin typeface="Calibri"/>
                        </a:rPr>
                        <a:t>약 38×89mm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2A1D16"/>
                          </a:solidFill>
                          <a:latin typeface="Calibri"/>
                        </a:rPr>
                        <a:t>2×6</a:t>
                      </a:r>
                    </a:p>
                  </a:txBody>
                  <a:tcPr marL="73152" marR="73152" marT="27432" marB="27432" anchor="ctr">
                    <a:solidFill>
                      <a:srgbClr val="F1E4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A1D16"/>
                          </a:solidFill>
                          <a:latin typeface="Calibri"/>
                        </a:rPr>
                        <a:t>약 38×140mm</a:t>
                      </a:r>
                    </a:p>
                  </a:txBody>
                  <a:tcPr marL="73152" marR="73152" marT="27432" marB="27432" anchor="ctr">
                    <a:solidFill>
                      <a:srgbClr val="F1E4CC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2A1D16"/>
                          </a:solidFill>
                          <a:latin typeface="Calibri"/>
                        </a:rPr>
                        <a:t>2×8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A1D16"/>
                          </a:solidFill>
                          <a:latin typeface="Calibri"/>
                        </a:rPr>
                        <a:t>약 38×184mm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217920" y="1417320"/>
            <a:ext cx="5486400" cy="4846320"/>
          </a:xfrm>
          <a:prstGeom prst="roundRect">
            <a:avLst>
              <a:gd name="adj" fmla="val 10000"/>
            </a:avLst>
          </a:prstGeom>
          <a:solidFill>
            <a:srgbClr val="F1E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536192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1250" b="1" i="0">
                <a:solidFill>
                  <a:srgbClr val="8D6E4B"/>
                </a:solidFill>
                <a:latin typeface="Cambria"/>
              </a:rPr>
              <a:t>제재목 분류와 등급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1856231"/>
            <a:ext cx="502920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indent="-182880" marL="182880">
              <a:lnSpc>
                <a:spcPct val="115000"/>
              </a:lnSpc>
              <a:spcAft>
                <a:spcPts val="1000"/>
              </a:spcAft>
              <a:buFont typeface="Arial"/>
              <a:buChar char="•"/>
            </a:pPr>
            <a:r>
              <a:rPr sz="1100" b="0">
                <a:solidFill>
                  <a:srgbClr val="2A1D16"/>
                </a:solidFill>
                <a:latin typeface="Calibri"/>
              </a:rPr>
              <a:t>용도별 분류: 구조용재 / 마감재(몰딩·트림) / 가구용재</a:t>
            </a:r>
          </a:p>
          <a:p>
            <a:pPr algn="l" indent="-182880" marL="182880">
              <a:lnSpc>
                <a:spcPct val="115000"/>
              </a:lnSpc>
              <a:spcAft>
                <a:spcPts val="1000"/>
              </a:spcAft>
              <a:buFont typeface="Arial"/>
              <a:buChar char="•"/>
            </a:pPr>
            <a:r>
              <a:rPr sz="1100" b="0">
                <a:solidFill>
                  <a:srgbClr val="2A1D16"/>
                </a:solidFill>
                <a:latin typeface="Calibri"/>
              </a:rPr>
              <a:t>등급 기준: 옹이 크기·개수, 갈라짐·할렬, 결 기울기, 뒤틀림(bow·crook·twist·cup), 변색·부후 여부</a:t>
            </a:r>
          </a:p>
          <a:p>
            <a:pPr algn="l" indent="-182880" marL="182880">
              <a:lnSpc>
                <a:spcPct val="115000"/>
              </a:lnSpc>
              <a:spcAft>
                <a:spcPts val="1000"/>
              </a:spcAft>
              <a:buFont typeface="Arial"/>
              <a:buChar char="•"/>
            </a:pPr>
            <a:r>
              <a:rPr sz="1100" b="0">
                <a:solidFill>
                  <a:srgbClr val="2A1D16"/>
                </a:solidFill>
                <a:latin typeface="Calibri"/>
              </a:rPr>
              <a:t>등급↑ → 결함 허용치 엄격, 가격↑, 구조재 신뢰도↑(4장 등급과 연결)</a:t>
            </a:r>
          </a:p>
          <a:p>
            <a:pPr algn="l" indent="-182880" marL="182880">
              <a:lnSpc>
                <a:spcPct val="115000"/>
              </a:lnSpc>
              <a:spcAft>
                <a:spcPts val="1000"/>
              </a:spcAft>
              <a:buFont typeface="Arial"/>
              <a:buChar char="•"/>
            </a:pPr>
            <a:r>
              <a:rPr sz="1100" b="0">
                <a:solidFill>
                  <a:srgbClr val="2A1D16"/>
                </a:solidFill>
                <a:latin typeface="Calibri"/>
              </a:rPr>
              <a:t>함수율 표시: 등급 스탬프에 S-GRN(생재,19%↑) / S-DRY(건조재,19%↓) / KD(인공건조) 등이 함께 표기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850" b="0" i="0">
                <a:solidFill>
                  <a:srgbClr val="7A6A5A"/>
                </a:solidFill>
                <a:latin typeface="Calibri"/>
              </a:rPr>
              <a:t>목공의 이해 · 상세노트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85855" y="649224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buNone/>
            </a:pPr>
            <a:r>
              <a:rPr sz="850" b="0" i="0">
                <a:solidFill>
                  <a:srgbClr val="7A6A5A"/>
                </a:solidFill>
                <a:latin typeface="Calibri"/>
              </a:rPr>
              <a:t>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9144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1150" b="1" i="0">
                <a:solidFill>
                  <a:srgbClr val="45601F"/>
                </a:solidFill>
                <a:latin typeface="Calibri"/>
              </a:rPr>
              <a:t>13장  제재목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03504"/>
            <a:ext cx="11247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2500" b="1" i="0">
                <a:solidFill>
                  <a:srgbClr val="2A1D16"/>
                </a:solidFill>
                <a:latin typeface="Cambria"/>
              </a:rPr>
              <a:t>그림으로 보기 — 정목과 판목</a:t>
            </a:r>
          </a:p>
        </p:txBody>
      </p:sp>
      <p:pic>
        <p:nvPicPr>
          <p:cNvPr id="4" name="Picture 3" descr="13_정목판목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287" y="1492700"/>
            <a:ext cx="11247120" cy="487843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850" b="0" i="0">
                <a:solidFill>
                  <a:srgbClr val="7A6A5A"/>
                </a:solidFill>
                <a:latin typeface="Calibri"/>
              </a:rPr>
              <a:t>목공의 이해 · 상세노트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9224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buNone/>
            </a:pPr>
            <a:r>
              <a:rPr sz="850" b="0" i="0">
                <a:solidFill>
                  <a:srgbClr val="7A6A5A"/>
                </a:solidFill>
                <a:latin typeface="Calibri"/>
              </a:rPr>
              <a:t>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9144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1150" b="1" i="0">
                <a:solidFill>
                  <a:srgbClr val="45601F"/>
                </a:solidFill>
                <a:latin typeface="Calibri"/>
              </a:rPr>
              <a:t>14장  단판과 합판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03504"/>
            <a:ext cx="11247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2500" b="1" i="0">
                <a:solidFill>
                  <a:srgbClr val="2A1D16"/>
                </a:solidFill>
                <a:latin typeface="Cambria"/>
              </a:rPr>
              <a:t>단판 제조와 합판의 구조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417320"/>
          <a:ext cx="11247118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78178"/>
                <a:gridCol w="4384470"/>
                <a:gridCol w="4384470"/>
              </a:tblGrid>
              <a:tr h="480060">
                <a:tc>
                  <a:txBody>
                    <a:bodyPr wrap="square"/>
                    <a:lstStyle/>
                    <a:p>
                      <a:r>
                        <a:rPr sz="1030" b="1">
                          <a:solidFill>
                            <a:srgbClr val="FFFFFF"/>
                          </a:solidFill>
                          <a:latin typeface="Calibri"/>
                        </a:rPr>
                        <a:t>방식</a:t>
                      </a:r>
                    </a:p>
                  </a:txBody>
                  <a:tcPr marL="73152" marR="73152" marT="27432" marB="27432" anchor="ctr">
                    <a:solidFill>
                      <a:srgbClr val="8D6E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30" b="1">
                          <a:solidFill>
                            <a:srgbClr val="FFFFFF"/>
                          </a:solidFill>
                          <a:latin typeface="Calibri"/>
                        </a:rPr>
                        <a:t>원리</a:t>
                      </a:r>
                    </a:p>
                  </a:txBody>
                  <a:tcPr marL="73152" marR="73152" marT="27432" marB="27432" anchor="ctr">
                    <a:solidFill>
                      <a:srgbClr val="8D6E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30" b="1">
                          <a:solidFill>
                            <a:srgbClr val="FFFFFF"/>
                          </a:solidFill>
                          <a:latin typeface="Calibri"/>
                        </a:rPr>
                        <a:t>특징·용도</a:t>
                      </a:r>
                    </a:p>
                  </a:txBody>
                  <a:tcPr marL="73152" marR="73152" marT="27432" marB="27432" anchor="ctr">
                    <a:solidFill>
                      <a:srgbClr val="8D6E4B"/>
                    </a:solidFill>
                  </a:tcPr>
                </a:tc>
              </a:tr>
              <a:tr h="480060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2A1D16"/>
                          </a:solidFill>
                          <a:latin typeface="Calibri"/>
                        </a:rPr>
                        <a:t>로터리컷</a:t>
                      </a:r>
                    </a:p>
                  </a:txBody>
                  <a:tcPr marL="73152" marR="73152" marT="27432" marB="27432" anchor="ctr">
                    <a:solidFill>
                      <a:srgbClr val="F1E4C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A1D16"/>
                          </a:solidFill>
                          <a:latin typeface="Calibri"/>
                        </a:rPr>
                        <a:t>원목을 회전시키며 연속으로 얇게 벗겨냄</a:t>
                      </a:r>
                    </a:p>
                  </a:txBody>
                  <a:tcPr marL="73152" marR="73152" marT="27432" marB="27432" anchor="ctr">
                    <a:solidFill>
                      <a:srgbClr val="F1E4C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A1D16"/>
                          </a:solidFill>
                          <a:latin typeface="Calibri"/>
                        </a:rPr>
                        <a:t>넓은 판 효율 생산, 소용돌이 무늬 — 합판용</a:t>
                      </a:r>
                    </a:p>
                  </a:txBody>
                  <a:tcPr marL="73152" marR="73152" marT="27432" marB="27432" anchor="ctr">
                    <a:solidFill>
                      <a:srgbClr val="F1E4CC"/>
                    </a:solidFill>
                  </a:tcPr>
                </a:tc>
              </a:tr>
              <a:tr h="480060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2A1D16"/>
                          </a:solidFill>
                          <a:latin typeface="Calibri"/>
                        </a:rPr>
                        <a:t>슬라이싱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A1D16"/>
                          </a:solidFill>
                          <a:latin typeface="Calibri"/>
                        </a:rPr>
                        <a:t>원목을 얇게 평행하게 썰어냄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A1D16"/>
                          </a:solidFill>
                          <a:latin typeface="Calibri"/>
                        </a:rPr>
                        <a:t>정목/판목 방향에 따른 고급 무늬 — 화장합판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2A1D16"/>
                          </a:solidFill>
                          <a:latin typeface="Calibri"/>
                        </a:rPr>
                        <a:t>하프라운드 슬라이싱</a:t>
                      </a:r>
                    </a:p>
                  </a:txBody>
                  <a:tcPr marL="73152" marR="73152" marT="27432" marB="27432" anchor="ctr">
                    <a:solidFill>
                      <a:srgbClr val="F1E4C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A1D16"/>
                          </a:solidFill>
                          <a:latin typeface="Calibri"/>
                        </a:rPr>
                        <a:t>반원목을 축에서 살짝 벗어나 슬라이싱</a:t>
                      </a:r>
                    </a:p>
                  </a:txBody>
                  <a:tcPr marL="73152" marR="73152" marT="27432" marB="27432" anchor="ctr">
                    <a:solidFill>
                      <a:srgbClr val="F1E4C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A1D16"/>
                          </a:solidFill>
                          <a:latin typeface="Calibri"/>
                        </a:rPr>
                        <a:t>로터리·슬라이싱 중간 무늬</a:t>
                      </a:r>
                    </a:p>
                  </a:txBody>
                  <a:tcPr marL="73152" marR="73152" marT="27432" marB="27432" anchor="ctr">
                    <a:solidFill>
                      <a:srgbClr val="F1E4CC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457200" y="3520440"/>
            <a:ext cx="11247120" cy="2926080"/>
          </a:xfrm>
          <a:prstGeom prst="roundRect">
            <a:avLst>
              <a:gd name="adj" fmla="val 10000"/>
            </a:avLst>
          </a:prstGeom>
          <a:solidFill>
            <a:srgbClr val="F1E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3639312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1250" b="1" i="0">
                <a:solidFill>
                  <a:srgbClr val="45601F"/>
                </a:solidFill>
                <a:latin typeface="Cambria"/>
              </a:rPr>
              <a:t>합판(Plywood)의 구조 원리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959352"/>
            <a:ext cx="1078992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indent="-182880" marL="182880">
              <a:lnSpc>
                <a:spcPct val="115000"/>
              </a:lnSpc>
              <a:spcAft>
                <a:spcPts val="700"/>
              </a:spcAft>
              <a:buFont typeface="Arial"/>
              <a:buChar char="•"/>
            </a:pPr>
            <a:r>
              <a:rPr sz="1050" b="0">
                <a:solidFill>
                  <a:srgbClr val="2A1D16"/>
                </a:solidFill>
                <a:latin typeface="Calibri"/>
              </a:rPr>
              <a:t>홀수 겹 적층: 3,5,7… 겹으로 쌓아 표면 두 겹의 결방향이 같도록(대칭) — 짝수 겹은 뒤틀림 유발</a:t>
            </a:r>
          </a:p>
          <a:p>
            <a:pPr algn="l" indent="-182880" marL="182880">
              <a:lnSpc>
                <a:spcPct val="115000"/>
              </a:lnSpc>
              <a:spcAft>
                <a:spcPts val="700"/>
              </a:spcAft>
              <a:buFont typeface="Arial"/>
              <a:buChar char="•"/>
            </a:pPr>
            <a:r>
              <a:rPr sz="1050" b="0">
                <a:solidFill>
                  <a:srgbClr val="2A1D16"/>
                </a:solidFill>
                <a:latin typeface="Calibri"/>
              </a:rPr>
              <a:t>결 방향 직교배치(cross-lamination): 인접 겹마다 섬유방향 90도 교차 → 이방성 상쇄, 치수안정성 확보</a:t>
            </a:r>
          </a:p>
          <a:p>
            <a:pPr algn="l" indent="-182880" marL="182880">
              <a:lnSpc>
                <a:spcPct val="115000"/>
              </a:lnSpc>
              <a:spcAft>
                <a:spcPts val="700"/>
              </a:spcAft>
              <a:buFont typeface="Arial"/>
              <a:buChar char="•"/>
            </a:pPr>
            <a:r>
              <a:rPr sz="1050" b="0">
                <a:solidFill>
                  <a:srgbClr val="2A1D16"/>
                </a:solidFill>
                <a:latin typeface="Calibri"/>
              </a:rPr>
              <a:t>장점: 방향별 강도차 작음, 넓은 무이음 판 생산, 함수율 변화에 치수변화 작음, 결함 분산</a:t>
            </a:r>
          </a:p>
          <a:p>
            <a:pPr algn="l" indent="-182880" marL="182880">
              <a:lnSpc>
                <a:spcPct val="115000"/>
              </a:lnSpc>
              <a:spcAft>
                <a:spcPts val="700"/>
              </a:spcAft>
              <a:buFont typeface="Arial"/>
              <a:buChar char="•"/>
            </a:pPr>
            <a:r>
              <a:rPr sz="1050" b="0">
                <a:solidFill>
                  <a:srgbClr val="2A1D16"/>
                </a:solidFill>
                <a:latin typeface="Calibri"/>
              </a:rPr>
              <a:t>등급: 표면등급(옹이·패치 균일도)과 접착제 내수성 등급(UF=실내용 / PF=내수·구조용)을 함께 확인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850" b="0" i="0">
                <a:solidFill>
                  <a:srgbClr val="7A6A5A"/>
                </a:solidFill>
                <a:latin typeface="Calibri"/>
              </a:rPr>
              <a:t>목공의 이해 · 상세노트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85855" y="649224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buNone/>
            </a:pPr>
            <a:r>
              <a:rPr sz="850" b="0" i="0">
                <a:solidFill>
                  <a:srgbClr val="7A6A5A"/>
                </a:solidFill>
                <a:latin typeface="Calibri"/>
              </a:rPr>
              <a:t>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9144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1150" b="1" i="0">
                <a:solidFill>
                  <a:srgbClr val="45601F"/>
                </a:solidFill>
                <a:latin typeface="Calibri"/>
              </a:rPr>
              <a:t>14장  단판과 합판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03504"/>
            <a:ext cx="11247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2500" b="1" i="0">
                <a:solidFill>
                  <a:srgbClr val="2A1D16"/>
                </a:solidFill>
                <a:latin typeface="Cambria"/>
              </a:rPr>
              <a:t>그림으로 보기 — 단판 제조와 직교적층 구조</a:t>
            </a:r>
          </a:p>
        </p:txBody>
      </p:sp>
      <p:pic>
        <p:nvPicPr>
          <p:cNvPr id="4" name="Picture 3" descr="14_합판구조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287" y="1492700"/>
            <a:ext cx="11247120" cy="487843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850" b="0" i="0">
                <a:solidFill>
                  <a:srgbClr val="7A6A5A"/>
                </a:solidFill>
                <a:latin typeface="Calibri"/>
              </a:rPr>
              <a:t>목공의 이해 · 상세노트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9224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buNone/>
            </a:pPr>
            <a:r>
              <a:rPr sz="850" b="0" i="0">
                <a:solidFill>
                  <a:srgbClr val="7A6A5A"/>
                </a:solidFill>
                <a:latin typeface="Calibri"/>
              </a:rPr>
              <a:t>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9144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1150" b="1" i="0">
                <a:solidFill>
                  <a:srgbClr val="45601F"/>
                </a:solidFill>
                <a:latin typeface="Calibri"/>
              </a:rPr>
              <a:t>15장  복합재 패널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03504"/>
            <a:ext cx="11247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2500" b="1" i="0">
                <a:solidFill>
                  <a:srgbClr val="2A1D16"/>
                </a:solidFill>
                <a:latin typeface="Cambria"/>
              </a:rPr>
              <a:t>파티클보드 · OSB · 섬유판 비교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417320"/>
          <a:ext cx="11247117" cy="42062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39158"/>
                <a:gridCol w="2908737"/>
                <a:gridCol w="3102653"/>
                <a:gridCol w="3296569"/>
              </a:tblGrid>
              <a:tr h="600891">
                <a:tc>
                  <a:txBody>
                    <a:bodyPr wrap="square"/>
                    <a:lstStyle/>
                    <a:p>
                      <a:r>
                        <a:rPr sz="980" b="1">
                          <a:solidFill>
                            <a:srgbClr val="FFFFFF"/>
                          </a:solidFill>
                          <a:latin typeface="Calibri"/>
                        </a:rPr>
                        <a:t>구분</a:t>
                      </a:r>
                    </a:p>
                  </a:txBody>
                  <a:tcPr marL="73152" marR="73152" marT="27432" marB="27432" anchor="ctr">
                    <a:solidFill>
                      <a:srgbClr val="8D6E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80" b="1">
                          <a:solidFill>
                            <a:srgbClr val="FFFFFF"/>
                          </a:solidFill>
                          <a:latin typeface="Calibri"/>
                        </a:rPr>
                        <a:t>파티클보드(PB)</a:t>
                      </a:r>
                    </a:p>
                  </a:txBody>
                  <a:tcPr marL="73152" marR="73152" marT="27432" marB="27432" anchor="ctr">
                    <a:solidFill>
                      <a:srgbClr val="8D6E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80" b="1">
                          <a:solidFill>
                            <a:srgbClr val="FFFFFF"/>
                          </a:solidFill>
                          <a:latin typeface="Calibri"/>
                        </a:rPr>
                        <a:t>OSB</a:t>
                      </a:r>
                    </a:p>
                  </a:txBody>
                  <a:tcPr marL="73152" marR="73152" marT="27432" marB="27432" anchor="ctr">
                    <a:solidFill>
                      <a:srgbClr val="8D6E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80" b="1">
                          <a:solidFill>
                            <a:srgbClr val="FFFFFF"/>
                          </a:solidFill>
                          <a:latin typeface="Calibri"/>
                        </a:rPr>
                        <a:t>섬유판(MDF/HDF)</a:t>
                      </a:r>
                    </a:p>
                  </a:txBody>
                  <a:tcPr marL="73152" marR="73152" marT="27432" marB="27432" anchor="ctr">
                    <a:solidFill>
                      <a:srgbClr val="8D6E4B"/>
                    </a:solidFill>
                  </a:tcPr>
                </a:tc>
              </a:tr>
              <a:tr h="600891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2A1D16"/>
                          </a:solidFill>
                          <a:latin typeface="Calibri"/>
                        </a:rPr>
                        <a:t>원재료</a:t>
                      </a:r>
                    </a:p>
                  </a:txBody>
                  <a:tcPr marL="73152" marR="73152" marT="27432" marB="27432" anchor="ctr">
                    <a:solidFill>
                      <a:srgbClr val="F1E4C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2A1D16"/>
                          </a:solidFill>
                          <a:latin typeface="Calibri"/>
                        </a:rPr>
                        <a:t>나무 조각(파티클)</a:t>
                      </a:r>
                    </a:p>
                  </a:txBody>
                  <a:tcPr marL="73152" marR="73152" marT="27432" marB="27432" anchor="ctr">
                    <a:solidFill>
                      <a:srgbClr val="F1E4C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2A1D16"/>
                          </a:solidFill>
                          <a:latin typeface="Calibri"/>
                        </a:rPr>
                        <a:t>얇고 긴 조각(스트랜드)</a:t>
                      </a:r>
                    </a:p>
                  </a:txBody>
                  <a:tcPr marL="73152" marR="73152" marT="27432" marB="27432" anchor="ctr">
                    <a:solidFill>
                      <a:srgbClr val="F1E4C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2A1D16"/>
                          </a:solidFill>
                          <a:latin typeface="Calibri"/>
                        </a:rPr>
                        <a:t>나무섬유(펄프화 수준)</a:t>
                      </a:r>
                    </a:p>
                  </a:txBody>
                  <a:tcPr marL="73152" marR="73152" marT="27432" marB="27432" anchor="ctr">
                    <a:solidFill>
                      <a:srgbClr val="F1E4CC"/>
                    </a:solidFill>
                  </a:tcPr>
                </a:tc>
              </a:tr>
              <a:tr h="600891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2A1D16"/>
                          </a:solidFill>
                          <a:latin typeface="Calibri"/>
                        </a:rPr>
                        <a:t>배열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2A1D16"/>
                          </a:solidFill>
                          <a:latin typeface="Calibri"/>
                        </a:rPr>
                        <a:t>무작위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2A1D16"/>
                          </a:solidFill>
                          <a:latin typeface="Calibri"/>
                        </a:rPr>
                        <a:t>층마다 방향 배향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2A1D16"/>
                          </a:solidFill>
                          <a:latin typeface="Calibri"/>
                        </a:rPr>
                        <a:t>무작위(균질)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600891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2A1D16"/>
                          </a:solidFill>
                          <a:latin typeface="Calibri"/>
                        </a:rPr>
                        <a:t>밀도(대략)</a:t>
                      </a:r>
                    </a:p>
                  </a:txBody>
                  <a:tcPr marL="73152" marR="73152" marT="27432" marB="27432" anchor="ctr">
                    <a:solidFill>
                      <a:srgbClr val="F1E4C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2A1D16"/>
                          </a:solidFill>
                          <a:latin typeface="Calibri"/>
                        </a:rPr>
                        <a:t>0.6~0.7</a:t>
                      </a:r>
                    </a:p>
                  </a:txBody>
                  <a:tcPr marL="73152" marR="73152" marT="27432" marB="27432" anchor="ctr">
                    <a:solidFill>
                      <a:srgbClr val="F1E4C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2A1D16"/>
                          </a:solidFill>
                          <a:latin typeface="Calibri"/>
                        </a:rPr>
                        <a:t>0.6~0.7</a:t>
                      </a:r>
                    </a:p>
                  </a:txBody>
                  <a:tcPr marL="73152" marR="73152" marT="27432" marB="27432" anchor="ctr">
                    <a:solidFill>
                      <a:srgbClr val="F1E4C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2A1D16"/>
                          </a:solidFill>
                          <a:latin typeface="Calibri"/>
                        </a:rPr>
                        <a:t>MDF 0.65~0.8 / HDF 0.8↑</a:t>
                      </a:r>
                    </a:p>
                  </a:txBody>
                  <a:tcPr marL="73152" marR="73152" marT="27432" marB="27432" anchor="ctr">
                    <a:solidFill>
                      <a:srgbClr val="F1E4CC"/>
                    </a:solidFill>
                  </a:tcPr>
                </a:tc>
              </a:tr>
              <a:tr h="600891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2A1D16"/>
                          </a:solidFill>
                          <a:latin typeface="Calibri"/>
                        </a:rPr>
                        <a:t>표면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2A1D16"/>
                          </a:solidFill>
                          <a:latin typeface="Calibri"/>
                        </a:rPr>
                        <a:t>다소 거침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2A1D16"/>
                          </a:solidFill>
                          <a:latin typeface="Calibri"/>
                        </a:rPr>
                        <a:t>거침(마감 최소화)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2A1D16"/>
                          </a:solidFill>
                          <a:latin typeface="Calibri"/>
                        </a:rPr>
                        <a:t>매우 매끄러움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600891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2A1D16"/>
                          </a:solidFill>
                          <a:latin typeface="Calibri"/>
                        </a:rPr>
                        <a:t>강도(휨)</a:t>
                      </a:r>
                    </a:p>
                  </a:txBody>
                  <a:tcPr marL="73152" marR="73152" marT="27432" marB="27432" anchor="ctr">
                    <a:solidFill>
                      <a:srgbClr val="F1E4C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2A1D16"/>
                          </a:solidFill>
                          <a:latin typeface="Calibri"/>
                        </a:rPr>
                        <a:t>낮음</a:t>
                      </a:r>
                    </a:p>
                  </a:txBody>
                  <a:tcPr marL="73152" marR="73152" marT="27432" marB="27432" anchor="ctr">
                    <a:solidFill>
                      <a:srgbClr val="F1E4C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2A1D16"/>
                          </a:solidFill>
                          <a:latin typeface="Calibri"/>
                        </a:rPr>
                        <a:t>구조용 강도 확보</a:t>
                      </a:r>
                    </a:p>
                  </a:txBody>
                  <a:tcPr marL="73152" marR="73152" marT="27432" marB="27432" anchor="ctr">
                    <a:solidFill>
                      <a:srgbClr val="F1E4C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2A1D16"/>
                          </a:solidFill>
                          <a:latin typeface="Calibri"/>
                        </a:rPr>
                        <a:t>PB보다 우수</a:t>
                      </a:r>
                    </a:p>
                  </a:txBody>
                  <a:tcPr marL="73152" marR="73152" marT="27432" marB="27432" anchor="ctr">
                    <a:solidFill>
                      <a:srgbClr val="F1E4CC"/>
                    </a:solidFill>
                  </a:tcPr>
                </a:tc>
              </a:tr>
              <a:tr h="600891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2A1D16"/>
                          </a:solidFill>
                          <a:latin typeface="Calibri"/>
                        </a:rPr>
                        <a:t>주 용도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2A1D16"/>
                          </a:solidFill>
                          <a:latin typeface="Calibri"/>
                        </a:rPr>
                        <a:t>가구 내부재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2A1D16"/>
                          </a:solidFill>
                          <a:latin typeface="Calibri"/>
                        </a:rPr>
                        <a:t>지붕·벽·바닥 구조용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2A1D16"/>
                          </a:solidFill>
                          <a:latin typeface="Calibri"/>
                        </a:rPr>
                        <a:t>도장 가구, 정밀 CNC 가공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850" b="0" i="0">
                <a:solidFill>
                  <a:srgbClr val="7A6A5A"/>
                </a:solidFill>
                <a:latin typeface="Calibri"/>
              </a:rPr>
              <a:t>목공의 이해 · 상세노트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9224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buNone/>
            </a:pPr>
            <a:r>
              <a:rPr sz="850" b="0" i="0">
                <a:solidFill>
                  <a:srgbClr val="7A6A5A"/>
                </a:solidFill>
                <a:latin typeface="Calibri"/>
              </a:rPr>
              <a:t>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9144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1150" b="1" i="0">
                <a:solidFill>
                  <a:srgbClr val="45601F"/>
                </a:solidFill>
                <a:latin typeface="Calibri"/>
              </a:rPr>
              <a:t>15장  복합재 패널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03504"/>
            <a:ext cx="11247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2500" b="1" i="0">
                <a:solidFill>
                  <a:srgbClr val="2A1D16"/>
                </a:solidFill>
                <a:latin typeface="Cambria"/>
              </a:rPr>
              <a:t>그림으로 보기 — PB·OSB·MDF 비교</a:t>
            </a:r>
          </a:p>
        </p:txBody>
      </p:sp>
      <p:pic>
        <p:nvPicPr>
          <p:cNvPr id="4" name="Picture 3" descr="15_복합재패널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287" y="1492700"/>
            <a:ext cx="11247120" cy="487843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850" b="0" i="0">
                <a:solidFill>
                  <a:srgbClr val="7A6A5A"/>
                </a:solidFill>
                <a:latin typeface="Calibri"/>
              </a:rPr>
              <a:t>목공의 이해 · 상세노트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9224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buNone/>
            </a:pPr>
            <a:r>
              <a:rPr sz="850" b="0" i="0">
                <a:solidFill>
                  <a:srgbClr val="7A6A5A"/>
                </a:solidFill>
                <a:latin typeface="Calibri"/>
              </a:rPr>
              <a:t>44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9144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1150" b="1" i="0">
                <a:solidFill>
                  <a:srgbClr val="45601F"/>
                </a:solidFill>
                <a:latin typeface="Calibri"/>
              </a:rPr>
              <a:t>16장  집성접합 제재목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03504"/>
            <a:ext cx="11247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2500" b="1" i="0">
                <a:solidFill>
                  <a:srgbClr val="2A1D16"/>
                </a:solidFill>
                <a:latin typeface="Cambria"/>
              </a:rPr>
              <a:t>구조용 집성재와 I자보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17320"/>
            <a:ext cx="5486400" cy="4846320"/>
          </a:xfrm>
          <a:prstGeom prst="roundRect">
            <a:avLst>
              <a:gd name="adj" fmla="val 10000"/>
            </a:avLst>
          </a:prstGeom>
          <a:solidFill>
            <a:srgbClr val="F1E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536192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1250" b="1" i="0">
                <a:solidFill>
                  <a:srgbClr val="45601F"/>
                </a:solidFill>
                <a:latin typeface="Cambria"/>
              </a:rPr>
              <a:t>구조용 집성재(Glulam)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856231"/>
            <a:ext cx="502920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indent="-182880" marL="182880">
              <a:lnSpc>
                <a:spcPct val="115000"/>
              </a:lnSpc>
              <a:spcAft>
                <a:spcPts val="1000"/>
              </a:spcAft>
              <a:buFont typeface="Arial"/>
              <a:buChar char="•"/>
            </a:pPr>
            <a:r>
              <a:rPr sz="1100" b="0">
                <a:solidFill>
                  <a:srgbClr val="2A1D16"/>
                </a:solidFill>
                <a:latin typeface="Calibri"/>
              </a:rPr>
              <a:t>얇은 판재(라미나, 두께 30~45mm)를 결 방향 나란히 접착 적층</a:t>
            </a:r>
          </a:p>
          <a:p>
            <a:pPr algn="l" indent="-182880" marL="182880">
              <a:lnSpc>
                <a:spcPct val="115000"/>
              </a:lnSpc>
              <a:spcAft>
                <a:spcPts val="1000"/>
              </a:spcAft>
              <a:buFont typeface="Arial"/>
              <a:buChar char="•"/>
            </a:pPr>
            <a:r>
              <a:rPr sz="1100" b="0">
                <a:solidFill>
                  <a:srgbClr val="2A1D16"/>
                </a:solidFill>
                <a:latin typeface="Calibri"/>
              </a:rPr>
              <a:t>길이 부족분은 핑거조인트로 연결</a:t>
            </a:r>
          </a:p>
          <a:p>
            <a:pPr algn="l" indent="-182880" marL="182880">
              <a:lnSpc>
                <a:spcPct val="115000"/>
              </a:lnSpc>
              <a:spcAft>
                <a:spcPts val="1000"/>
              </a:spcAft>
              <a:buFont typeface="Arial"/>
              <a:buChar char="•"/>
            </a:pPr>
            <a:r>
              <a:rPr sz="1100" b="0">
                <a:solidFill>
                  <a:srgbClr val="2A1D16"/>
                </a:solidFill>
                <a:latin typeface="Calibri"/>
              </a:rPr>
              <a:t>장점: 원목 한계를 넘는 큰 단면·긴 길이 가능 / 결함을 저강도 위치(중립축)에 재배치 / 곡선(아치) 제작 가능</a:t>
            </a:r>
          </a:p>
          <a:p>
            <a:pPr algn="l" indent="-182880" marL="182880">
              <a:lnSpc>
                <a:spcPct val="115000"/>
              </a:lnSpc>
              <a:spcAft>
                <a:spcPts val="1000"/>
              </a:spcAft>
              <a:buFont typeface="Arial"/>
              <a:buChar char="•"/>
            </a:pPr>
            <a:r>
              <a:rPr sz="1100" b="0">
                <a:solidFill>
                  <a:srgbClr val="2A1D16"/>
                </a:solidFill>
                <a:latin typeface="Calibri"/>
              </a:rPr>
              <a:t>용도: 대형 지붕보, 아치, 기둥(중목구조·대형목구조 핵심)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17320"/>
            <a:ext cx="5486400" cy="4846320"/>
          </a:xfrm>
          <a:prstGeom prst="roundRect">
            <a:avLst>
              <a:gd name="adj" fmla="val 10000"/>
            </a:avLst>
          </a:prstGeom>
          <a:solidFill>
            <a:srgbClr val="F1E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536192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1250" b="1" i="0">
                <a:solidFill>
                  <a:srgbClr val="8D6E4B"/>
                </a:solidFill>
                <a:latin typeface="Cambria"/>
              </a:rPr>
              <a:t>I자보(I-joist)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1856231"/>
            <a:ext cx="502920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indent="-182880" marL="182880">
              <a:lnSpc>
                <a:spcPct val="115000"/>
              </a:lnSpc>
              <a:spcAft>
                <a:spcPts val="600"/>
              </a:spcAft>
              <a:buFont typeface="Arial"/>
              <a:buChar char="•"/>
            </a:pPr>
            <a:r>
              <a:rPr sz="1050" b="0">
                <a:solidFill>
                  <a:srgbClr val="2A1D16"/>
                </a:solidFill>
                <a:latin typeface="Calibri"/>
              </a:rPr>
              <a:t>플랜지(상하 수평재, LVL 등): 휨의 인장·압축력 담당</a:t>
            </a:r>
          </a:p>
          <a:p>
            <a:pPr algn="l" indent="-182880" marL="182880">
              <a:lnSpc>
                <a:spcPct val="115000"/>
              </a:lnSpc>
              <a:spcAft>
                <a:spcPts val="600"/>
              </a:spcAft>
              <a:buFont typeface="Arial"/>
              <a:buChar char="•"/>
            </a:pPr>
            <a:r>
              <a:rPr sz="1050" b="0">
                <a:solidFill>
                  <a:srgbClr val="2A1D16"/>
                </a:solidFill>
                <a:latin typeface="Calibri"/>
              </a:rPr>
              <a:t>웨브(중앙 수직재, 합판/OSB): 전단력 담당</a:t>
            </a:r>
          </a:p>
          <a:p>
            <a:pPr algn="l" indent="-182880" marL="182880">
              <a:lnSpc>
                <a:spcPct val="115000"/>
              </a:lnSpc>
              <a:spcAft>
                <a:spcPts val="600"/>
              </a:spcAft>
              <a:buFont typeface="Arial"/>
              <a:buChar char="•"/>
            </a:pPr>
            <a:r>
              <a:rPr sz="1050" b="0">
                <a:solidFill>
                  <a:srgbClr val="2A1D16"/>
                </a:solidFill>
                <a:latin typeface="Calibri"/>
              </a:rPr>
              <a:t>응력이 중립축에서 0, 표면에서 최대 → 강한 재료는 표면(플랜지)에, 가벼운 재료는 중앙(웨브)에 배치 = 재료효율 최적 단면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446520" y="4480560"/>
          <a:ext cx="5029199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2929"/>
                <a:gridCol w="3106270"/>
              </a:tblGrid>
              <a:tr h="548640">
                <a:tc>
                  <a:txBody>
                    <a:bodyPr wrap="square"/>
                    <a:lstStyle/>
                    <a:p>
                      <a:r>
                        <a:rPr sz="930" b="1">
                          <a:solidFill>
                            <a:srgbClr val="FFFFFF"/>
                          </a:solidFill>
                          <a:latin typeface="Calibri"/>
                        </a:rPr>
                        <a:t>EWP</a:t>
                      </a:r>
                    </a:p>
                  </a:txBody>
                  <a:tcPr marL="73152" marR="73152" marT="27432" marB="27432" anchor="ctr">
                    <a:solidFill>
                      <a:srgbClr val="8D6E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30" b="1">
                          <a:solidFill>
                            <a:srgbClr val="FFFFFF"/>
                          </a:solidFill>
                          <a:latin typeface="Calibri"/>
                        </a:rPr>
                        <a:t>원리/용도</a:t>
                      </a:r>
                    </a:p>
                  </a:txBody>
                  <a:tcPr marL="73152" marR="73152" marT="27432" marB="27432" anchor="ctr">
                    <a:solidFill>
                      <a:srgbClr val="8D6E4B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880" b="1">
                          <a:solidFill>
                            <a:srgbClr val="2A1D16"/>
                          </a:solidFill>
                          <a:latin typeface="Calibri"/>
                        </a:rPr>
                        <a:t>LVL(단판적층재)</a:t>
                      </a:r>
                    </a:p>
                  </a:txBody>
                  <a:tcPr marL="73152" marR="73152" marT="27432" marB="27432" anchor="ctr">
                    <a:solidFill>
                      <a:srgbClr val="F1E4C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 b="0">
                          <a:solidFill>
                            <a:srgbClr val="2A1D16"/>
                          </a:solidFill>
                          <a:latin typeface="Calibri"/>
                        </a:rPr>
                        <a:t>베니어 적층 — I자보 플랜지, 보</a:t>
                      </a:r>
                    </a:p>
                  </a:txBody>
                  <a:tcPr marL="73152" marR="73152" marT="27432" marB="27432" anchor="ctr">
                    <a:solidFill>
                      <a:srgbClr val="F1E4CC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880" b="1">
                          <a:solidFill>
                            <a:srgbClr val="2A1D16"/>
                          </a:solidFill>
                          <a:latin typeface="Calibri"/>
                        </a:rPr>
                        <a:t>PSL/LSL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 b="0">
                          <a:solidFill>
                            <a:srgbClr val="2A1D16"/>
                          </a:solidFill>
                          <a:latin typeface="Calibri"/>
                        </a:rPr>
                        <a:t>긴 스트랜드 적층 — 기둥·헤더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850" b="0" i="0">
                <a:solidFill>
                  <a:srgbClr val="7A6A5A"/>
                </a:solidFill>
                <a:latin typeface="Calibri"/>
              </a:rPr>
              <a:t>목공의 이해 · 상세노트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85855" y="649224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buNone/>
            </a:pPr>
            <a:r>
              <a:rPr sz="850" b="0" i="0">
                <a:solidFill>
                  <a:srgbClr val="7A6A5A"/>
                </a:solidFill>
                <a:latin typeface="Calibri"/>
              </a:rPr>
              <a:t>45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9144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1150" b="1" i="0">
                <a:solidFill>
                  <a:srgbClr val="45601F"/>
                </a:solidFill>
                <a:latin typeface="Calibri"/>
              </a:rPr>
              <a:t>16장  집성접합 제재목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03504"/>
            <a:ext cx="11247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2500" b="1" i="0">
                <a:solidFill>
                  <a:srgbClr val="2A1D16"/>
                </a:solidFill>
                <a:latin typeface="Cambria"/>
              </a:rPr>
              <a:t>그림으로 보기 — Glulam과 I자보 단면</a:t>
            </a:r>
          </a:p>
        </p:txBody>
      </p:sp>
      <p:pic>
        <p:nvPicPr>
          <p:cNvPr id="4" name="Picture 3" descr="16_집성재_I빔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287" y="1492700"/>
            <a:ext cx="11247120" cy="487843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850" b="0" i="0">
                <a:solidFill>
                  <a:srgbClr val="7A6A5A"/>
                </a:solidFill>
                <a:latin typeface="Calibri"/>
              </a:rPr>
              <a:t>목공의 이해 · 상세노트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9224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buNone/>
            </a:pPr>
            <a:r>
              <a:rPr sz="850" b="0" i="0">
                <a:solidFill>
                  <a:srgbClr val="7A6A5A"/>
                </a:solidFill>
                <a:latin typeface="Calibri"/>
              </a:rPr>
              <a:t>46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9144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1150" b="1" i="0">
                <a:solidFill>
                  <a:srgbClr val="45601F"/>
                </a:solidFill>
                <a:latin typeface="Calibri"/>
              </a:rPr>
              <a:t>17장  목재 구매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03504"/>
            <a:ext cx="11247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2500" b="1" i="0">
                <a:solidFill>
                  <a:srgbClr val="2A1D16"/>
                </a:solidFill>
                <a:latin typeface="Cambria"/>
              </a:rPr>
              <a:t>구매처 비교와 검수 체크리스트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417320"/>
          <a:ext cx="11247119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5849"/>
                <a:gridCol w="4631167"/>
                <a:gridCol w="4190103"/>
              </a:tblGrid>
              <a:tr h="475488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구매처</a:t>
                      </a:r>
                    </a:p>
                  </a:txBody>
                  <a:tcPr marL="73152" marR="73152" marT="27432" marB="27432" anchor="ctr">
                    <a:solidFill>
                      <a:srgbClr val="8D6E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장점</a:t>
                      </a:r>
                    </a:p>
                  </a:txBody>
                  <a:tcPr marL="73152" marR="73152" marT="27432" marB="27432" anchor="ctr">
                    <a:solidFill>
                      <a:srgbClr val="8D6E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단점</a:t>
                      </a:r>
                    </a:p>
                  </a:txBody>
                  <a:tcPr marL="73152" marR="73152" marT="27432" marB="27432" anchor="ctr">
                    <a:solidFill>
                      <a:srgbClr val="8D6E4B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930" b="1">
                          <a:solidFill>
                            <a:srgbClr val="2A1D16"/>
                          </a:solidFill>
                          <a:latin typeface="Calibri"/>
                        </a:rPr>
                        <a:t>지역 제재소</a:t>
                      </a:r>
                    </a:p>
                  </a:txBody>
                  <a:tcPr marL="73152" marR="73152" marT="27432" marB="27432" anchor="ctr">
                    <a:solidFill>
                      <a:srgbClr val="F1E4C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30" b="0">
                          <a:solidFill>
                            <a:srgbClr val="2A1D16"/>
                          </a:solidFill>
                          <a:latin typeface="Calibri"/>
                        </a:rPr>
                        <a:t>대량구매 유리, 맞춤 제재 가능</a:t>
                      </a:r>
                    </a:p>
                  </a:txBody>
                  <a:tcPr marL="73152" marR="73152" marT="27432" marB="27432" anchor="ctr">
                    <a:solidFill>
                      <a:srgbClr val="F1E4C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30" b="0">
                          <a:solidFill>
                            <a:srgbClr val="2A1D16"/>
                          </a:solidFill>
                          <a:latin typeface="Calibri"/>
                        </a:rPr>
                        <a:t>최소주문수량, 건조상태 편차</a:t>
                      </a:r>
                    </a:p>
                  </a:txBody>
                  <a:tcPr marL="73152" marR="73152" marT="27432" marB="27432" anchor="ctr">
                    <a:solidFill>
                      <a:srgbClr val="F1E4CC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930" b="1">
                          <a:solidFill>
                            <a:srgbClr val="2A1D16"/>
                          </a:solidFill>
                          <a:latin typeface="Calibri"/>
                        </a:rPr>
                        <a:t>목공용 소매점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30" b="0">
                          <a:solidFill>
                            <a:srgbClr val="2A1D16"/>
                          </a:solidFill>
                          <a:latin typeface="Calibri"/>
                        </a:rPr>
                        <a:t>소량구매, 다양한 수종 비교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30" b="0">
                          <a:solidFill>
                            <a:srgbClr val="2A1D16"/>
                          </a:solidFill>
                          <a:latin typeface="Calibri"/>
                        </a:rPr>
                        <a:t>단가 상대적으로 높음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930" b="1">
                          <a:solidFill>
                            <a:srgbClr val="2A1D16"/>
                          </a:solidFill>
                          <a:latin typeface="Calibri"/>
                        </a:rPr>
                        <a:t>온라인</a:t>
                      </a:r>
                    </a:p>
                  </a:txBody>
                  <a:tcPr marL="73152" marR="73152" marT="27432" marB="27432" anchor="ctr">
                    <a:solidFill>
                      <a:srgbClr val="F1E4C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30" b="0">
                          <a:solidFill>
                            <a:srgbClr val="2A1D16"/>
                          </a:solidFill>
                          <a:latin typeface="Calibri"/>
                        </a:rPr>
                        <a:t>편리함, 가격 비교 용이</a:t>
                      </a:r>
                    </a:p>
                  </a:txBody>
                  <a:tcPr marL="73152" marR="73152" marT="27432" marB="27432" anchor="ctr">
                    <a:solidFill>
                      <a:srgbClr val="F1E4C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30" b="0">
                          <a:solidFill>
                            <a:srgbClr val="2A1D16"/>
                          </a:solidFill>
                          <a:latin typeface="Calibri"/>
                        </a:rPr>
                        <a:t>직접 상태 확인 불가</a:t>
                      </a:r>
                    </a:p>
                  </a:txBody>
                  <a:tcPr marL="73152" marR="73152" marT="27432" marB="27432" anchor="ctr">
                    <a:solidFill>
                      <a:srgbClr val="F1E4CC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930" b="1">
                          <a:solidFill>
                            <a:srgbClr val="2A1D16"/>
                          </a:solidFill>
                          <a:latin typeface="Calibri"/>
                        </a:rPr>
                        <a:t>경매/원목시장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30" b="0">
                          <a:solidFill>
                            <a:srgbClr val="2A1D16"/>
                          </a:solidFill>
                          <a:latin typeface="Calibri"/>
                        </a:rPr>
                        <a:t>원목 저렴 대량 확보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30" b="0">
                          <a:solidFill>
                            <a:srgbClr val="2A1D16"/>
                          </a:solidFill>
                          <a:latin typeface="Calibri"/>
                        </a:rPr>
                        <a:t>안목 필요, 개인 건조 부담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457200" y="4023360"/>
            <a:ext cx="11247120" cy="1920240"/>
          </a:xfrm>
          <a:prstGeom prst="roundRect">
            <a:avLst>
              <a:gd name="adj" fmla="val 10000"/>
            </a:avLst>
          </a:prstGeom>
          <a:solidFill>
            <a:srgbClr val="F1E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4142232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1250" b="1" i="0">
                <a:solidFill>
                  <a:srgbClr val="45601F"/>
                </a:solidFill>
                <a:latin typeface="Cambria"/>
              </a:rPr>
              <a:t>현장 검수 체크리스트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4462272"/>
            <a:ext cx="1078992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indent="-182880" marL="182880">
              <a:lnSpc>
                <a:spcPct val="115000"/>
              </a:lnSpc>
              <a:spcAft>
                <a:spcPts val="500"/>
              </a:spcAft>
              <a:buFont typeface="Arial"/>
              <a:buChar char="•"/>
            </a:pPr>
            <a:r>
              <a:rPr sz="1050" b="0">
                <a:solidFill>
                  <a:srgbClr val="2A1D16"/>
                </a:solidFill>
                <a:latin typeface="Calibri"/>
              </a:rPr>
              <a:t>함수율계 실측 / 뒤틀림(bow·crook·twist) 육안 확인 / 갈라짐·할렬 확인(마구리 두드려 소리 판단)</a:t>
            </a:r>
          </a:p>
          <a:p>
            <a:pPr algn="l" indent="-182880" marL="182880">
              <a:lnSpc>
                <a:spcPct val="115000"/>
              </a:lnSpc>
              <a:spcAft>
                <a:spcPts val="500"/>
              </a:spcAft>
              <a:buFont typeface="Arial"/>
              <a:buChar char="•"/>
            </a:pPr>
            <a:r>
              <a:rPr sz="1050" b="0">
                <a:solidFill>
                  <a:srgbClr val="2A1D16"/>
                </a:solidFill>
                <a:latin typeface="Calibri"/>
              </a:rPr>
              <a:t>옹이 위치·크기 표시 / 변색·부후·충해 흔적 확인 / 등급 스탬프 확인 / 정목·판목 여부 확인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850" b="0" i="0">
                <a:solidFill>
                  <a:srgbClr val="7A6A5A"/>
                </a:solidFill>
                <a:latin typeface="Calibri"/>
              </a:rPr>
              <a:t>목공의 이해 · 상세노트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85855" y="649224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buNone/>
            </a:pPr>
            <a:r>
              <a:rPr sz="850" b="0" i="0">
                <a:solidFill>
                  <a:srgbClr val="7A6A5A"/>
                </a:solidFill>
                <a:latin typeface="Calibri"/>
              </a:rPr>
              <a:t>47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9144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1150" b="1" i="0">
                <a:solidFill>
                  <a:srgbClr val="45601F"/>
                </a:solidFill>
                <a:latin typeface="Calibri"/>
              </a:rPr>
              <a:t>17장  목재 구매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03504"/>
            <a:ext cx="11247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2500" b="1" i="0">
                <a:solidFill>
                  <a:srgbClr val="2A1D16"/>
                </a:solidFill>
                <a:latin typeface="Cambria"/>
              </a:rPr>
              <a:t>그림으로 보기 — 구매처와 체크리스트</a:t>
            </a:r>
          </a:p>
        </p:txBody>
      </p:sp>
      <p:pic>
        <p:nvPicPr>
          <p:cNvPr id="4" name="Picture 3" descr="17_구매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287" y="1492700"/>
            <a:ext cx="11247120" cy="487843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850" b="0" i="0">
                <a:solidFill>
                  <a:srgbClr val="7A6A5A"/>
                </a:solidFill>
                <a:latin typeface="Calibri"/>
              </a:rPr>
              <a:t>목공의 이해 · 상세노트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9224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buNone/>
            </a:pPr>
            <a:r>
              <a:rPr sz="850" b="0" i="0">
                <a:solidFill>
                  <a:srgbClr val="7A6A5A"/>
                </a:solidFill>
                <a:latin typeface="Calibri"/>
              </a:rPr>
              <a:t>48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E27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0584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2600" b="1" i="0">
                <a:solidFill>
                  <a:srgbClr val="FBF6EC"/>
                </a:solidFill>
                <a:latin typeface="Cambria"/>
              </a:rPr>
              <a:t>핵심 정리 (1장 ~ 9장)</a:t>
            </a:r>
          </a:p>
        </p:txBody>
      </p:sp>
      <p:sp>
        <p:nvSpPr>
          <p:cNvPr id="3" name="Oval 2"/>
          <p:cNvSpPr/>
          <p:nvPr/>
        </p:nvSpPr>
        <p:spPr>
          <a:xfrm>
            <a:off x="640080" y="1051560"/>
            <a:ext cx="384048" cy="384048"/>
          </a:xfrm>
          <a:prstGeom prst="ellipse">
            <a:avLst/>
          </a:prstGeom>
          <a:solidFill>
            <a:srgbClr val="6E9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buNone/>
            </a:pPr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024127"/>
            <a:ext cx="1051560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buNone/>
            </a:pPr>
            <a:r>
              <a:rPr sz="1080" b="0" i="0">
                <a:solidFill>
                  <a:srgbClr val="FBF6EC"/>
                </a:solidFill>
                <a:latin typeface="Calibri"/>
              </a:rPr>
              <a:t>만재율↑ = 밀도·강도↑(침엽수) 경향, 심재는 내구성↑이지만 방부제 침투는 어려움</a:t>
            </a:r>
          </a:p>
        </p:txBody>
      </p:sp>
      <p:sp>
        <p:nvSpPr>
          <p:cNvPr id="6" name="Oval 5"/>
          <p:cNvSpPr/>
          <p:nvPr/>
        </p:nvSpPr>
        <p:spPr>
          <a:xfrm>
            <a:off x="640080" y="1632204"/>
            <a:ext cx="384048" cy="384048"/>
          </a:xfrm>
          <a:prstGeom prst="ellipse">
            <a:avLst/>
          </a:prstGeom>
          <a:solidFill>
            <a:srgbClr val="6E9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32204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buNone/>
            </a:pPr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1604772"/>
            <a:ext cx="1051560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buNone/>
            </a:pPr>
            <a:r>
              <a:rPr sz="1080" b="0" i="0">
                <a:solidFill>
                  <a:srgbClr val="FBF6EC"/>
                </a:solidFill>
                <a:latin typeface="Calibri"/>
              </a:rPr>
              <a:t>기본비중은 전건중량÷생재부피÷물밀도 — 세포벽 자체 비중은 수종무관 약 1.5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2212848"/>
            <a:ext cx="384048" cy="384048"/>
          </a:xfrm>
          <a:prstGeom prst="ellipse">
            <a:avLst/>
          </a:prstGeom>
          <a:solidFill>
            <a:srgbClr val="6E9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212848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buNone/>
            </a:pPr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2185416"/>
            <a:ext cx="1051560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buNone/>
            </a:pPr>
            <a:r>
              <a:rPr sz="1080" b="0" i="0">
                <a:solidFill>
                  <a:srgbClr val="FBF6EC"/>
                </a:solidFill>
                <a:latin typeface="Calibri"/>
              </a:rPr>
              <a:t>생옹이/사옹이, 압축·인장이상재는 강도·치수안정성을 저하시키는 핵심 결함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" y="2793491"/>
            <a:ext cx="384048" cy="384048"/>
          </a:xfrm>
          <a:prstGeom prst="ellipse">
            <a:avLst/>
          </a:prstGeom>
          <a:solidFill>
            <a:srgbClr val="6E9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793491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buNone/>
            </a:pPr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2766060"/>
            <a:ext cx="1051560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buNone/>
            </a:pPr>
            <a:r>
              <a:rPr sz="1080" b="0" i="0">
                <a:solidFill>
                  <a:srgbClr val="FBF6EC"/>
                </a:solidFill>
                <a:latin typeface="Calibri"/>
              </a:rPr>
              <a:t>환공재(참나무)·산공재(자작나무)·반환공재(호두나무) — 도관배열로 수종 식별</a:t>
            </a:r>
          </a:p>
        </p:txBody>
      </p:sp>
      <p:sp>
        <p:nvSpPr>
          <p:cNvPr id="15" name="Oval 14"/>
          <p:cNvSpPr/>
          <p:nvPr/>
        </p:nvSpPr>
        <p:spPr>
          <a:xfrm>
            <a:off x="640080" y="3374136"/>
            <a:ext cx="384048" cy="384048"/>
          </a:xfrm>
          <a:prstGeom prst="ellipse">
            <a:avLst/>
          </a:prstGeom>
          <a:solidFill>
            <a:srgbClr val="6E9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374136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buNone/>
            </a:pPr>
            <a:r>
              <a:rPr sz="12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3346704"/>
            <a:ext cx="1051560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buNone/>
            </a:pPr>
            <a:r>
              <a:rPr sz="1080" b="0" i="0">
                <a:solidFill>
                  <a:srgbClr val="FBF6EC"/>
                </a:solidFill>
                <a:latin typeface="Calibri"/>
              </a:rPr>
              <a:t>목재는 인장&gt;압축 강도, MOE(강성)와 MOR(파괴강도)는 서로 다른 물성</a:t>
            </a:r>
          </a:p>
        </p:txBody>
      </p:sp>
      <p:sp>
        <p:nvSpPr>
          <p:cNvPr id="18" name="Oval 17"/>
          <p:cNvSpPr/>
          <p:nvPr/>
        </p:nvSpPr>
        <p:spPr>
          <a:xfrm>
            <a:off x="640080" y="3954779"/>
            <a:ext cx="384048" cy="384048"/>
          </a:xfrm>
          <a:prstGeom prst="ellipse">
            <a:avLst/>
          </a:prstGeom>
          <a:solidFill>
            <a:srgbClr val="6E9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954779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buNone/>
            </a:pPr>
            <a:r>
              <a:rPr sz="12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3927347"/>
            <a:ext cx="1051560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buNone/>
            </a:pPr>
            <a:r>
              <a:rPr sz="1080" b="0" i="0">
                <a:solidFill>
                  <a:srgbClr val="FBF6EC"/>
                </a:solidFill>
                <a:latin typeface="Calibri"/>
              </a:rPr>
              <a:t>함수율 1%↓당 압축강도 약 4~6%↑(FSP 이하), 등급은 SS&gt;No.1&gt;No.2&gt;No.3</a:t>
            </a:r>
          </a:p>
        </p:txBody>
      </p:sp>
      <p:sp>
        <p:nvSpPr>
          <p:cNvPr id="21" name="Oval 20"/>
          <p:cNvSpPr/>
          <p:nvPr/>
        </p:nvSpPr>
        <p:spPr>
          <a:xfrm>
            <a:off x="640080" y="4535424"/>
            <a:ext cx="384048" cy="384048"/>
          </a:xfrm>
          <a:prstGeom prst="ellipse">
            <a:avLst/>
          </a:prstGeom>
          <a:solidFill>
            <a:srgbClr val="6E9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535424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buNone/>
            </a:pPr>
            <a:r>
              <a:rPr sz="12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20" y="4507992"/>
            <a:ext cx="1051560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buNone/>
            </a:pPr>
            <a:r>
              <a:rPr sz="1080" b="0" i="0">
                <a:solidFill>
                  <a:srgbClr val="FBF6EC"/>
                </a:solidFill>
                <a:latin typeface="Calibri"/>
              </a:rPr>
              <a:t>FSP(약 28~30%) 기준 치수변화 시작, EMC는 계절(여름16~18%/겨울8~10%)에 따라 변함</a:t>
            </a:r>
          </a:p>
        </p:txBody>
      </p:sp>
      <p:sp>
        <p:nvSpPr>
          <p:cNvPr id="24" name="Oval 23"/>
          <p:cNvSpPr/>
          <p:nvPr/>
        </p:nvSpPr>
        <p:spPr>
          <a:xfrm>
            <a:off x="640080" y="5116068"/>
            <a:ext cx="384048" cy="384048"/>
          </a:xfrm>
          <a:prstGeom prst="ellipse">
            <a:avLst/>
          </a:prstGeom>
          <a:solidFill>
            <a:srgbClr val="6E9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5116068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buNone/>
            </a:pPr>
            <a:r>
              <a:rPr sz="1200" b="1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88720" y="5088636"/>
            <a:ext cx="1051560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buNone/>
            </a:pPr>
            <a:r>
              <a:rPr sz="1080" b="0" i="0">
                <a:solidFill>
                  <a:srgbClr val="FBF6EC"/>
                </a:solidFill>
                <a:latin typeface="Calibri"/>
              </a:rPr>
              <a:t>수축률은 길이(0.1~0.3%)&lt;방사(3~6%)&lt;접선(6~12%) 순으로 커짐</a:t>
            </a:r>
          </a:p>
        </p:txBody>
      </p:sp>
      <p:sp>
        <p:nvSpPr>
          <p:cNvPr id="27" name="Oval 26"/>
          <p:cNvSpPr/>
          <p:nvPr/>
        </p:nvSpPr>
        <p:spPr>
          <a:xfrm>
            <a:off x="640080" y="5696712"/>
            <a:ext cx="384048" cy="384048"/>
          </a:xfrm>
          <a:prstGeom prst="ellipse">
            <a:avLst/>
          </a:prstGeom>
          <a:solidFill>
            <a:srgbClr val="6E9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5696712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buNone/>
            </a:pPr>
            <a:r>
              <a:rPr sz="1200" b="1" i="0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88720" y="5669280"/>
            <a:ext cx="1051560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buNone/>
            </a:pPr>
            <a:r>
              <a:rPr sz="1080" b="0" i="0">
                <a:solidFill>
                  <a:srgbClr val="FBF6EC"/>
                </a:solidFill>
                <a:latin typeface="Calibri"/>
              </a:rPr>
              <a:t>건조는 4단계 스케줄로 진행하며 급건조는 표면균열·케이스하드닝을 유발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850" b="0" i="0">
                <a:solidFill>
                  <a:srgbClr val="7A6A5A"/>
                </a:solidFill>
                <a:latin typeface="Calibri"/>
              </a:rPr>
              <a:t>목공의 이해 · 상세노트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85855" y="649224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buNone/>
            </a:pPr>
            <a:r>
              <a:rPr sz="850" b="0" i="0">
                <a:solidFill>
                  <a:srgbClr val="7A6A5A"/>
                </a:solidFill>
                <a:latin typeface="Calibri"/>
              </a:rPr>
              <a:t>49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E27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0584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2600" b="1" i="0">
                <a:solidFill>
                  <a:srgbClr val="FBF6EC"/>
                </a:solidFill>
                <a:latin typeface="Cambria"/>
              </a:rPr>
              <a:t>핵심 정리 (9장 ~ 17장)</a:t>
            </a:r>
          </a:p>
        </p:txBody>
      </p:sp>
      <p:sp>
        <p:nvSpPr>
          <p:cNvPr id="3" name="Oval 2"/>
          <p:cNvSpPr/>
          <p:nvPr/>
        </p:nvSpPr>
        <p:spPr>
          <a:xfrm>
            <a:off x="640080" y="1051560"/>
            <a:ext cx="384048" cy="384048"/>
          </a:xfrm>
          <a:prstGeom prst="ellipse">
            <a:avLst/>
          </a:prstGeom>
          <a:solidFill>
            <a:srgbClr val="6E9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buNone/>
            </a:pPr>
            <a:r>
              <a:rPr sz="1100" b="1" i="0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024127"/>
            <a:ext cx="1051560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buNone/>
            </a:pPr>
            <a:r>
              <a:rPr sz="1080" b="0" i="0">
                <a:solidFill>
                  <a:srgbClr val="FBF6EC"/>
                </a:solidFill>
                <a:latin typeface="Calibri"/>
              </a:rPr>
              <a:t>절삭은 함수율 8~15%에서 가장 양호, 증기휨은 곡률≥두께×8~10배가 안전 기준</a:t>
            </a:r>
          </a:p>
        </p:txBody>
      </p:sp>
      <p:sp>
        <p:nvSpPr>
          <p:cNvPr id="6" name="Oval 5"/>
          <p:cNvSpPr/>
          <p:nvPr/>
        </p:nvSpPr>
        <p:spPr>
          <a:xfrm>
            <a:off x="640080" y="1632204"/>
            <a:ext cx="384048" cy="384048"/>
          </a:xfrm>
          <a:prstGeom prst="ellipse">
            <a:avLst/>
          </a:prstGeom>
          <a:solidFill>
            <a:srgbClr val="6E9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32204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buNone/>
            </a:pPr>
            <a:r>
              <a:rPr sz="1100" b="1" i="0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1604772"/>
            <a:ext cx="1051560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buNone/>
            </a:pPr>
            <a:r>
              <a:rPr sz="1080" b="0" i="0">
                <a:solidFill>
                  <a:srgbClr val="FBF6EC"/>
                </a:solidFill>
                <a:latin typeface="Calibri"/>
              </a:rPr>
              <a:t>접합은 맞댄·겹침·장부·사개물림·핑거조인트 등으로 다양하며 각각 강도 특성이 다름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2212848"/>
            <a:ext cx="384048" cy="384048"/>
          </a:xfrm>
          <a:prstGeom prst="ellipse">
            <a:avLst/>
          </a:prstGeom>
          <a:solidFill>
            <a:srgbClr val="6E9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212848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buNone/>
            </a:pPr>
            <a:r>
              <a:rPr sz="1100" b="1" i="0">
                <a:solidFill>
                  <a:srgbClr val="FFFFFF"/>
                </a:solidFill>
                <a:latin typeface="Calibri"/>
              </a:rPr>
              <a:t>11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2185416"/>
            <a:ext cx="1051560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buNone/>
            </a:pPr>
            <a:r>
              <a:rPr sz="1080" b="0" i="0">
                <a:solidFill>
                  <a:srgbClr val="FBF6EC"/>
                </a:solidFill>
                <a:latin typeface="Calibri"/>
              </a:rPr>
              <a:t>장부 두께는 부재 두께의 약 1/3, 체결구는 못&lt;나사&lt;볼트 순으로 인발강도 상승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" y="2793491"/>
            <a:ext cx="384048" cy="384048"/>
          </a:xfrm>
          <a:prstGeom prst="ellipse">
            <a:avLst/>
          </a:prstGeom>
          <a:solidFill>
            <a:srgbClr val="6E9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793491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buNone/>
            </a:pPr>
            <a:r>
              <a:rPr sz="1100" b="1" i="0">
                <a:solidFill>
                  <a:srgbClr val="FFFFFF"/>
                </a:solidFill>
                <a:latin typeface="Calibri"/>
              </a:rPr>
              <a:t>12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2766060"/>
            <a:ext cx="1051560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buNone/>
            </a:pPr>
            <a:r>
              <a:rPr sz="1080" b="0" i="0">
                <a:solidFill>
                  <a:srgbClr val="FBF6EC"/>
                </a:solidFill>
                <a:latin typeface="Calibri"/>
              </a:rPr>
              <a:t>접착은 기계적 맞물림+화학적 결합 — PVA(실내)·에폭시·폴리우레탄·PF(내수) 등 용도별 선택</a:t>
            </a:r>
          </a:p>
        </p:txBody>
      </p:sp>
      <p:sp>
        <p:nvSpPr>
          <p:cNvPr id="15" name="Oval 14"/>
          <p:cNvSpPr/>
          <p:nvPr/>
        </p:nvSpPr>
        <p:spPr>
          <a:xfrm>
            <a:off x="640080" y="3374136"/>
            <a:ext cx="384048" cy="384048"/>
          </a:xfrm>
          <a:prstGeom prst="ellipse">
            <a:avLst/>
          </a:prstGeom>
          <a:solidFill>
            <a:srgbClr val="6E9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374136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buNone/>
            </a:pPr>
            <a:r>
              <a:rPr sz="1100" b="1" i="0">
                <a:solidFill>
                  <a:srgbClr val="FFFFFF"/>
                </a:solidFill>
                <a:latin typeface="Calibri"/>
              </a:rPr>
              <a:t>13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3346704"/>
            <a:ext cx="1051560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buNone/>
            </a:pPr>
            <a:r>
              <a:rPr sz="1080" b="0" i="0">
                <a:solidFill>
                  <a:srgbClr val="FBF6EC"/>
                </a:solidFill>
                <a:latin typeface="Calibri"/>
              </a:rPr>
              <a:t>도장은 무처리·코팅형·침투형·조합 4방식, 보존처리는 방부·방염·UV로 구분</a:t>
            </a:r>
          </a:p>
        </p:txBody>
      </p:sp>
      <p:sp>
        <p:nvSpPr>
          <p:cNvPr id="18" name="Oval 17"/>
          <p:cNvSpPr/>
          <p:nvPr/>
        </p:nvSpPr>
        <p:spPr>
          <a:xfrm>
            <a:off x="640080" y="3954779"/>
            <a:ext cx="384048" cy="384048"/>
          </a:xfrm>
          <a:prstGeom prst="ellipse">
            <a:avLst/>
          </a:prstGeom>
          <a:solidFill>
            <a:srgbClr val="6E9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954779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buNone/>
            </a:pPr>
            <a:r>
              <a:rPr sz="1100" b="1" i="0">
                <a:solidFill>
                  <a:srgbClr val="FFFFFF"/>
                </a:solidFill>
                <a:latin typeface="Calibri"/>
              </a:rPr>
              <a:t>14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3927347"/>
            <a:ext cx="1051560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buNone/>
            </a:pPr>
            <a:r>
              <a:rPr sz="1080" b="0" i="0">
                <a:solidFill>
                  <a:srgbClr val="FBF6EC"/>
                </a:solidFill>
                <a:latin typeface="Calibri"/>
              </a:rPr>
              <a:t>정목은 안정성, 판목은 수율 — 명목치수(2×4)는 실제로 약 38×89mm까지 줄어듦</a:t>
            </a:r>
          </a:p>
        </p:txBody>
      </p:sp>
      <p:sp>
        <p:nvSpPr>
          <p:cNvPr id="21" name="Oval 20"/>
          <p:cNvSpPr/>
          <p:nvPr/>
        </p:nvSpPr>
        <p:spPr>
          <a:xfrm>
            <a:off x="640080" y="4535424"/>
            <a:ext cx="384048" cy="384048"/>
          </a:xfrm>
          <a:prstGeom prst="ellipse">
            <a:avLst/>
          </a:prstGeom>
          <a:solidFill>
            <a:srgbClr val="6E9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535424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buNone/>
            </a:pPr>
            <a:r>
              <a:rPr sz="1100" b="1" i="0">
                <a:solidFill>
                  <a:srgbClr val="FFFFFF"/>
                </a:solidFill>
                <a:latin typeface="Calibri"/>
              </a:rPr>
              <a:t>15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20" y="4507992"/>
            <a:ext cx="1051560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buNone/>
            </a:pPr>
            <a:r>
              <a:rPr sz="1080" b="0" i="0">
                <a:solidFill>
                  <a:srgbClr val="FBF6EC"/>
                </a:solidFill>
                <a:latin typeface="Calibri"/>
              </a:rPr>
              <a:t>합판은 홀수겹+직교적층으로 이방성을 상쇄, PB·OSB·MDF는 용도별 강도·표면특성이 다름</a:t>
            </a:r>
          </a:p>
        </p:txBody>
      </p:sp>
      <p:sp>
        <p:nvSpPr>
          <p:cNvPr id="24" name="Oval 23"/>
          <p:cNvSpPr/>
          <p:nvPr/>
        </p:nvSpPr>
        <p:spPr>
          <a:xfrm>
            <a:off x="640080" y="5116068"/>
            <a:ext cx="384048" cy="384048"/>
          </a:xfrm>
          <a:prstGeom prst="ellipse">
            <a:avLst/>
          </a:prstGeom>
          <a:solidFill>
            <a:srgbClr val="6E9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5116068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buNone/>
            </a:pPr>
            <a:r>
              <a:rPr sz="1100" b="1" i="0">
                <a:solidFill>
                  <a:srgbClr val="FFFFFF"/>
                </a:solidFill>
                <a:latin typeface="Calibri"/>
              </a:rPr>
              <a:t>16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88720" y="5088636"/>
            <a:ext cx="1051560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buNone/>
            </a:pPr>
            <a:r>
              <a:rPr sz="1080" b="0" i="0">
                <a:solidFill>
                  <a:srgbClr val="FBF6EC"/>
                </a:solidFill>
                <a:latin typeface="Calibri"/>
              </a:rPr>
              <a:t>Glulam은 큰 단면을, I자보는 플랜지(휨)+웨브(전단) 분업으로 재료효율을 높임</a:t>
            </a:r>
          </a:p>
        </p:txBody>
      </p:sp>
      <p:sp>
        <p:nvSpPr>
          <p:cNvPr id="27" name="Oval 26"/>
          <p:cNvSpPr/>
          <p:nvPr/>
        </p:nvSpPr>
        <p:spPr>
          <a:xfrm>
            <a:off x="640080" y="5696712"/>
            <a:ext cx="384048" cy="384048"/>
          </a:xfrm>
          <a:prstGeom prst="ellipse">
            <a:avLst/>
          </a:prstGeom>
          <a:solidFill>
            <a:srgbClr val="6E9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5696712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buNone/>
            </a:pPr>
            <a:r>
              <a:rPr sz="1100" b="1" i="0">
                <a:solidFill>
                  <a:srgbClr val="FFFFFF"/>
                </a:solidFill>
                <a:latin typeface="Calibri"/>
              </a:rPr>
              <a:t>17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88720" y="5669280"/>
            <a:ext cx="1051560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buNone/>
            </a:pPr>
            <a:r>
              <a:rPr sz="1080" b="0" i="0">
                <a:solidFill>
                  <a:srgbClr val="FBF6EC"/>
                </a:solidFill>
                <a:latin typeface="Calibri"/>
              </a:rPr>
              <a:t>목재 구매 시 제재율·구매처 특성·함수율과 결함 확인이 핵심 체크포인트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850" b="0" i="0">
                <a:solidFill>
                  <a:srgbClr val="7A6A5A"/>
                </a:solidFill>
                <a:latin typeface="Calibri"/>
              </a:rPr>
              <a:t>목공의 이해 · 상세노트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85855" y="649224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buNone/>
            </a:pPr>
            <a:r>
              <a:rPr sz="850" b="0" i="0">
                <a:solidFill>
                  <a:srgbClr val="7A6A5A"/>
                </a:solidFill>
                <a:latin typeface="Calibri"/>
              </a:rPr>
              <a:t>50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
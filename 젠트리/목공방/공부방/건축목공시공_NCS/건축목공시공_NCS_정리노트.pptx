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58.jpg"/><Relationship Id="rId6" Type="http://schemas.openxmlformats.org/officeDocument/2006/relationships/image" Target="../media/image59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35824" y="2980944"/>
            <a:ext cx="5376672" cy="5376672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19872" y="3364992"/>
            <a:ext cx="4608576" cy="4608576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3749039"/>
            <a:ext cx="3840480" cy="384048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87968" y="4133088"/>
            <a:ext cx="3072384" cy="3072384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72016" y="4517136"/>
            <a:ext cx="2304288" cy="2304288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56064" y="4901184"/>
            <a:ext cx="1536192" cy="1536192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2" y="5285232"/>
            <a:ext cx="768096" cy="768096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NCS 건축목공시공 · 능력단위 9개 모듈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91440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건축목공시공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학습모듈 정리노트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86868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도면 파악부터 안전·계획·먹매김·바닥·벽·천장·창호·검사 하자보수까지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모듈별 핵심 기준과 수치를 표·단계로 정리했습니다.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8686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출처 : 국가직무능력표준(NCS) 학습모듈 14v2 · 한국직업능력연구원 · 학습용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차례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9개 모듈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465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건축목공시공 도면 파악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371600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배치도·평면도·입면도·상세도를 보고 현장 상황, 구조물 형태, 구성 재료를 파악한다.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1371600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8368"/>
            <a:ext cx="11094415" cy="46532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8368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8368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28368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건축목공시공 현장 안전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928368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안전보호구 착용, 안전시설물 설치, 불안전 시설물 개선으로 위험요소로부터 근로자를 보호한다.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1928368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85136"/>
            <a:ext cx="11094415" cy="465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485136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85136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485136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건축목공시공 계획 수립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485136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설계도면을 검토하고 내역을 산출하며, 지정공기에 맞는 공정표를 작성해 인원·자재·장비 투입 계획을 세운다.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2485136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41904"/>
            <a:ext cx="11094415" cy="46532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41904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1904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041904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건축목공시공 시공 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041904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세부 공정표와 시공상세도를 작성하고, 장비·공구를 점검하며, 반입 자재·제품을 검수한다.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3041904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98672"/>
            <a:ext cx="11094415" cy="465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98672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98672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598672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먹매김 및 바닥 설치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598672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도면을 검토해 공종 간 연관성을 파악하고 먹매김한 뒤, 바닥 구조틀·마루판·걸레받이를 설치한다.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7175" y="3598672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1403020105 + 0107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55440"/>
            <a:ext cx="11094415" cy="46532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55440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55440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155440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벽 설치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4155440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도면에 맞추어 벽 구조틀, 보드·합판, 합지판, 몰딩, 선반을 설치한다.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7175" y="4155440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712208"/>
            <a:ext cx="11094415" cy="465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712208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12208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712208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천장 설치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4712208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천장의 종류와 기능을 파악하고 도면에 따라 천장, 등박스, 몰딩류를 설치한다.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7175" y="4712208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268976"/>
            <a:ext cx="11094415" cy="46532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268976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268976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5268976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목재창호 제작설치 및 보양·현장정리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5268976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목재 창호를 제작·설치하고, 시공 부위를 보양하며, 잔여 자재를 회수한 뒤 현장을 정리·청결히 한다.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17175" y="5268976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1403020110 + 0111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825744"/>
            <a:ext cx="11094415" cy="465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825744"/>
            <a:ext cx="685800" cy="46532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825744"/>
            <a:ext cx="685800" cy="46532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5825744"/>
            <a:ext cx="384048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검사 하자보수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5825744"/>
            <a:ext cx="512064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목공사 결과를 도면·시방서와 비교해 잘못 시공된 부분을 검사하고 하자를 보수한다.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17175" y="5825744"/>
            <a:ext cx="1280160" cy="465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1403020112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건축목공시공 도면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파악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배치도·평면도·입면도·상세도를 보고 현장 상황, 구조물 형태, 구성 재료를 파악한다.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23871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35352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5352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도면 기본지식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35352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도면의 기능·용도, 지시내용과 각종 기호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974847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974847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기본도면 파악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74847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도면의 종류 구분, 재료 구분과 시공 부분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514343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514343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현황 파악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514343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 위치·형태, 구조물 배치와 형상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45279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529327"/>
            <a:ext cx="7253935" cy="58521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529327"/>
            <a:ext cx="7253935" cy="585216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도면의 기능과 용도 · 각종 기호 · 배치도 · 평면도 · 입면도 · 단면도 · 상세도 · 건축목공 자재 · 구조물 배치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설계도면의 분류와 용지 규격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64026" cy="37896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4026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564026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기본 도면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3472586" cy="335076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배치도, 평면도, 바닥평면도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천정도, 조명계획도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입면도, 전개도, 투시도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834" y="1371600"/>
            <a:ext cx="3564026" cy="37896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3834" y="1371600"/>
            <a:ext cx="3564026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3834" y="1371600"/>
            <a:ext cx="3564026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실시 도면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9554" y="1792224"/>
            <a:ext cx="3472586" cy="335076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단면도, 상세도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창호도, 가구 상세도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조명 상세도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1371600"/>
            <a:ext cx="3564026" cy="37896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9028" y="1371600"/>
            <a:ext cx="3564026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9028" y="1371600"/>
            <a:ext cx="3564026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기타 도면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1792224"/>
            <a:ext cx="3472586" cy="335076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목차, 재료 마감도, 집기 상세도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전기 배선도, 출입구 상세도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계단 상세도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시공자는 도면에 담긴 설계 의도를 정확히 파악해야 설계 변경과 공기 연장을 막을 수 있다. 용지는 KS M ISO 216의 A0~A6, 길이 방향을 좌우로 놓은 위치가 정위치.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도면 용지 치수와 CAD 분야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09" cy="3169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59973"/>
                <a:gridCol w="1438164"/>
                <a:gridCol w="1232712"/>
                <a:gridCol w="1232712"/>
                <a:gridCol w="1232712"/>
                <a:gridCol w="1232712"/>
                <a:gridCol w="1232712"/>
                <a:gridCol w="1232712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A0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A2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A3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A4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A5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A6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A×B (mm)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841×1189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594×841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420×594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297×420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210×297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148×210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108×148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여백 C (최소)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여백 D 묶지 않을 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여백 D 묶을 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67868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7868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CAD 분야 코드 : A 건축 · S 구조 · M 기계설비 · E 전기설비 · T 통신설비 · C 토목 · L 조경 · R 실내건축 · V 측량 · G 지리정보 · Z 일반 · X 기타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도면 작성 규약 — 표제란·투상·방향·척도·경사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6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88411"/>
                <a:gridCol w="9206004"/>
              </a:tblGrid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84963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표제란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도면 번호, 공사 명칭, 축척, 설계 책임자 서명, 설계자 성명, 작성 날짜, 분류 번호를 기입 (도면 오른쪽 또는 아래쪽)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투상법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제3각법이 원칙. A 정면도 · B 평면도 · C 좌측면도 · D 우측면도 · E 배면도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도면 방향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평면도·배치도는 북쪽을 위로. 입면도·단면도는 위아래를 도면지와 일치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척도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실척 1/1 · 축척 1/2~1/6000 · 배척 2/1, 5/1. 비례하지 않으면 NS(no scale)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경사(물매)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분자를 1로 한 분수(경사 1/8) 또는 지붕은 10을 분모로(2.5/10), 각도(30°)도 가능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mm가 원칙이며 단위 기호는 쓰지 않음. 지름 φ, 반지름 R, 정사각형 □ 기호는 치수 앞에 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수직 또는 15° 경사의 고딕체, 가로쓰기, 아라비아 숫자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선의 종류와 용도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3169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선의 종류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방법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단면의 윤곽, 보이는 부분의 윤곽, 치수선·치수 보조선·인출선·격자선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파선 / 점선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보이지 않는 부분, 절단면보다 윗면·양면에 있는 부분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1점 쇄선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중심선, 절단선, 기준선, 경계선, 참고선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2점 쇄선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상상선, 1점 쇄선과 구별이 필요할 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678680"/>
            <a:ext cx="11094415" cy="5836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78680"/>
            <a:ext cx="11094415" cy="58369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단면도의 절단선은 평면도에 굵은 1점 쇄선으로 표시하고 양 끝에 시선 방향 화살표를 붙인다. 평면 표시 기호는 축척 1/20·1/50·1/100·1/200 도면에 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기본 도면 4가지 구분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50164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배치도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206273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대지 안 건물의 위치·방향, 도로와의 관계, 도로 너비, 주출입구와 진입 방향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방위·축척·대지면적·건축면적·건폐율, 전기·급수·오하수 선로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 초기에 장비·자재 운용, 반입 계획, 경계 설정에 가장 많이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50164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평면도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206273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건물을 수평으로 절단해 위에서 내려다본 도면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절단 높이는 지면에서 약 1.5m (벽 두께와 개구부 위치·형태를 표현할 수 있는 높이)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방·문·창·설비의 배치와 크기, 벽체 구조를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74414"/>
            <a:ext cx="5446623" cy="221665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7441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7441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단면도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95038"/>
            <a:ext cx="5355183" cy="1777746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건물을 수직으로 절단해 측면에서 내부를 본 도면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기초부터 지붕 끝까지 평면도에 없는 정보를 한눈에 확인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복층 건물에서는 필수, 계단 상세도와 함께 취급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4074414"/>
            <a:ext cx="5446623" cy="221665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407441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407441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입면도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495038"/>
            <a:ext cx="5355183" cy="1777746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건물 외부를 표현. 정확한 축척으로 그려야 형태·색상·방향을 예측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동·서·남·북 또는 정면도·좌우측면도·배면도로 구분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외부 마감자재를 지시선으로 표기하고 지붕은 반드시 물매를 표현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건축목공시공에 필요한 도면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60513"/>
                <a:gridCol w="8733901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도면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전달 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입면도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건축물 외부를 표현. 정면도·우측면도·좌측면도·배면도로 구분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건축물이 기능을 발휘하도록 강성을 표현. 마감재와의 관계 파악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평면도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벽체·기둥·개구부 등 공사에 필요한 주요 구체와 벽의 위치를 개괄적으로 표현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축척 제한으로 세부 표현이 어려울 때 사용. 기본도면 1/50·1/100·1/200, 상세도 1/30~1/1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 마감표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실내·실외 치장 및 마감재의 종류·이름·브랜드명을 표로 정리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312664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12664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수행 tip : 2차원 도면에서 3차원을 상상하기 어려우면 공사 전에 모형을 만들어 시공 부위를 검토한다.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침엽수와 활엽수, 구조용 목재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3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52359"/>
                <a:gridCol w="5193130"/>
                <a:gridCol w="4248924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침엽수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통직하고 가볍고 가공 쉬움 · 압축·인장·휨 강도 강함 · 직선 부재 대량 생산 · 건조 용이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병·충해에 약해 외부 사용 시 방부·방충 처리 필수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활엽수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외관과 연륜이 화려 · 다양한 특징 · 내장·가구재로 쓰면 가치 상승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통직하지 못함 · 비중이 높아 무겁고 가공이 어려움 · 건조가 어렵고 결함 확률 높음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947160"/>
            <a:ext cx="11094415" cy="7932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47160"/>
            <a:ext cx="11094415" cy="7932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침엽수는 가도관이 90% 이상이라 조직이 단순·균일해 구조재로, 활엽수는 도관·유세포·목섬유가 복잡해 단단하여 가구·목공재로 쓴다. 구조재는 KS F 3020 침엽수 구조용재 2등급 이상(토대·장선·보·서까래·마룻대), 대표 수종은 SPF(가문비·소나무·전나무). 규격재는 함수율 약 18%로 건조 후 4면 대패(S4S)하며 호칭치수와 실제치수가 다르다.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공학목재 종류별 특징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91946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06436"/>
                <a:gridCol w="6609438"/>
                <a:gridCol w="2478539"/>
              </a:tblGrid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종류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구성·특징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용도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합판(CDX)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단판을 목리 직교로 홀수 매 적층(수축·팽창 억제). C·D 등급 + 외부용 접착제(X)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지붕·바닥·벽 덮개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O.S.B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50×75mm 정도 목편을 교차 적층·페놀수지 접착. 표준 1,200×2,400mm, 벽·지붕 13mm, 바닥(T&amp;G) 19mm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덮개재, I형 장선 웨브, SIP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방부목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가압방부(인사이징으로 약제 주입)가 효과 우수. 절단·천공면은 방부약제를 추가 도포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접촉부, 외부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집성재(Glulam)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5cm 이하 제재목을 핑거조인트로 이어 적층. 직선·곡선·아치 가능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큰 보·장선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L.V.L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단판을 목리 방향 평행하게 적층, 함수율 12%, 변형이 거의 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I형 장선 플랜지, 헤더, 장스팬 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I형 장선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플랜지(LVL·MSR) + 웨브(합판·OSB). 플랜지가 휨, 웨브가 전단 지지. 최대 20m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 장선, 서까래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P.S.L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얇고 짧은 단판을 길이 방향 배열. 휨강도 표준 구조재의 약 3배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보, 헤더, 기둥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L.S.L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O.S.B와 유사한 스트랜드 적층. 예측성·치수안정 좋으나 강도는 낮음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테두리장선, 창호 헤더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합판 단판 등급과 OSB 노출 등급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60513"/>
                <a:gridCol w="8733901"/>
              </a:tblGrid>
              <a:tr h="62973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2973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천연무늬결 단판, 비구조용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973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옹이 없는 매끈한 표면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2973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썩음 없이 단단. 산옹이 지름 1인치(25.4mm)까지 허용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973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C-plugged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C등급보다 엄격한 품질 제한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2973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옹이구멍 1인치 이내(드물게 1½인치). 외장용 합판에 허용되는 최저 등급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973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옹이구멍 2½인치 이내(드물게 3인치). 외장용에는 사용 불가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OSB 노출 등급 : Exterior(영구 노출) &gt; Exposure 1(공사 중 장기간 노출·고습) &gt; Exposure 2(외기로부터 보호되는 일반 건축) &gt; Interior(실내 전용)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방수·단열·내화 재료 기준값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876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기준·시공 요점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방습지(TYVEK)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습기(방습)·빗물(방수)·바람(방풍) 차단하면서 내부 습기는 배출. 합판 위에 팽팽히 붙여 스테이플러 고정, 이음 약 150mm 겹침 후 테이프 처리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아스팔트 슁글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합판 위 아스팔트 펠트 1~2겹 → 슁글. 슁글용·아연도금 못을 각 모서리 50mm 지점, 한 장당 4개로 고정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유리섬유 단열재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R-11 : 2×4 벽체 · R-19 : 2×6 벽체, 장선 사이 소음 차단 · R-30 : 서까래·천장(간격 400/600mm). 빈 공간 없이 채우는 것이 핵심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방화 석고보드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30분 이상 내화성능(KS F 1611-1), 부위에 따라 30분~1시간 30분. 두께 12.5mm 또는 15mm 이상, 1겹 또는 2겹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방수 석고보드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수분 흡수 시 석고와 원지가 박리되지 않는 준불연 이상 제품 (KS F 3504)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골조용 연결 철물 (KS F 4514)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04719"/>
                <a:gridCol w="7789695"/>
              </a:tblGrid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철물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앵커볼트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기초와 상부 부재 연결 (갈고리·묻음·기초 볼트)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띠쇠 / ㄱ자쇠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기둥과 층도리, ㅅ자보·왕대공 맞춤부 / 모서리 기둥과 층도리 맞춤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감잡이쇠 / 꺾쇠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왕대공과 평보 연결 / 엇꺾쇠·보통 꺾쇠로 부재 긴결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스플릿링 · 전단플레이트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하중 전달용 주물 디스크. 긴 지간의 목구조에 사용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래그나사못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볼트 모양에 끝이 나사못. 재료가 두껍거나 접합부가 멀 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H(허리케인) · HCP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벽체와 서까래 연결 · 코너 서까래와 벽체 연결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5102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LUS · BC · CB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글루램·빔 고정용 행거 · 기둥과 보 연결 · 바닥기초와 기둥 연결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철물은 방청 처리 제품을 쓰고, 끝이 뾰족하고 무거우므로 장갑·안전화를 착용한다.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현장 위치와 형태 파악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412496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위치 파악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368604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설계도면 첫 장의 건축 개요에서 공사 현장 주소 확인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국토교통부 KISCON 건설공사 위치정보, 위성·로드뷰·날씨 정보를 사전 답사에 활용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위치에 따라 자재 반입·보관, 반입 수량, 작업자 투입 계획이 달라짐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412496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형태 파악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368604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인접 도로 폭(예: 3m·5m 도로)과 주도로까지 거리로 자재 반입·반출 동선 계획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상하수도, 전기통신, 전봇대, 고압선 위치 확인 (굴착 중 파손 방지)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지형 차이(바람·적설·습도·침수 위험)에 따라 목재 보관법을 달리함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배치도만으로 형상 파악에 한계가 있으므로 조감도를 함께 보며 건물 형상을 비교한다. 직접 현장에 방문해 토질·주변 현황·도로·민원 소지를 확인하는 것이 좋다.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1장  건축목공시공 도면 파악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도면의 종류와 재료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p03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50920"/>
            <a:ext cx="3436010" cy="11250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투상면의 방향 (정면·평면·좌우측면·배면)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p044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826" y="1444752"/>
            <a:ext cx="2024041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1층 평면도 예 (복층 주택, 99㎡)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p041_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180" y="1632669"/>
            <a:ext cx="3436010" cy="13615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정방향 입면도 예 (단층 주택)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_p082_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939" y="3931920"/>
            <a:ext cx="2301139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배치도 — 출입구와 대지 경계선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1_p054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842" y="4063666"/>
            <a:ext cx="3436010" cy="14738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합판의 구성 (홀수 매 단판을 직교 적층)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1_p069_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8041" y="3931920"/>
            <a:ext cx="3064288" cy="17373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계단 용어 (스트링거·라이즈·런·킥보드)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건축목공시공 현장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안전보호구 착용, 안전시설물 설치, 불안전 시설물 개선으로 위험요소로부터 근로자를 보호한다.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23871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35352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5352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안전보호구 착용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35352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보호구의 선택·착용, 안전 작업도구의 특징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974847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974847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안전시설물 설치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74847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시설물의 설치와 사용, 계획도·점검 체크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514343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514343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불안전시설물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514343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 안전 점검·관리, 불안전 시설물 제거와 교육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45279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529327"/>
            <a:ext cx="7253935" cy="38404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529327"/>
            <a:ext cx="7253935" cy="384048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현장안전 · 건설기술관리법 · 안전사고 · 안전보호구 · 안전시설물 · 안전점검 체크리스트 · 안전교육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현장 안전관리의 기본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27203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27203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안전관리계획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27203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27203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착공 전 수립하고 상황에 따라 변경 계획을 보완 (건설기술관리법)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공사금액 3억 이상 100억 미만 공사는 착공 14일 이내 건설재해예방 전문기관과 기술지도 계약 (산업안전보건법)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71648"/>
            <a:ext cx="2148840" cy="9702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71648"/>
            <a:ext cx="2148840" cy="9702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안전작업환경 8항목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771648"/>
            <a:ext cx="8945575" cy="9702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771648"/>
            <a:ext cx="8835847" cy="9702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작업 전 안전교육 · 안전관리자 순찰 · 보호구 착용 확인 · 물체 투하 시 감시인 배치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취중자·허약자 작업 금지 · 구급품 확보 · 비상구 적재 금지 · 정리정돈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69944"/>
            <a:ext cx="2148840" cy="132283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69944"/>
            <a:ext cx="2148840" cy="132283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안전관리자·화재예방 관리자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869944"/>
            <a:ext cx="8945575" cy="132283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869944"/>
            <a:ext cx="8835847" cy="132283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안전관리자 : 교육 계획 수립, 순회점검, 해빙기·우기·태풍기·건조기 대비 점검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높이 5m 이상 조립·해체, 물체 투하, 낙하 위험 장소는 안전담당자 상주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화재예방 : 전기 무단사용 금지, 인화성 물질 관리, 소방기구 비치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20792"/>
            <a:ext cx="2148840" cy="9702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20792"/>
            <a:ext cx="2148840" cy="9702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기록과 비용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320792"/>
            <a:ext cx="8945575" cy="9702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320792"/>
            <a:ext cx="8835847" cy="9702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안전일지에 점검·교육·조치 내용 기록, 표준안전관리비는 공사금액과 별도 산정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사고 기록(개요, 일시·장소, 원인·과정, 재발방지계획)은 3년 보존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작업 내용별 안전·보건 장구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553644"/>
                <a:gridCol w="3540770"/>
              </a:tblGrid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장구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물체 낙하, 추락·충돌·감전 위험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충격·날카로운 물체, 운반·낙하 위험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안전화 (발·발목 보호)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높이 2m 이상 고소작업, 비계 발판 위 작업, 난간 밖으로 몸을 내미는 작업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안전대 (부속물 포함)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톱밥 등 분진, 유해가스·물질 발생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면마스크 · 방진마스크 · 방독마스크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유해광선, 가스·증기·분진 발산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차광안경 · 보호용 안경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소음 90dB 이상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차음 보호구 (귀마개·귀덮개)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용접작업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용접용 치마, 석면포, 토시, 재킷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979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손이 다칠 우려가 있는 일반 작업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면장갑 · 고무장갑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보호구는 신체 보호의 최후의 보루. 유해위험요인을 줄이거나 제거하는 것이 우선이며, 보호구만으로 모든 장해를 막을 수는 없다.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보호구 착용 요령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19151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안전모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75260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가볍고 견고한 KS 인증 제품, 고정대와 턱끈을 조여 흔들림 없이 착용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물려받은 모자는 균열·고정대 헐거움 확인 후 안전관리자 승인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19151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안전화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75260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작업장 특성에 맞고 발에 편안하며 발목까지 보호되는 가벼운 것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못을 밟아도 밑창이 뚫리지 않아야 함. 끈을 단단히 매고 꺾어 신지 않음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64280"/>
            <a:ext cx="5446623" cy="25267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428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6428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보안경·장갑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84904"/>
            <a:ext cx="5355183" cy="208788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보안경 : 얼굴에 맞고 흔들림·김서림이 없으며 시야가 넓은 것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장갑 : 손바닥이 코팅된 면장갑, 특수 장소는 전체 우레탄 코팅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764280"/>
            <a:ext cx="5446623" cy="25267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76428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76428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작업복·공구띠·안전대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184904"/>
            <a:ext cx="5355183" cy="208788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절대 상의탈의 금지, 작업복 위에 안전띠로 식별성 확보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공구띠는 필수 공구만 균형 있게. 안전대 로프는 2.5m 이내로 짧게, 안전대 걸이는 벨트보다 약간 높게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전동공구·수공구 안전 사용 요령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6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공구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안전 수칙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단정한 복장(장신구 제거), 통로·발판에 공구 방치 금지, 톱날 완전 정지 후 후속 동작, 1작업 1공구, 톱밥 수시 정리, 작동 중 주유·청소·조절 금지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망치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마감용·파괴용·나무망치·프레이밍 망치를 용도에 맞게. 휜 못은 못뽑이로 제거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임팩트렌치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귀마개 착용, 소켓 균열 점검, 양손 파지, 회전 방향 전환은 트리거에서 손을 떼고 정지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못총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구조틀용 못 길이 65~90mm·직경 2.9~3.3mm / 루핑건 19~45mm / 타카 스테이플 30mm(목재 전용, 석고보드 부적합). 방아쇠 2개를 순서대로 눌러야 발사. 컴프레서 2.5마력, 하부 수분 자주 배출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마이터 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톱날 외경 380mm·두께 2.5mm. 전원 OFF 확인 후 플러그 연결, 톱날이 최고 속도일 때 절단, 각도 스토퍼 0·15·22.5·30·45°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975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곡선·두꺼운 판재 절단. 단단한 목재는 촘촘한 날, 중앙 절단은 드릴로 구멍 낸 후 삽입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전동 드라이버·드릴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비트 크기에 맞는 나사못, 직각으로 서서히 가속. 드릴은 양손 파지, 마스킹테이프로 위치·깊이 표시, 역회전으로 빼냄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658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쏘(원형톱)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7인치(184mm) 날, 최대 절삭 깊이 90° 65mm · 45° 42mm, 약 4kg. 안전덮개 작동 확인, 직선 가이드는 보조로만 사용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건설 안전사고의 특징과 재해 요인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50164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사고의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206273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추락·전도·충돌·낙하·비래 등 발생 형태가 다양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높은 곳 작업과 중기계 사용으로 중대 사고 발생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공정이 서로 연계되어 복합 재해가 동시에 발생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50164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관리가 어려운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206273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옥외 작업이라 지형·기후 영향을 받아 위험 예측이 어려움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일당 근로자가 많아 소속감·안전교육 기회 부족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하도급 구조에서 책임 한계가 불분명, 신공법 안전기술 부족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피로 누적과 안전의식 부족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74414"/>
            <a:ext cx="5446623" cy="221665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7441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7441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사고 발생 시 조치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95038"/>
            <a:ext cx="5355183" cy="177774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 정지 → 사고자 구출 → 원인 조사를 위한 현장 보존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재발방지계획 수립, 기록 3년 보존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4074414"/>
            <a:ext cx="5446623" cy="221665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407441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407441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형태별 예방 대책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495038"/>
            <a:ext cx="5355183" cy="177774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넘어짐 : 미끄럼 방지 신발, 물기 즉시 제거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떨어짐 : 넘어짐 방지 사다리, 2인 1조, 작업발판 폭 30cm 이상 또는 추락방지망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끼임 : 중량물 2인 1조, 방호덮개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낙하 : 안전대 걸이 설비, 적치 자재 로프 결속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안전시설물 6종 설치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643255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48291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8291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 통행 알림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 중임을 주민·보행자·차량에 알림. 통로 주변에 비치, 완료 후 철거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24583"/>
            <a:ext cx="11094415" cy="643255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235898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3589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24583"/>
            <a:ext cx="2286000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소화·방재 시설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24583"/>
            <a:ext cx="7939735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화재 위험 장소에 잘 보이는 곳에 설치, 공사 완료까지 유지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77566"/>
            <a:ext cx="11094415" cy="643255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98888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98888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77566"/>
            <a:ext cx="2286000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 교육 시설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77566"/>
            <a:ext cx="7939735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 사무실 인근에 설치, 1일 1회 5분 이상 교육 후 작업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30549"/>
            <a:ext cx="11094415" cy="643255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3741864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7418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30549"/>
            <a:ext cx="2286000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 표기 입간판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630549"/>
            <a:ext cx="7939735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현장·일반·유해물질·전기·기계·가스 안전수칙을 눈에 띄는 곳에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3532"/>
            <a:ext cx="11094415" cy="643255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4494847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49484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383532"/>
            <a:ext cx="2286000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 가설벽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383532"/>
            <a:ext cx="7939735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소음·먼지 차단, 보행자와 현장을 분리. 대형화된 목조주택 현장에서 필수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36515"/>
            <a:ext cx="11094415" cy="643255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5247830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24783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136515"/>
            <a:ext cx="2286000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 경계 차단재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136515"/>
            <a:ext cx="7939735" cy="6432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라바콘과 차단봉으로 진입 차단·차량 유도, 상황에 따라 이동 설치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설치 계획은 배치도에 안전시설물 위치를 표시하는 것부터. 가설벽 → 사무실·교육장 → 자재 적재 순으로 배치한다.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목조주택 시공 순서와 안전관리계획서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19861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59980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9980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현장준비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사무실·화장실, 가설시설, 상하수도·전기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9980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기초공사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건물 위치·레벨, 터파기, 정화조, 파일, 콘크리트 기초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9980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골조세우기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바닥·외벽·내벽·지붕 골조, 브레이싱·개구부·계단 (공기가 가장 긴 핵심 공정)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9980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외부 마감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코킹, 외부 트림, 싱글·사이딩·벽돌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9980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5~6 내벽·내부 마감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주방·욕실 방수 주의, 계단·바닥재·가구·위생도기·조명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9980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7~8 옥외·완공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데크·담장 (데크만 3~4일) → 현장 정리, 준공검사, 사용 승인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안전관리계획서 구성 : 공사 개요 · 안전관리조직 · 공정별 안전점검 · 공사장 주변 안전관리 · 통행안전시설·교통소통 · 안전관리비 집행 · 안전교육 · 비상시 긴급조치 (공종별 세부계획은 해당 공종 착공 전 제출)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안전점검과 불안전 요소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08381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083818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점검 주기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08381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083818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매일 자체 안전점검, 우기·동절기 특별 점검, 정기점검은 반기 1회 이상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중대한 결함 발견 시 관계 행정기관에 즉시 통보, 필요 시 긴급점검·정밀안전진단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3434"/>
            <a:ext cx="2148840" cy="103301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83434"/>
            <a:ext cx="2148840" cy="103301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점검 순서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583434"/>
            <a:ext cx="8945575" cy="103301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583434"/>
            <a:ext cx="8835847" cy="103301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설계도서 사전 검토 → 과업수행계획서 → 현장조사 → 점검 부위 청소 → 상태평가 → 안전성평가 → 종합평가·안전등급 지정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4468"/>
            <a:ext cx="2148840" cy="103301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4468"/>
            <a:ext cx="2148840" cy="103301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점검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744468"/>
            <a:ext cx="8945575" cy="103301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744468"/>
            <a:ext cx="8835847" cy="103301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반발경도 측정기, 크랙게이지, 광파·레이저 거리 측정기, 레이저 처짐 측정기, 적외선 열화상 카메라, 코어 채취기, 도막측정기, 진동소음 측정기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05502"/>
            <a:ext cx="2148840" cy="138557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05502"/>
            <a:ext cx="2148840" cy="138557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불안전 시설물·행동 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4905502"/>
            <a:ext cx="8945575" cy="138557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4905502"/>
            <a:ext cx="8835847" cy="138557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과적재 비계 붕괴, 인양 로프 파손, 사용 후 철물·폐기물·쇠갈고리 방치, 사다리 고정대 없음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누전차단기 없는 조명 감전, 조도 부족으로 절단 재해, 분진 속 호흡 보호구 미착용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건설현장 13가지 사고 예방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440817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작업 전·중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396925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작업 전 스트레칭과 보호구 착용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안전통로 확보, 안전대 걸이 시설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표준 안전 난간대·안전표지판 설치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작업발판 고정, 인양 와이어로프 안전율 확인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개구부 방호, 낙하·비래 방지 설비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440817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설비·환경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396925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낙하·위험구역 접근금지, 가설전선 상태 확인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분전함 누전차단기 설치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법적 조도 확보, 신호수·경보장치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기계 방호조치, 이동식 작업대 전도 방지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터파기 안전구배, 거푸집 지보공·가설비계 점검, 용접 시 인화물 격리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양중기 재해 원인 : 작업계획서 미작성, 무면허 조작, 정격하중 초과, 아웃트리거 미설치, 신호 불일치, 신호수 미배치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2장  건축목공시공 현장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공구 사용과 안전시설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p030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17" y="1444752"/>
            <a:ext cx="2063983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못총 사용 방향 (방아쇠 당김 방향)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p034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789" y="1444752"/>
            <a:ext cx="2704116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스킬 쏘(원형톱) 사용 — 직선 가이드는 보조로만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p044_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613" y="1444752"/>
            <a:ext cx="2303145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안전 통행 알림 시설물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_p045_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079" y="3931920"/>
            <a:ext cx="2308860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현장 안전 교육장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2_p047_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4275" y="3931920"/>
            <a:ext cx="2303145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공사현장 안전 가설벽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2_p076_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219" y="3931920"/>
            <a:ext cx="2307932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불안전 시설물 예 — 동바리 설치 불량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건축목공시공 계획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수립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설계도면을 검토하고 내역을 산출하며, 지정공기에 맞는 공정표를 작성해 인원·자재·장비 투입 계획을 세운다.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23871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35352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5352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설계도면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35352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설계 도면 파악, 계약서·내역·물량 파악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974847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974847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공정표 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74847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공사기간 산출, 공정 구분과 WBS 공정표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514343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514343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인원 투입 계획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514343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실행 내역(원가계산) 작성, 인원 구성·배치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053839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53839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4  자재·장비 투입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53839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목재 종류, 품질관리, 도면별 필요 재료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684775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5068823"/>
            <a:ext cx="7253935" cy="38404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068823"/>
            <a:ext cx="7253935" cy="384048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공사기간 · 공정표 · 물량산출 · 자원배당 · 인력구성 · 목재 · 건설기계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설계 과정 4단계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373886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84823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8482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1373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계획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1373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건축주 요구(평면·재료·예산·배치)를 건축법 기준으로 정리. 배치도·평면도·입면도·단면도·조감도 작성, 건폐율·용적률 등 지역지구 법규 검토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5214"/>
            <a:ext cx="11094415" cy="1072134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3180969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18096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55214"/>
            <a:ext cx="2286000" cy="107213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기본 설계 (인허가)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55214"/>
            <a:ext cx="7939735" cy="107213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용도·입지·크기·높이의 적법 여부를 행정 주무부서에 신고. 지적측량·법규·현장 상태·민원 여건까지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7076"/>
            <a:ext cx="11094415" cy="1072134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436283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362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37076"/>
            <a:ext cx="2286000" cy="107213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실시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037076"/>
            <a:ext cx="7939735" cy="107213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구조계산서 기반 구조도면 + 전기·배관·소방·통신 설비 + 마감 상세도 + 공사방법 설명서. 작업자 간 정보 공유로 시간·비용 단축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8938"/>
            <a:ext cx="11094415" cy="1072134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5544693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554469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18938"/>
            <a:ext cx="2286000" cy="107213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현장 설계·설계 변경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5218938"/>
            <a:ext cx="7939735" cy="107213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예측 못한 현장 여건·건축주 변심으로 변경 발생. 추가 비용과 공기 연장을 막으려면 실시설계 단계에서 최대한 조율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기본 설계 시 검토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7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24462"/>
                <a:gridCol w="8969952"/>
              </a:tblGrid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기준·설명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건축면적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지반(G.L) 1m 이상 높이부터 건축면적에 산입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연면적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층 바닥면적의 합계. 용적률 산정 시 지하층·주차장 면적은 제외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건폐율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대지면적 대비 건축물 바닥면적 비율. 예) 330㎡ 대지에 100㎡ 주택 → 30%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용적률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대지면적 대비 연면적 비율. 예) 330㎡ 대지, 300% → 990㎡까지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건축물 구조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목구조·벽돌·블록·철근콘크리트·철골·철골철근콘크리트·경량철골조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오수처리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단독주택 30평 이하 5인용, 9평 증가마다 1인 추가, 약 67평 초과 시 10인용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대지 220㎡(60.5평) 이상이면 조례 기준에 맞춰 조경 시행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연면적 50~150㎡ 주택은 1대, 150㎡ 초과 시 100㎡당 1대 추가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408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난방시설, 진입로, 대지 경사도, 일조권, 조망권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설계 고려 : 주 방향은 남향(개구부가 많을수록 빛·열 유입), 단단하고 배수 좋은 지반, 동선 최소화, 피난로 확보, 소방·방화 설계 반영.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계약서와 설계도면 검토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14681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14681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계약서 필수 기재사항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14681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14681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도급인과 수급인 · 건축물의 위치와 규모 · 공사기간 · 대금 지불 방법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안전사고 조치 이행 · 하자보수·손해배상 책임 · 직인·날인·계약일자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46426"/>
            <a:ext cx="2148840" cy="109601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46426"/>
            <a:ext cx="2148840" cy="109601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계약 기준 세분화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646426"/>
            <a:ext cx="8945575" cy="109601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646426"/>
            <a:ext cx="8835847" cy="109601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기본 계약 / 옵션 계약(거실 오픈 천장, 허리 루바, 화장실 추가, 야외 데크, 2층 현관 지붕, 가로등) / 불포함(싱크대·도배·장판·마루·조명)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70452"/>
            <a:ext cx="2148840" cy="139776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70452"/>
            <a:ext cx="2148840" cy="139776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도면 읽기 순서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870452"/>
            <a:ext cx="8945575" cy="139776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870452"/>
            <a:ext cx="8835847" cy="139776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배치도(방향·도로·출입구) → 1층 평면도(실 크기·설비) → 기초 평면도(콘크리트 벽 200mm, 철근 #10 간격 1,200mm 이하) → 입면도 → 지하층·설비도 → 단면도(기초·바닥 두께·계단·지붕)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6230"/>
            <a:ext cx="2148840" cy="89484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96230"/>
            <a:ext cx="2148840" cy="89484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396230"/>
            <a:ext cx="8945575" cy="8948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396230"/>
            <a:ext cx="8835847" cy="89484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 내역이 정확히 산출된 뒤에 계약서를 작성한다. 내역 없이 계약하지 말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도면에서 확인하는 부위별 설계 내역 예 (목조주택)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6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예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84963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방습지 2겹 → 9.5mm 합판 → 38×140mm 스터드 @400 → R-20 단열재 → 6MIL 폴리 → 12.5mm 석고보드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실내 간막이벽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38×89mm 스터드 @400, 양면 12.5mm 석고보드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천장·지붕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R-40 단열재, 12.7mm 석고 천장보드, 12mm 합판 또는 OSB 덮개, 2겹 펠트 + 아스팔트 싱글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바닥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마감 마루판 → 19mm 제혀쪽매 합판(나사 접착) → 300mm TJI 공학 장선 → R-30 유리섬유 단열재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지하층 바닥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89mm 콘크리트 슬래브 → 6MIL 폴리 → 150mm 자갈 다짐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디딤면 250mm, 디딤판 275mm(코 25mm), 챌면 194mm, 옆판 3-38×235mm, 난간동자 812mm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457×200mm 콘크리트 지정, 철근 #10 2열, R-12 강성 단열재, 배수용 PVC관과 150mm 이상 자갈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공사기간 산정과 공정별 소요 기간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기준·예시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공사기간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난방(기계)공사는 건축공사와 동일, 전기·통신공사는 각각 일수 가산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8300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여건 가산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산간오지·도서 지역은 일수 추가, 특수구조·공기단축 공법은 증감, 부지정지·민원은 별도 산정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준공시점 보정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1~2월 준공은 전년 12월 기준(동절기 1개월 제외), 3월 준공은 4월 기준으로 산정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8300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건물 배치 · 터파기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약 1일(대각선법으로 직각 확인) / 터파기 보통 1일 + 부대시설 1일, 주택 경계 주위 1m 작업공간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8300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기초·골조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기초는 유형에 따라 수 주. 골조는 토대(방부목) → 장선·바닥 덮개 → 벽체(임시 가새) → 이중 윗깔도리 → 지붕 트러스 순, 전체 공정 중 가장 중요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창호 · 외장 · 내장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창호 3~7일 / 외장 마감 1~2주 / 내장 마감 약 2주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사전 준비(설계·허가·공사비 조달)는 공사 일정에 배정하지 않는다. 설비공사 시 스터드·깔도리·장선·보의 천공·따냄 제한을 지킨다.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WBS 공정표 분류 (목조주택 예)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39745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24462"/>
                <a:gridCol w="2124462"/>
                <a:gridCol w="6845490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대분류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중분류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소분류 예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기초공사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콘크리트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규준틀·토목 → 버림 콘크리트 → 거푸집 → 철근 배근 → 오하수·수도·전기 배관 매립 → 타설 → 양생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구조목·내외장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목구조 공사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스터드·헤더 제작 → 토대목 → 1층 벽체 → 2층 바닥 → 2층 벽체 → 서까래 → 외벽·지붕 OSB → 지붕 방수시트 → 박공벽·천장 장선 → 외벽 타이벡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내외장공사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외장·설비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전기 내선, 페이샤·빗물받이, 지붕 싱글, 외벽 사이딩, 배관, 방통 모르타르, 보일러, 데크, 단열재, 내벽 OSB·석고, 창호, 타일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마감공사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도배, 전기조명, 바닥재, 싱크대, 실내외 청소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483352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483352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WBS(Work Breakdown Structure) : 프로젝트를 대·중·소 작업으로 나누고 우선순위와 선후 관계를 구조적으로 표현하는 체계.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목공사 물량산출 기준 (국토해양부 수량산출기준)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40770"/>
                <a:gridCol w="1062231"/>
                <a:gridCol w="6491413"/>
              </a:tblGrid>
              <a:tr h="4839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소분류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 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5218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목조 지붕틀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㎡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지붕틀이 덮고 있는 건축 바닥면적. 서양식은 경간 7.2m 이하 등으로 구분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39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목조 지붕널 덮기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㎡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지붕널 사용 지붕의 정미면적, 널 두께 12·15·18·24mm 구분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5218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목조 마루틀 / 마루널 깔기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㎡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시공하는 마루틀의 바닥면적 (장선·멍에 포함) / 마루널 두께별, 단열재 제외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39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목조 계단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㎡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설계도서에 표시된 계단 바닥면적, 난간동자 포함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839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목조 반자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㎡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시공면적. 달대·달대받이·반자틀·마감재 포함, 도배·도장·보온재 제외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39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목조 칸막이틀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㎡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시공되는 벽체 입면적. 일반/방음 구조, 단열재·마감 제외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839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띠장 설치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㎡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띠장이 설치되는 벽의 입면적, 두께 50·100mm 구분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일위대가 = 표준품셈의 기본 단위 수량 × 단가 (재료비 + 인건비 + 공구손료). 내역서 금액은 견적금액과 일치해야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공사원가 계산서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112723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112723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순공사원가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112723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112723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재료비(직접재료비) + 노무비(직접·간접노무비) + 경비(산출경비, 산재·고용·건강·연금보험료, 퇴직공제부금, 산업안전보건관리비, 기타경비, 보증수수료, 환경보전비)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12339"/>
            <a:ext cx="2148840" cy="861771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2339"/>
            <a:ext cx="2148840" cy="861771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가산 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612339"/>
            <a:ext cx="8945575" cy="8617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612339"/>
            <a:ext cx="8835847" cy="861771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일반관리비 = 순공사원가 × 고시 요율 / 이윤 = (노무비 + 경비 + 일반관리비) × 요율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PS(사후정산 잠정금액)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02126"/>
            <a:ext cx="2148840" cy="810971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02126"/>
            <a:ext cx="2148840" cy="810971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총계 산출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602126"/>
            <a:ext cx="8945575" cy="8109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602126"/>
            <a:ext cx="8835847" cy="810971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총원가 = 순공사원가 + 일반관리비 + 이윤 + PS → 소계 = 총원가 + 공사손해보험료 → 총계 = 소계 + 부가가치세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41113"/>
            <a:ext cx="2148840" cy="810971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41113"/>
            <a:ext cx="2148840" cy="810971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산업안전보건관리비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4541113"/>
            <a:ext cx="8945575" cy="8109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4541113"/>
            <a:ext cx="8835847" cy="810971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관급자재가 없으면 (재료비 + 직접노무비) × 적용률. 있으면 두 방식 중 적은 금액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0100"/>
            <a:ext cx="2148840" cy="810971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80100"/>
            <a:ext cx="2148840" cy="810971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집계표 22개 공종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5480100"/>
            <a:ext cx="8945575" cy="8109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52344" y="5480100"/>
            <a:ext cx="8835847" cy="810971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가설·토공·철근콘크리트·철골·벽돌·돌·타일·목공·방수·지붕·금속·미장·창호·유리·칠·수장·부대·철거·골재운반·작업부산물·폐기물·인테리어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건축공사 표준품셈 (2015) — 목공사 ㎡당 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1986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40770"/>
                <a:gridCol w="2596565"/>
                <a:gridCol w="2596565"/>
                <a:gridCol w="2360513"/>
              </a:tblGrid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공종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건축목공(인)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보통인부(인)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1029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먹매김 (거푸집/주택)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구조부 주택 0.009, 일반 0.005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마루틀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0.007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 0.03kg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마루널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0.09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마루밑창 0.02/0.005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천장틀 (널/우물/합판텍스)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0.22 / 0.66 / 0.22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0.021 / 0.063 / 0.021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우물천장이 널천장의 3배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0.033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틀 간격 450~600mm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간막이벽 (일반 / 방음)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0.34 / 0.50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0.03 / 0.05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 0.06 / 0.12kg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합판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0.060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0.006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공구손료 인력품 2%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수장 합판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0.065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0.007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접착제 0.27kg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커튼 박스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0.037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588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토대 (2015 신설)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0.073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씰실러 + 방부목, 앵커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할증률 : 각재 10%, 졸대·널재 20%, 목재 10%, 합판 3%, 단열재 10%, 붉은 벽돌 3%, 시멘트 벽돌 5%, 마루바탕 빗댐 20%. 100㎡ 주택 기준 전체 투입 인력은 연 225명 규모(일 5~8명).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목재 품질관리와 건조 결함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25437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건조의 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81546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사용 장소의 평균 이용 함수율까지 건조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건조 방법 : 천연·인공·특수건조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구조재는 섬유포화점 이하(함수율 약 19% 이하)로 건조·대패(S4S)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25437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할렬 · 틀어짐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81546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할렬 : 건조 초기 인장응력이 후기 압축응력으로 바뀌며 표면·횡단면·내부 갈라짐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틀어짐 : 굽음(bow)·측면굽음(crook)·너비굽음(cup)·비틀림(twist)·마름모(diamonding), 올바른 쌓기로 최소화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27145"/>
            <a:ext cx="5446623" cy="195262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27145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27145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변색 · 내구성 저하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47769"/>
            <a:ext cx="5355183" cy="1513712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변색 : 균·추출물이 고온에서 반응, 청변균 반점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내구성 저하 : 균류, 흰개미·목수개미, 화재, 자외선, 마찰, 부식 산화물 접촉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827145"/>
            <a:ext cx="5446623" cy="195262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827145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827145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방부제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247769"/>
            <a:ext cx="5355183" cy="1513712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CCA(크롬·구리·비소)는 사용 금지 — 용출로 환경·인체에 해로움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대체로 ACQ 사용 증가. KS 기준 미달 약제는 사용 금지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벌목 : 방향베기(수구)는 V형으로 따내고, 따라베기(추구)는 수구보다 50mm 이상 높게. 나무가 흔들리기 시작하면 체인톱을 멈추고 대피.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도면별 필요 재료 파악과 구조재 규격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33406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2616"/>
                <a:gridCol w="8261798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도면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재료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도면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잡석·성토, 버림 콘크리트, 압축 스티로폼, 철근, 유로폼, 비계, 앵커·볼트, 기초 콘크리트, PE필름(보양·방수), 방부목 토대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평면도 (벽체)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구조목 2×6·2×8(L=4,800mm), OSB 11T, 합판 12T (1,220×2,440mm), 못·연결철물(행어)·단열재·창호·문틀·석고보드·코킹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지붕 평면도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구조목 2×6·2×8, 연결철물·클립·메가타이, OSB 11T, 방수시트·소핏벤트·시멘트 사이딩·단열재·아스팔트 싱글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849368"/>
            <a:ext cx="11094415" cy="5836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9368"/>
            <a:ext cx="11094415" cy="58369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침엽수 구조용재는 S.P.F 혼합수종이 주류. 수입품은 inch 단위가 많아 ISO(mm) 단위와 환산해 이해. 2×4 등은 건조 전 공칭치수이고 실제 치수는 건조 후 더 작다.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3장  건축목공시공 계획 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설계·공정·자재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p019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63810"/>
            <a:ext cx="3436010" cy="1699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건축목공시공 설계 과정 (계획→기본→실시→변경)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p043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239" y="1444752"/>
            <a:ext cx="2291216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목조주택 공정표 예 (공종별 기간)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p074_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6985" y="1444752"/>
            <a:ext cx="1906400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원목 절단 과정 (수구·추구 따내기)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_p080_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75" y="3931920"/>
            <a:ext cx="3407467" cy="1737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규격재 단면 (2×4·2×6·2×10, 길이 3.6m)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3_p081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842" y="4022394"/>
            <a:ext cx="3436010" cy="15564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OSB 표기 사항 (등급·간격·노출 등급)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_p082_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087" y="3931920"/>
            <a:ext cx="2584196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합판 표기 사항 (품질기준·등급·두께)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건축목공시공 시공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세부 공정표와 시공상세도를 작성하고, 장비·공구를 점검하며, 반입 자재·제품을 검수한다.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23871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35352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5352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세부 공정표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35352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공정관리·PERT/CPM, 인력·자재 투입과 발주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974847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974847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시공상세도 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74847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상세도 작성 원칙, 설계 변경 절차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514343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514343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장비·공구 점검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514343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공구·장비 파악, 장비 사용 안전수칙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053839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53839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4  반입 자재 검수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53839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자재 검수 기준, 검수·관리 보고서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684775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5068823"/>
            <a:ext cx="7253935" cy="38404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068823"/>
            <a:ext cx="7253935" cy="384048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세부공정표 · 인력 · 발주 · 자재 · 시공상세도 · 설계 변경 · 공구 · 안전수칙 · 반입자재 · 물품 검수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공정관리의 목적과 4단계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17500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73609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Network로 책임관계 명확화, 일관된 소통으로 업무 효율 증대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시행착오 최소화·문제점 조기 파악, 적정 공사속도 유지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자금 소요계획과 투입 자원의 합리적 예측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17500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73609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계약서류 검토, 인원·자재·장비 투입상 문제점 검토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유사 공사자료로 요소작업 분해 후 공기 추정, 선·후행 관계로 순서 결정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7770"/>
            <a:ext cx="5446623" cy="182244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4777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4777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Scheduling ·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8394"/>
            <a:ext cx="5355183" cy="138353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Scheduling : 시공계획·투입계획을 더 세분화하고 현실적인 일정으로 수립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Monitoring : 일정 기간 수행 후 작업 진도를 신속·정확하게 추정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747770"/>
            <a:ext cx="5446623" cy="182244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74777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74777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Control &amp;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168394"/>
            <a:ext cx="5355183" cy="138353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실적과 계획을 비교해 차이 발생 시 대책 강구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수정계획 작성 후 Scheduling 단계로 돌아가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목조주택은 목재가 가볍고 강하며 접합이 쉬워 다른 구조보다 공기가 짧다. 공장 조립 벽체 패널·트러스를 쓰면 골조 공기가 더 단축되지만 공기 단축으로 품질이 떨어져서는 안 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PERT/CPM 일정 계산 용어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198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60513"/>
                <a:gridCol w="5429181"/>
                <a:gridCol w="3304719"/>
              </a:tblGrid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산식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92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 / TL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최조 일정(전진계산) / 최지 일정(후진계산)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전진은 가장 긴 경로, 후진은 가장 짧은 값 선택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EST / EFT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최조 착수 / 최조 완료 시점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EFT = EST + 소요일(D)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92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LST / LFT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최지 착수 / 최지 완료 시점 (총 공기를 지연시키지 않는 한계)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LST = LFT − D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TF (총 여유)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완료일을 바꾸지 않고 지연 가능한 최대 시간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TF = LST − EST = LFT − EFT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FF (자유 여유)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작업이 EST로 시작될 때 해당 작업의 여유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FF = 후속 EST − 당해 EFT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IF (간섭 여유)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TF와 FF의 차이. 초과 사용 시 후속 작업 여유 감소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IF = TF − FF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92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C.P (주공정)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TF가 0인 작업을 연결한 최장 경로, 총 공기를 결정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작업 수의 10~20%, 여러 개 가능·변동 가능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Network 작성 순서 : 기초자료 조사 → 요소작업 분류(WBS) → 작업 순서·기간 결정 → Network 작성 → 일정 계산. 작업 순서는 기술적·자재 특성·안전관리·관리 목적상 제약을 고려한다.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공기 단축, 자원·진도·공사비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77546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77546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공기 단축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77546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77546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비용 증가 없는 단축 : C.P 작업 재검토(역행 작업화), 여가 자원 투입, 작업 간 Logic 조정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비용 증가 최소 단축 : 돌관(급속) 작업, 비용구배(Cost Slope)가 가장 작은 작업부터 단축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특급 공기(Crash Point) 이하로는 단축 불가, Sub-C.P 발생에 유의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75076"/>
            <a:ext cx="2148840" cy="819403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75076"/>
            <a:ext cx="2148840" cy="819403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자원관리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3275076"/>
            <a:ext cx="8945575" cy="819403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3275076"/>
            <a:ext cx="8835847" cy="819403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인력·장비·자재·자금의 평준화(Resource Levelling)로 유휴시간 제거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내구성 자원(인력·기계·가설재)과 소모성 자원(자재·자금)으로 구분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22496"/>
            <a:ext cx="2148840" cy="1121156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2496"/>
            <a:ext cx="2148840" cy="1121156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진도관리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222496"/>
            <a:ext cx="8945575" cy="112115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222496"/>
            <a:ext cx="8835847" cy="1121156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진도보고 → Up-Dating(완료 작업은 실제 착수·완료일, 진행 작업은 잔여 일수 입력) → Follow-Up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C.P 지연 시 자원 추가 투입, 여유 공정에서 C.P로 자원 이동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71668"/>
            <a:ext cx="2148840" cy="819403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71668"/>
            <a:ext cx="2148840" cy="819403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공사비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471668"/>
            <a:ext cx="8945575" cy="819403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471668"/>
            <a:ext cx="8835847" cy="819403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BCWS 소화예산, BCWP 기성고, ACWP 실투입비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Cost Variance = BCWP − ACWP / Schedule Variance = BCWP − BCWS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기초공사 자재 투입 계획 예 (바닥면적 90㎡)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919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4484976"/>
                <a:gridCol w="1888411"/>
                <a:gridCol w="2478539"/>
              </a:tblGrid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자재·규격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투입량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 / 공기 / 인력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잡석 다짐·성토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잡석 10~25mm / 성토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6㎥ / 16㎥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공사 시작 / 1일 / 3인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버림 콘크리트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압축강도 15MPa 이상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성토 후 / 1일 / 3인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단열재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압축 스티로폼 T100×900×1,800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버림 후 / 0.5일 / 2인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철근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HD13 (1M 160본, 8M 240본)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스티로폼 후 / 1일 / 5인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거푸집·앵커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유로폼(200~600×1,200), L앵커·세트앵커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철근 배근 후 / 1일 / 3인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매트 콘크리트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레미콘 28MPa 이상, PE필름 T0.08mm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37.5㎥ / 2롤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철근 후 / 1일 / 3인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콘크리트 양생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7일 이상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66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토대·깔도리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방부목 2×4×16, 2×6×16 / 일반목 2×4, 2×6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2·16EA / 8·16EA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양생 후 / 1일 / 5인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벽체·지붕 자재 투입 계획 예 (벽체 1~7)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2" cy="4198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86801"/>
                <a:gridCol w="2133541"/>
                <a:gridCol w="2560249"/>
                <a:gridCol w="1706833"/>
                <a:gridCol w="1280124"/>
                <a:gridCol w="2026864"/>
              </a:tblGrid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길이×높이(mm)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구조목 2×6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OSB 11T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단열재 R19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석고보드 9.5T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3,900×2,353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9EA + 2×8 1.5EA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2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6,760×2,353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12EA + 2×8 2.5EA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5장 (+8T 5장)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12EA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9,660×2,353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22EA + 2×8 1EA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8장 (+8T 4장)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4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8,560×2,353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15EA + 2×8 3EA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16EA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14장 + 방수 6장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5,760×2,353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12EA + 2×8 2EA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6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3,650×2,353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9EA + 2×8 1EA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8EA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248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7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8,420×2,353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17EA + 2×8 2EA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13EA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벽체는 선제작 후 토대목 공사 뒤 1일·5인 투입. 지붕 : 서까래 2×8 @24 간격, OSB 11T 53장, 아스팔트싱글 70EA, 방수시트 20롤, 메가타이 50EA. 시멘트 사이딩은 40mm 이상 중첩, 화장실 내벽은 8T OSB 후 방수석고 마감.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시공상세도 작성 원칙과 책임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41097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41097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작성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41097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41097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실시설계도면 기준, 현장 여건·공종별 시공계획을 반영해 상세하게 작성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 시공·구입 가능한 크기·길이의 자재 사용, 정확한 치수·축척 명시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시방서 요구사항을 종합 반영, 부위별 재료명·설치·마감 상태 표기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10586"/>
            <a:ext cx="2148840" cy="100761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10586"/>
            <a:ext cx="2148840" cy="1007618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4대 요구조건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910586"/>
            <a:ext cx="8945575" cy="100761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910586"/>
            <a:ext cx="8835847" cy="1007618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정확성(치수) · 평이성(일반 기능공이 이해) · 명확성(간단·완전) · 정돈성(공사 순서에 맞는 배치)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46220"/>
            <a:ext cx="2148840" cy="105841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46220"/>
            <a:ext cx="2148840" cy="105841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표현 규칙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046220"/>
            <a:ext cx="8945575" cy="105841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046220"/>
            <a:ext cx="8835847" cy="105841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기본 용지 A3(297×420mm), 단위 mm, 보이는 부분은 실선·숨은 부분은 파선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표제란에 작성·검토·확인자 서명, 주석(note)란에 특기사항, 정북을 도면 위쪽으로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32654"/>
            <a:ext cx="2148840" cy="105841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32654"/>
            <a:ext cx="2148840" cy="105841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책임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232654"/>
            <a:ext cx="8945575" cy="105841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232654"/>
            <a:ext cx="8835847" cy="105841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작성 의무자는 현장대리인. 감리원은 승인 / 조건부 승인 / 불허로 검토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발주청 또는 감리원이 승인해도 시공자의 하자 책임은 면제되지 않음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설계 변경의 사유와 절차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40816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8300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 중 예기치 못한 사태·물량 증감·계획 변경으로 설계를 바꾸는 것. 계약의 본질을 바꿀 정도면 설계 변경이 아니라 새 계획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8300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법적 사유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설계서 불분명·누락·오류·모순 ② 지질·용수 등 현장 상태가 설계서와 다름 ③ 신기술·신공법으로 공사비 절감·공기 단축 효과가 현저 ④ 발주기관이 변경 필요를 인정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8300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상태 상이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계약상대자가 즉시 상이한 현장 상태를 서면 작성 → 공사감독관 경유 계약담당공무원에 통지 → 확인 후 변경 여부 결정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신기술·신공법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설명서·산출내역서·수정 공정표·절감효과를 첨부해 서면 요청. 개발 비용은 청구 불가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필요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추가공사, 공종 삭제, 공정·시공방법 변경 시 개요서·수정도면·시방서와 함께 서면 통지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4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 조정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예정가격 88% 미만 낙찰 공사에서 증액이 계약금액의 10% 이상이면 소속중앙관서장 승인 필요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물량 정산 : 증가·누락 물량은 계약단가와 변경 당시 단가 범위에서 협의, 감소·삭제는 내역서상 해당 금액을 감액, 누락 물량 삭제는 조정 없음.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공구·장비 점검과 안전수칙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20827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목공 공구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76936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물매 수평자 : 지붕 물매·바닥 수평·직각도 확인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에어 컴프레셔 : 600L 이상 적합, 하부 워터트레인으로 주기적 배수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못총·해머·고무망치·임팩트렌치·전동 드라이버·공사용 집게(plier)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20827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굴삭기(백호)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76936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버킷 마모·균열·변형, 이빨 손상·풀림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붐·암 손상, 유압장치 정상 작동·누유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선회장치와 연결핀, 버킷 안전핀 체결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1044"/>
            <a:ext cx="5446623" cy="251002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8104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8104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지게차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01668"/>
            <a:ext cx="5355183" cy="207111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목조주택 현장은 약 2.5ton 규모가 적합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환경을 위해 전기 충전식 대여 권장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781044"/>
            <a:ext cx="5446623" cy="251002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78104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78104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건설 장비 안전수칙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201668"/>
            <a:ext cx="5355183" cy="207111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평탄한 곳(경사 15° 이내)에서 정지·작업, 지반 상태 확인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출발 전 타이어·공기압·브레이크 점검, 급발진·급정지 금지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적재물 결박, 악천후 이동 금지, 자리 비움·대리 운전·음주·정원 초과 금지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반입 자재 검수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4472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98374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함수율 측정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KS F 2199. 구조용재 19% 이하(규격 구조재는 18% 이하 유지), 내장 마감재 15% 이하(필요 시 12%), 단면 짧은 변 900mm 이상 대단면재 24% 이하, 구조용 집성재 15% 이하, 구조용 합판 13% 이하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155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치수 검사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설계도서 우선, 없으면 KS F 3020(경골목조 구조용재)·KS F 3021(집성재)·KS F 1519(제재목). 건조·대패로 줄어드는 치수 고려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472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골조 간격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1,200×2,400mm 판재는 300·400·600mm, OSB 1,220×2,440mm는 305·406·610mm 간격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155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불가 목재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규격 부적합, 변재 나이테 간격 10mm 이상, 썩음·속빔·충해로 구조 성능 손상, 현장에서 판단 불가한 목재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472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구조용재 1등급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옹이 지름비 20% 이하, 나이테 간격 6mm 이하, 섬유 경사 1:12 이하, 굽음 0.2% 이하, 썩음 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1551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구조용 합판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내수 인장 전단 접착력 0.7N/mm² 이상, 함수율 13% 이하, 못뽑기 90N 이상, 포름알데히드 방산량 SE0·E0·E1 표시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4729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확인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제조업체 성적증명서 또는 등급인, 필요 시 공인검사기관(강도·함수율·밀도·치수안정성)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자재 선정·보관·검수 서류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99568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99568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친환경 선정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99568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9956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환경마크·탄소마크·환경성적표지 인증 우선, 에너지 소비·CO2 배출이 적은 재료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 인근 생산(운송 영향 감소), 재사용·재활용 용이, 잉여·폐기물 최소화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95296"/>
            <a:ext cx="2148840" cy="164998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95296"/>
            <a:ext cx="2148840" cy="164998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보관·취급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495296"/>
            <a:ext cx="8945575" cy="164998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495296"/>
            <a:ext cx="8835847" cy="164998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수분·오염 방지 포장, 하차 전 적치 장소 선정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버팀목을 깔고 계단식 적치, 고임목으로 지면에서 200mm 이상 띄우고 천막·방수덮개로 보호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가공·설치 후 장기간 노출 금지, 가능한 빨리 외장 덮개·마감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73296"/>
            <a:ext cx="2148840" cy="9448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73296"/>
            <a:ext cx="2148840" cy="9448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검수 절차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273296"/>
            <a:ext cx="8945575" cy="9448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273296"/>
            <a:ext cx="8835847" cy="9448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수급계획 → 변경 자재 승인신청 → 계약 품질조건 확인 → 필요 시 시험 의뢰 → 송장·납품서로 수량·치수 검사 → 품목·규격별 저장 → 검사·수불부 작성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46192"/>
            <a:ext cx="2148840" cy="9448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46192"/>
            <a:ext cx="2148840" cy="9448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관리 서류 7종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346192"/>
            <a:ext cx="8945575" cy="9448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346192"/>
            <a:ext cx="8835847" cy="9448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반입자재 검수일지 · 자재선정 승인요청 및 검토결과 통보서 · KS자재 사용 총괄표 · 검수대장 · 주요 지급자재 수불부 · 주요 자재 검사부 · 자재 검수 및 수령증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4장  건축목공시공 시공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공정·상세도·장비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p02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88478"/>
            <a:ext cx="3436010" cy="1649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NET-WORK 공정표 작성 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p034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714" y="1444752"/>
            <a:ext cx="2738266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1층 벽체 조립 도해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p058_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237" y="1444752"/>
            <a:ext cx="2017896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기초 위 바닥 상세도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_p058_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511" y="3931920"/>
            <a:ext cx="1589994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외벽 상세도 (방습지·단열재·사이딩)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4_p070_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088" y="3931920"/>
            <a:ext cx="2291517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못총 (구조틀용)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_p075_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1672" y="3931920"/>
            <a:ext cx="2577027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굴삭기 점검 포인트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먹매김 및 바닥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LM1403020105 + 0107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도면을 검토해 공종 간 연관성을 파악하고 먹매김한 뒤, 바닥 구조틀·마루판·걸레받이를 설치한다.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23871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35352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5352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먹매김 상세도면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35352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상세 도면 검토, 먹매김 위치·제한 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883408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883408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마감치수·간섭부위·먹놓기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883408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마감치수, 공종 간 간섭, 규준틀·먹놓기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331464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331464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바닥 구조틀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31464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방부목 선택, 토대·장선·바닥 덮개 설치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779520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79520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4  마루판 설치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79520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치장 목질 마루판 준비와 시공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27576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227576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5  걸레받이 설치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27576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걸레받이 가공·설치, 하자 방지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767072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151120"/>
            <a:ext cx="7253935" cy="58521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151120"/>
            <a:ext cx="7253935" cy="585216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먹줄놓기 · 레이아웃 · 규준틀 · 벤치마크 · 기준선 · 방부목 · 토대 · 멍에 · 장선 · 치장 목질 마루판 · 걸레받이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먹매김의 의미와 직각 잡기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13995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13995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먹매김이란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1399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13995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먹통·먹물·먹줄(요즘은 초크라인)로 기초·기둥·벽이 세워질 위치를 1:1로 표시하는 작업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잘못되면 하중 전달 문제, 심하면 붕괴로 이어지므로 도면에 먼저 먹매김 정보와 대각선 길이를 표시해 보고 시작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9568"/>
            <a:ext cx="2148840" cy="85496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39568"/>
            <a:ext cx="2148840" cy="85496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직각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639568"/>
            <a:ext cx="8945575" cy="85496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639568"/>
            <a:ext cx="8835847" cy="85496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피타고라스 수 : 3m × 4m이면 빗변 5m, 6m × 8m이면 10m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콘크리트 기초의 대각선 길이를 측정해 두 대각선이 같은지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22548"/>
            <a:ext cx="2148840" cy="80416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22548"/>
            <a:ext cx="2148840" cy="80416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진행 순서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622548"/>
            <a:ext cx="8945575" cy="80416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622548"/>
            <a:ext cx="8835847" cy="80416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기준점 확정 → 대각선 방향 선 → 한 변에 3m → 반대편 4m 긋기 → 교차점 표시 → 마주보는 선의 직각·도면 중심선 일치 수시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54728"/>
            <a:ext cx="2148840" cy="80416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54728"/>
            <a:ext cx="2148840" cy="80416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2층 장선 선(先)먹매김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4554728"/>
            <a:ext cx="8945575" cy="80416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4554728"/>
            <a:ext cx="8835847" cy="80416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끝막이 장선에 벽체 위치, 장선·스터드 간격, 외벽 기준점을 미리 표시하면 2층 먹매김 시간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908"/>
            <a:ext cx="2148840" cy="80416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86908"/>
            <a:ext cx="2148840" cy="80416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먹선 유지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5486908"/>
            <a:ext cx="8945575" cy="80416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52344" y="5486908"/>
            <a:ext cx="8835847" cy="80416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먹선을 덧칠, 교차점은 락카로 점 표시, 비 예보 시 보양막으로 덮기. 헷갈리면 초크라인 색상을 달리 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허용오차 기준과 시공오차 원인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19861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24462"/>
                <a:gridCol w="4957079"/>
                <a:gridCol w="4012873"/>
              </a:tblGrid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허용 오차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먹매김 오차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각층 기준 먹매김과 부재 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시공등급 1종 ±2.0, 2종 ±4.0 (mm)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5307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대지 관련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건축선 후퇴거리 · 인접 대지 경계선 · 인접 건축물과의 거리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3% 이내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5307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대지 관련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건폐율 / 용적률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0.5% 이내(5㎡ 초과 불가) / 1.0% 이내(30㎡ 초과 불가)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건축물 관련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건축물 높이 · 반자높이 · 출구너비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2% 이내 (높이는 1m 초과 불가)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5307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건축물 관련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평면길이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2% 이내 (전체 1m, 벽으로 구획된 각 실 10cm 초과 불가)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건축물 관련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벽체두께 · 바닥판 두께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3% 이내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시공오차 원인 : 대지 형상·면적이 설계도서와 불일치, 도면 축척의 개인별 해석 차이(임야도 1/3,000은 선 굵기에 따라 10~20cm 차이), 자재 품질과 작업자 숙련도. 건조 안 된 목재는 먹매김이 정확해도 치수가 변한다.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규준틀과 먹놓기 절차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10109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711833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71183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110109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규준틀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110109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말뚝은 통나무 끝 지름 7.5cm 또는 6cm 각목, 길이 1.5m 이상, 박는 깊이 75cm 이상(끝은 엇빗). 수평 띠장은 두께 1.5cm·너비 12cm 이상, 윗면 대패질. 경미한 공사는 말뚝 90cm·박기 30cm, 띠장 1.2×9cm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82418"/>
            <a:ext cx="11094415" cy="799337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77177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77177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82418"/>
            <a:ext cx="2286000" cy="79933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기준점 설치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82418"/>
            <a:ext cx="7939735" cy="79933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높낮이 기준이 되므로 이동 우려가 없는 곳에 설치하고 보조 기준점 1~2개소, 주위를 보호. 각층 마감 기준 레벨 1m선에 수평 기준선 먹매김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91484"/>
            <a:ext cx="11094415" cy="634745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359854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9854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91484"/>
            <a:ext cx="2286000" cy="63474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먹놓기 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91484"/>
            <a:ext cx="7939735" cy="63474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기초 위 톱밥·이물질·철물 청소, 도면에서 간격·길이·치수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35958"/>
            <a:ext cx="11094415" cy="799337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442531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42531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35958"/>
            <a:ext cx="2286000" cy="79933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먹줄 놓기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235958"/>
            <a:ext cx="7939735" cy="79933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중심선을 기준으로 먹줄을 놓고 먹을 너무 많이 묻히지 않는다. 중심선·벽체선 이상 유무와 직각 확인 후 토대 설치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45024"/>
            <a:ext cx="11094415" cy="634745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525208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525208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145024"/>
            <a:ext cx="2286000" cy="63474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오차 발생 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145024"/>
            <a:ext cx="7939735" cy="63474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잘못된 선을 찾아 다시 놓고 전체 평면도의 대각선 길이를 재계산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줄쳐보기는 건축주·시공자·감리자(필요 시 대지 소유자) 입회 하에 대지경계, 이웃 가옥, 도로와의 위치를 확인하고 건물 위치를 최종 결정한다.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공종 간 간섭 원인과 대처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271395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간섭 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832483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설계적 : 도서 부실, 상세도 미비, 도서·시방서·법규 불일치, 잦은 설계변경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시공적 : 양중 부담, 작업능률 저하, 추락·낙하 위험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공정마찰 : 공정 상호 이해 부족, 공정표 검토·세분화 부족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271395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기초·골조 대처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832483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터파기 시 레벨로 수평을 맞춰 후속 거푸집을 쉽게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수도 인입관은 이중관으로 설치, 전기는 여유 배선, 거푸집에 수평 먹매김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토대와 밑깔도리 사이에 쐐기 금지 — 밑깔도리를 대패질해 완전 안착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4163"/>
            <a:ext cx="5446623" cy="193560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44163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4163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벽체·창호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64787"/>
            <a:ext cx="5355183" cy="149669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코너·내벽 연결부는 스터드를 겹쳐 견고하게(단열재 시공성도 고려)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창호를 벽체 제작 시 선작업할지 세운 후 후작업할지 공정 계획 필요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844163"/>
            <a:ext cx="5446623" cy="193560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844163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844163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설비·전기·방통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264787"/>
            <a:ext cx="5355183" cy="1496695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온수파이프는 모르타르 경화 7~14일 이상 실내 후속공정이 어려우므로 계획 필요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어려우면 외부 마감과 부대공사를 병행하도록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가시설(현장사무소·창고·목재 가공 작업대) 계획 : 반입 기자재 규격·운송조건 파악 → 설치 위치·시기를 공종별 진도에 연계 → 하역장소와의 간섭 확인.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방부목 선택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60513"/>
                <a:gridCol w="8733901"/>
              </a:tblGrid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검사항목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침윤도, 흡수량, 용탈성, 함수율 (모두 만족, 함수율은 건조재 표기 시에만)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213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사용환경 범주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H1 ~ H4로 구분. H2·H3는 변재 80% 이상 침윤, 심재는 재면 10mm까지 H2 50%·H3 80% 이상. H4는 심재 두께 90mm 초과 시 15mm까지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약제 흡수량 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ACQ : H2 1.3 / H3 2.6 / H4 5.2 kg/㎥ 이상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건조 구분 표시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D15(15% 미만) · D20(15~20%) · D25(20~25%) · GRN(비건조재)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토대용 규격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HEM-Fir, CuAz 처리, 2×4(38×89) · 2×6(38×140) · 2×8(38×184), 길이 3.6~4.8m, KD18%, S4S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213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부분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함수성 물체(벽돌·콘크리트·흙)와 접하는 내력 목재, 지표면 1m 이하 기둥·가새·토대, 부엌·욕실, 풍판·박공판·서까래·평고대, 지면·물에 접하는 기초용 목재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방부목 절단면에는 오일스테인을 도장하면 방부성능 유지에 좋다. 방부 약제 용출 가능성 때문에 법령 기준에 맞는 제품만 사용.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콘크리트 기초와 앵커볼트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6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495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기준·요점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매트 기초 시공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자갈층 약 100mm 다짐 → PE필름(0.15mm) 터파기 면적보다 넓게 → 콘크리트 100mm 이상. 기초벽 안쪽에 300mm 폭으로 단열재(동결·결로 방지)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95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독립기초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목조 바닥 전체 시공 시. 장선은 지면에서 최소 450mm, 목재 보에서 300mm 이상 띄움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높이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상부는 지면(G.L)에서 500mm 이상 높게(흰개미·습기 방지), 기초판은 동결선 아래로. 데크·계단은 1,000mm 이상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95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종류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독립기초 · 복합기초 · 줄기초 · 매트기초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앵커볼트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철근 배근 시 앵커프레임·용접으로 견고히 고정, 간격 2,000mm 이하(2×4 기준), 기초 외부에서 안쪽 300mm 이내. 기울었다고 파이프로 펴지 말 것(균열)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내벽용 앵커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매트 타설 후 콘크리트용 비트로 천공 → 솔·공기로 청소 → 세트앵커 삽입 → 앵커펀치로 고정 → 볼트로 토대 고정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1층 토대 설치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9619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642262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64226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9619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씰 실러 부착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9619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콘크리트 기초 위 토대 위치에 앵커볼트를 관통시켜 부착, 이음은 겹침. 수분·공기 유입 차단(방수·단열)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43276"/>
            <a:ext cx="11094415" cy="96194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713939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71393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3276"/>
            <a:ext cx="2286000" cy="9619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토대 구멍 뚫기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43276"/>
            <a:ext cx="7939735" cy="9619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템플릿으로 앵커볼트 위치를 표시해 구멍 가공. 토대를 설치한 상태에서 구멍을 뚫으면 중심 잡기가 쉬움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14953"/>
            <a:ext cx="11094415" cy="9619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3785616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856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14953"/>
            <a:ext cx="2286000" cy="9619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토대 · 이중밑깔도리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514953"/>
            <a:ext cx="7939735" cy="9619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먹매김선을 따라 토대 설치, 그 위에 토대와 교차되게 이중밑깔도리(방부목) 설치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86630"/>
            <a:ext cx="11094415" cy="797356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4774996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7749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86630"/>
            <a:ext cx="2286000" cy="79735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윗깔도리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586630"/>
            <a:ext cx="7939735" cy="79735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이중밑깔도리 위에 윗깔도리 설치 후 벽체 세우기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93715"/>
            <a:ext cx="11094415" cy="797356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568208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568208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493715"/>
            <a:ext cx="2286000" cy="79735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내벽 토대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493715"/>
            <a:ext cx="7939735" cy="79735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외벽 토대 완성 후 먹매김대로 내벽용 토대를 올리며 천공·앵커 삽입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2층 바닥 장선과 바닥 덮개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7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4137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장선 규격·간격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KS F 3020 1종 구조재 이상, 단면 높이 140mm 이상, 간격 650mm 이하. 판재 모듈에 맞춰 400·600 또는 406·610mm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보막이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38×89mm 이상, 간격 1,200mm 이내, 경간 중앙 또는 1/3 지점. X자 금속 버팀대는 배관 통과를 위한 천공이 필요 없음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장선 배치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굽은 장선은 굽은 면이 위로 오게, 개구부·간막이벽 아래는 이중 장선, 개구부와 토대 사이는 반장선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 덮개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두께 18mm 이상 구조용 합판·OSB·파티클보드. 내수 접착제 + 못. 처짐 한도 적재하중 L/240, 전체하중 L/180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합판 시공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목리 방향이 장선에 직각, 통줄눈 방지로 교차 배치, 판 사이 5mm 틈, 못 간격 모서리 150mm·중앙 300mm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개구부 보강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출입구 길이 1.2~3.2m 또는 너비 0.8~2.0m이면 이중 보강, 이중 헤더는 너비 3.0m까지, 범위 초과 시 구조계산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137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벽체 지지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장선에 직각인 내력벽은 아래 보·내력벽에서 600mm 이내, 비내력벽은 900mm 이내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장선 천공·따냄 제한과 못 박기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60058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0058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천공 지름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장선 깊이의 1/3 이하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0058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천공 위치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장선 위·아래에서 50mm 이상 떨어뜨림, 경간 중앙부는 천공 금지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86880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따냄 깊이·위치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깊이는 장선 깊이의 1/6 이하, 따내는 폭은 내력벽에서 장선 깊이 1/3 이내(수행 순서 절은 1/2 이내로 서술), 장선 경간 중앙 1/3 구간 금지, 상·하부 동시 따내기 금지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6880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 박기 표준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끝막이·옆막이 장선 → 깔도리 : 경사못 중심간격 150mm, 장선 가새 → 장선 : 각 끝면 2개, 장선받이 → 목재보 : 장선당 2개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86880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연결철물 주의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권장 못·스크류 사용, 아연도금 철물을 방부목에 쓰면 부식, 보막이 등에 잘못 직결 금지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구멍이 많으면 장선 측면에 덧판을 붙이거나 추가 부재로 보강한다. 벽체 고정 시 경사 못 박기로 설비 따냄·천공부에 못이 걸리지 않게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치장 목질 마루판 (KS F 3126)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7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62614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8943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표면재(LPL 저압 / HPL 고압 열경화성 수지 치장판) + 소판(합판, 섬유판, 파티클보드) + 제혀쪽매 가공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614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소판이 합판이면 치장 목질 마루판, MDF·HDF이면 치장 목질 강화 마루판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2614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 방식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접착식(바탕면에 접착제) / 현가식(floating, 바탕면과 띄움)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614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온돌용·일반용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난방이 되는 바닥용 / 난방이 되지 않는 바닥용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8943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합판 소판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 5ply 6.8mm 합판, 학교 등은 7ply 12mm. 표면재와 2액형 수성 접착제 → 냉압 프레스 → 48시간 상온 경화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614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배열 기준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정사각형에 가까운 방은 아트월·소파·TV 위치, 직사각형은 복도 기준 직선 배열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마루판 시공 순서와 환경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673354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49796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796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67335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바탕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67335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청소, 요철·본드 자국·이물질 제거. 바닥 함수율 5% 이하, 평활하게(차이가 크면 수평 작업)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54682"/>
            <a:ext cx="11094415" cy="57581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232279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3227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54682"/>
            <a:ext cx="2286000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기준선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54682"/>
            <a:ext cx="7939735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초크라인·먹줄로 기준점과 시작점 표시, 마이터 쏘로 길이별 예비 재단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40228"/>
            <a:ext cx="11094415" cy="57581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91782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91782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40228"/>
            <a:ext cx="2286000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접착제 도포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40228"/>
            <a:ext cx="7939735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에폭시계 2액형 주제:경화제 = 1:1 혼합, 오픈 타임 60분 이내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25774"/>
            <a:ext cx="11094415" cy="57581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360337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60337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5774"/>
            <a:ext cx="2286000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마루판 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525774"/>
            <a:ext cx="7939735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기준점부터 순서대로 고무망치로 2~3회 쳐서 밀착. 모서리·문틀은 스킬 쏘로 정밀 가공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11320"/>
            <a:ext cx="11094415" cy="57581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4288917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28891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11320"/>
            <a:ext cx="2286000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들뜸 압착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211320"/>
            <a:ext cx="7939735" cy="575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구배로 들뜬 곳은 무거운 물건을 24시간 올려둠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96866"/>
            <a:ext cx="11094415" cy="673354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502323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0232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896866"/>
            <a:ext cx="2286000" cy="67335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마감·보양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896866"/>
            <a:ext cx="7939735" cy="67335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벽과 마루판 사이에 수축·팽창 틈을 두고 실리콘 마감 → 청소·환기 → 보양지(접촉면 테이프 고정)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07380"/>
            <a:ext cx="11094415" cy="58369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환경 : 마루판·접착제는 시공 24시간 전 현장 보관, 시공 전 24시간~후 48시간 18~22℃ 유지, 바닥 난방은 하루 전 중지. 바닥 마감은 벽·천장·창호 마감 후 맨 마지막에.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걸레받이 설치와 하자 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733501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528038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2803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종류와 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벽 맨 아랫부분 수평 부재로 바닥·벽 마무리와 벽지 하단 오염 방지. MDF류(목질계)와 PVC(합성수지계)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4829"/>
            <a:ext cx="11094415" cy="1035253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522143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52214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14829"/>
            <a:ext cx="2286000" cy="1035253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실측·재단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14829"/>
            <a:ext cx="7939735" cy="1035253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벽면을 기준점부터 모서리까지 실측, 마이터 쏘를 45° 또는 90°로 고정해 재단. 표시선보다 1mm 여유 있게 자르고 조금씩 맞춤, 전부 한꺼번에 재단 금지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59810"/>
            <a:ext cx="11094415" cy="733501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3516249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1624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59810"/>
            <a:ext cx="2286000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수평선·접착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359810"/>
            <a:ext cx="7939735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벽면에 수평선을 긋고 접착제 도포(가사시간 준수), 꺾임 부위는 별도 언급 없으면 45° 연귀 맞춤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3039"/>
            <a:ext cx="11094415" cy="733501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4359478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35947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03039"/>
            <a:ext cx="2286000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길이 이음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203039"/>
            <a:ext cx="7939735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중간 지점에서 이음(예 : 3m 벽이면 1.5m), 마구리는 약 5mm 잘라낸 깨끗한 면 사용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46268"/>
            <a:ext cx="11094415" cy="733501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5202707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520270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046268"/>
            <a:ext cx="2286000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마감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046268"/>
            <a:ext cx="7939735" cy="73350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접착제를 이음면에 도포(강력 접착은 순간접착제), 보드 벽은 타카핀 고정 가능, 벽과 걸레받이 사이는 실리콘 마감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하자 방지 : 걸레받이와 마루판 사이에 공기구멍(틈)을 확보해 수축·팽창에 의한 뒤틀림을 막는다. 부착면은 돌출물·요철 없이 평탄하게.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먹매김과 토대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p018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33" y="1444752"/>
            <a:ext cx="2236150" cy="1737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현장 먹매김 작업 (기초 콘크리트 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p022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66" y="1444752"/>
            <a:ext cx="1773761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먹매김 정보 표시 — 기준점·대각선·직각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_p026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548" y="1444752"/>
            <a:ext cx="2949274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직각도 확인 (3m·4m·5m 빗변)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p042_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912" y="3931920"/>
            <a:ext cx="2415193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규준틀 배치 (귀규준틀·평균규준틀)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_p052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353" y="3931920"/>
            <a:ext cx="1560988" cy="173735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방부목 사용환경 범주 (H1~H5)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5_p057_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5090" y="3931920"/>
            <a:ext cx="2090191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토대 앵커볼트 설치 (간격 2,000mm 이하)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5장  먹매김 및 바닥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장선·마루판·걸레받이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p06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30" y="1444752"/>
            <a:ext cx="1751758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씰 실러와 앵커볼트, 토대 설치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p061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339" y="1444752"/>
            <a:ext cx="2913017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장선 천공 위치 제한 (깊이 1/3, 상하 50mm)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_p081_0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793" y="1444752"/>
            <a:ext cx="2466785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5ply 합판 소판 (치장 목질 마루판 바탕)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p087_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447" y="3931920"/>
            <a:ext cx="2250122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마루판 시공 — 접착제 도포 후 고무망치 밀착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_p095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607" y="3931920"/>
            <a:ext cx="2316480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벽 접합부 실리콘 마감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5_p104_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2958" y="3931920"/>
            <a:ext cx="2314455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걸레받이 설치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벽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41757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417576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도면에 맞추어 벽 구조틀, 보드·합판, 합지판, 몰딩, 선반을 설치한다.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9176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200656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200656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벽 구조틀 설치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200656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기준점·수직재 설치, 보드류 붙임 각재와 흡음·단열재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648712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648712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보드·합판 붙이기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48712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합판·섬유판·석고보드 등 고정 방법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096768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096768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합지판 붙이기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096768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단열보드 + 마감보드 합지, 접착제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544824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544824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4  몰딩 설치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544824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몰딩 종류, 가공과 부착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992880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992880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5  선반 설치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992880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고정 재료, 칼브럭·앵커 설치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32376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4916424"/>
            <a:ext cx="7253935" cy="38404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916424"/>
            <a:ext cx="7253935" cy="384048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구조용 목재 · 합판 · OSB · 합지벽 · 몰딩 · 선반 · 단열 · 덮개 · 기밀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벽체(벽 구조틀) 구성요소와 결합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19861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24462"/>
                <a:gridCol w="5193130"/>
                <a:gridCol w="3776822"/>
              </a:tblGrid>
              <a:tr h="4762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부재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역할·규격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결합 방법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밑깔도리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스터드와 같은 치수의 규격재, 바닥에 수평 설치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스터드와 끝면·경사 못박기, 바닥 장선·보막이에 못박기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스터드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수직 하중 전달 부재. 주로 38×89 또는 140mm, 간격 300~600mm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윗·밑깔도리에 끝면 못 + 경사 못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윗깔도리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스터드 상단에 수평 설치. 내력벽은 하중 분산을 위해 이중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상하 함께 못박기, 교차부는 겹쳐 못박기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옆기둥·헤더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개구부 상부 헤더를 지지하는 짧은 기둥 / 개구부 상부 하중을 인접 벽체로 전달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헤더 각 끝면을 스터드에 못 고정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창틀받침(하인방)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 개구부 아래 구조부재, 반 스터드로 지지. 하중 비전달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덮개 규정 간격으로 배치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내력벽은 위층 하중을 기초로 전달하고 횡하중에 저항한다. 모든 벽체에 구조용 목질 판상재 덮개를 못으로 견고히 결합. 벽체 조립 후 좌우 대각선 방향 임시 가새로 지지한다.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스터드·깔도리·개구부 시공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213866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213866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스터드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21386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213866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개구부를 제외하고 연속 설치, 공학목재는 가능하나 겹침 이음재로는 금지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개구부가 넓으면 양측 스터드 3개 이상(그중 2개는 헤더 지지)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집중하중 부위는 스터드를 조립한 기둥을 추가로 세워 보강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13482"/>
            <a:ext cx="2148840" cy="149885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13482"/>
            <a:ext cx="2148840" cy="149885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깔도리 위치 표시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713482"/>
            <a:ext cx="8945575" cy="149885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713482"/>
            <a:ext cx="8835847" cy="149885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개구부·교차벽 중심선 → 스터드 측면을 직각선으로 표시 → 첫 스터드 간격은 스터드 두께의 절반을 빼고 측정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벽체 판재는 스터드 중심선에서 맞댄이음, A·B·C 문자로 스터드·옆기둥·반 스터드 구분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이중 윗깔도리 이음은 스터드 간격 이상 떨어뜨리고 모서리·교차부는 어긋나게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0352"/>
            <a:ext cx="2148840" cy="1163066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340352"/>
            <a:ext cx="2148840" cy="1163066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개구부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340352"/>
            <a:ext cx="8945575" cy="116306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340352"/>
            <a:ext cx="8835847" cy="1163066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헤더를 제외한 부재는 스터드와 같은 간격, 내력벽은 헤더 + 이중 스터드(간격 규정 이내면 생략 가능)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비내력벽도 화염 차단을 위해 개구부 측면에 규격재 2개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31434"/>
            <a:ext cx="2148840" cy="65963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31434"/>
            <a:ext cx="2148840" cy="65963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두께 단차 주의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631434"/>
            <a:ext cx="8945575" cy="65963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631434"/>
            <a:ext cx="8835847" cy="65963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이어지는 벽체의 판상재 두께가 다르면(18mm와 12mm) 단차로 단열·기밀이 어려워짐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접합부 못박기 규정과 칸막이벽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48924"/>
                <a:gridCol w="6845490"/>
              </a:tblGrid>
              <a:tr h="45043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못박기 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5043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깔도리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중심간격 600mm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043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밑깔도리 → 골조·바닥 덮개(내벽)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중심간격 600mm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5043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스터드 → 비내력벽 개구부 상부 수평부재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끝면 2개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043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조립 헤더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2열, 중심간격 450mm, 끝면에서 100~150mm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5043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개구부 이중 스터드·벽체 교차부·구석 스터드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중심간격 750mm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1866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원칙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 길이 1/2 이상을 접합 부재에 박고, 목리에 따라 엇갈리게, 갈라짐 방지를 위해 측면에서 이격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9868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칸막이벽 (비내력)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밑·윗깔도리는 이음 없는 한 부재, 스터드 간격 600mm 이하, 부재 끝에서 200mm 이내·중심 600mm 이하로 각 2개 못. 콘크리트에는 콘크리트 못 20mm 이상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수행 tip : 헤더가 인접 벽체에 제대로 접합되는지 확인. 철판·덧판 보강은 바람직하지 않다.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단열 원리 — 열 · 기류 · 수증기 · 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열전달과 기류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열은 전도·복사·대류로 이동, 창·문 개구부와 연결부 틈새에서 손실이 큼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기류는 열과 수증기를 함께 운반 → 온도차가 생기면 결로, 반복되면 목조주택 수명 단축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기밀막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공기·열·수증기 유입을 차단. 석고보드·폴리에틸렌·합판·OSB·경질 단열재가 대표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밀도가 높아 자연 환기 성능은 감소하므로 환기 계획 병행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증기지연재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5254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수증기 확산을 줄임(폴리에틸렌·호일·금속·유리는 투습 거의 없음, 합판·OSB·경질 단열재는 낮음)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건축물 조립 요소의 따뜻한 쪽에 설치. 기밀막과 달리 연속 시공이 필수는 아님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93192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93192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93192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환기·기후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35254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욕실·주방 등은 기계 환기로 결로 원인 감소(과하면 오히려 유입 통로가 됨)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고온다습 지역 지붕은 환기구가 없는 설계가 유리, 기후(고온다습·저온건조·혼합)에 따라 기밀막·증기지연재 위치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단열재·외벽 덮개·방수 시공 요점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46964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46964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글라스울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46964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46964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구조·창호·설비 공사 후, 지붕·벽체 마감 전에 시공. 포장된 상태로 실내 보관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설치면적보다 약 5% 크게 재단해 빈틈 없이 채우고 눌리지 않게. 이중 시공은 직교 방향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환기구 주변은 단열재를 넣지 않고(결로), 지붕과 벽체 교차부는 열교환이 많아 특히 주의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69260"/>
            <a:ext cx="2148840" cy="1133856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69260"/>
            <a:ext cx="2148840" cy="1133856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경질 단열재(PF보드)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969260"/>
            <a:ext cx="8945575" cy="113385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969260"/>
            <a:ext cx="8835847" cy="1133856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단열 + 내화 + 방수 기능, 투기도가 낮아 기밀막으로도 사용. 반턱이음으로 연속 시공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외벽·기초벽·슬래브에 주로 설치, 지반 아래 600mm까지 단열, 기초 상부 비흘림·물끊기홈으로 수분 차단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31132"/>
            <a:ext cx="2148840" cy="1133856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31132"/>
            <a:ext cx="2148840" cy="1133856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외벽 덮개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231132"/>
            <a:ext cx="8945575" cy="113385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231132"/>
            <a:ext cx="8835847" cy="1133856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합판 18mm 이상 / OSB 12mm 이상 내수 접착제 제품 + 방습지 + 외벽 마감재</a:t>
            </a:r>
          </a:p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수직 이음은 스터드 위, 길이 65mm 못을 가장자리 150mm·내부 300mm 간격, 못머리는 판 표면과 평평하게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93004"/>
            <a:ext cx="2148840" cy="79806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93004"/>
            <a:ext cx="2148840" cy="79806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외벽 방수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493004"/>
            <a:ext cx="8945575" cy="79806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493004"/>
            <a:ext cx="8835847" cy="79806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15900" indent="-2159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수분은 균열·창호 틈·접합부 틈으로 침입. 합성고분자 시트(1.0~2.0mm)를 이음매·파낸 곳까지 밀폐해 연속 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보드류 고정 기준 (바탕: 목재)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19861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24462"/>
                <a:gridCol w="3422745"/>
                <a:gridCol w="2596565"/>
                <a:gridCol w="2950642"/>
              </a:tblGrid>
              <a:tr h="38684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보드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방법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간격 (주변부 / 중간부)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5506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못박기 (못 길이 = 판 두께의 3배)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 / 150mm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못·접착제 병용 시 350~450mm, 연단 거리 약 10mm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5506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섬유판(MDF)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못·스테이플, 병용 시 접착제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병용 350~450mm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 중앙부터 사방으로 붙임, 큰 면접기는 기계 가공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5506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섬유강화 시멘트판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못박기 (판 두께 3배 이상)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300mm 이하 / 300mm 이하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연단 15mm 이상, 병용 300~450mm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232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석고보드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석고보드용 못(스테인리스 가능)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100~150 / 150~200mm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병용 350~450mm, 단부에서 10mm 안쪽, 이중 붙임은 줄눈이 겹치지 않게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9232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목모보드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못박기 (판 두께 3배)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간격 고정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못·나사 모두 스테인리스, 치장 바탕이면 철물 머리를 판에 묻음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석고보드는 내수성·구조 성능이 없고 내화 성능이 목적(1시간 내화는 외벽·내력기둥·간막이벽 등). 목질 판상재 이음 사이는 3mm 틈. 욕실·주방은 스테인리스 못 사용.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붙임 바탕별 접착제와 합지판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3169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57079"/>
                <a:gridCol w="6137336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접착 바탕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접착제 성분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초산비닐(에멀션형·용제형), 합성고무(용제형)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초산비닐, 합성고무 용제형(작은 나사 병용)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콘크리트·모르타르·ALC·벽돌·압출성형판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에폭시수지, 석고계 직접 붙임형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석고보드(덧붙임)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초산비닐 에멀션형·용제형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678680"/>
            <a:ext cx="11094415" cy="7932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78680"/>
            <a:ext cx="11094415" cy="7932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합지판 = 단열보드 + 석고보드(마감보드)를 미리 붙여 벽·천장에 시공하는 공법. 석고본드 가루 80% + 물 약 10L를 기계 믹스, 수성 프라이머·접착증진제로 접착력 보강. 폴리에틸렌은 따뜻한 내벽 쪽에만(외벽 쪽은 결로), 고온다습 지역 외벽 실내·지붕 천장에는 사용 금지. 석고보드 합지판은 12~15mm, 패널 이음은 접착식 폼 테이프로 밀폐.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몰딩 가공과 부착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675767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49917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917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몰딩의 종류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천장몰딩(크라운·평·마이너스), 문선몰딩, 허리몰딩(벽을 이등분), 바닥몰딩(걸레받이). 길이는 2,440mm로 동일, 폭은 다양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57094"/>
            <a:ext cx="11094415" cy="578230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235898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3589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57094"/>
            <a:ext cx="2286000" cy="5782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자재량 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57094"/>
            <a:ext cx="7939735" cy="5782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시공 거리를 실측해 2,440mm로 나눈 개수 + 할증 2개 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45053"/>
            <a:ext cx="11094415" cy="675767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97262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97262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45053"/>
            <a:ext cx="2286000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각도 자르기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45053"/>
            <a:ext cx="7939735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코너 부분을 기준으로 45° 가공(맞댄면 45°, 모서리면 45° 대각선), 일자 몰딩은 치수대로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30548"/>
            <a:ext cx="11094415" cy="578230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3709352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7093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30548"/>
            <a:ext cx="2286000" cy="5782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바탕·보호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630548"/>
            <a:ext cx="7939735" cy="5782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기존 몰딩 제거, 요철·이물질·접착제 제거 후 수평 맞춤. 부착면 테두리에 마스킹테이프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18507"/>
            <a:ext cx="11094415" cy="675767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4446079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44607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318507"/>
            <a:ext cx="2286000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접착제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318507"/>
            <a:ext cx="7939735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목공용 접착제 도포 후 오픈 타임 약 15분. 급할 때는 양면테이프를 일정 간격으로 붙여 즉시 부착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04002"/>
            <a:ext cx="11094415" cy="675767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5231574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23157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104002"/>
            <a:ext cx="2286000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부착·마무리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104002"/>
            <a:ext cx="7939735" cy="67576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충분한 접착력 확보 후 부착, 일부가 떨어지면 전체를 떼어 다시. 접착제가 완전 경화되기 전에 마스킹테이프 제거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수행 tip : 길이 이음은 벽면 중간에서. 1,000mm는 700+300보다 500+500이 보기 좋고 수축·팽창 변형에도 유리하다.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선반 설치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856995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856995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856995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856995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도면에 따라 위치 기준을 정하고 수평·수직·벽체 면적을 고려. 이동 선반/고정 선반 선별, 단수·크기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6611"/>
            <a:ext cx="2148840" cy="15113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6611"/>
            <a:ext cx="2148840" cy="151130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고정 재료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356611"/>
            <a:ext cx="8945575" cy="151130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356611"/>
            <a:ext cx="8835847" cy="15113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드릴과 고정 철물. 가벼운 선반은 나사못, 단 벽돌·블록·콘크리트 등 부서지는 벽에는 칼브럭(플러그)을 반드시 병용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무거운 선반은 앵커볼트 : 위치 표시 → 드릴 천공 → 앵커 삽입 → 망치로 고정 → 고정용 나사로 선반 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95927"/>
            <a:ext cx="2148840" cy="15113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95927"/>
            <a:ext cx="2148840" cy="151130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제작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995927"/>
            <a:ext cx="8945575" cy="151130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995927"/>
            <a:ext cx="8835847" cy="15113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선반용 판상재 준비 → 정밀 재단 → 45° 모서리 접합부 재단 → 고정 → 벽체 걸이 구멍 타공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구조용 집성재·LVL로도 제작, 정밀 가공 시 톱날 주의, 접착제와 타카를 적절히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35243"/>
            <a:ext cx="2148840" cy="65582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35243"/>
            <a:ext cx="2148840" cy="65582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선택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635243"/>
            <a:ext cx="8945575" cy="65582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635243"/>
            <a:ext cx="8835847" cy="65582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현장 제작은 가능하지만 시간·비용 면에서 기성 제품도 고려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6장  벽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벽체·단열·마감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p020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96" y="1444752"/>
            <a:ext cx="2391424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일반적인 벽체 구성 (스터드·깔도리·헤더·가새)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p025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657" y="1444752"/>
            <a:ext cx="3040379" cy="1737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개구부 헤더 — 일반 개구부와 큰 개구부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p037_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766" y="1444752"/>
            <a:ext cx="1980838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경사가 낮은 지붕의 단열과 환기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6_p054_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844" y="3931920"/>
            <a:ext cx="2423328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합지판 붙임 현장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6_p062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098" y="3931920"/>
            <a:ext cx="2659497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마이터 쏘로 몰딩 재단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6_p067_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3863" y="3931920"/>
            <a:ext cx="2312644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목재 벽선반 현장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천장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41757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417576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천장의 종류와 기능을 파악하고 도면에 따라 천장, 등박스, 몰딩류를 설치한다.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9176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200656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200656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달대 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200656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천장틀용 달대 설치, 달대 위치 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648712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648712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반자틀 설치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48712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반자돌림·반자틀·반자틀받이·달대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096768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096768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보드·합판 붙이기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096768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천장 합판 부착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544824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544824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4  커튼박스 설치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544824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커튼박스, 블라인드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992880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992880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5  등박스 설치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992880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등박스 제작·설치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440936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4440936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6  천장몰딩 설치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40936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몰딩 가공·고정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980432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364480"/>
            <a:ext cx="7253935" cy="38404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364480"/>
            <a:ext cx="7253935" cy="384048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달대 · 반자틀 · 커튼박스 · 등박스 · 몰딩 · 반자돌림 · 천장틀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천장의 구성과 마감 3종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440817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천장 속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396925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반자돌림 · 반자틀 · 반자틀받이 · 달대 · 달대받이(천정틀)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마감재의 특성·중량에 따라 간격, 길이, 단면, 접합 보강을 선택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천장은 속 구조물을 가리고, 화재 시 구조물이 화염에 직접 노출되는 것을 1차로 막음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440817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마감 3종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3969257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칠천장(plastered) : 모르타르·인조석·섬유재·뿜칠 등 미장 계열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널천장(boarded) : 합판·파티클보드·OSB·석고보드·알루미늄보드 등을 천정틀에 붙임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바름천장 : 점착성 천·PVC 시트를 목질 보드에 점착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천장 속에는 스프링클러 등 설비 배관, 전기배관, 환기·환풍 덕트, 등박스가 지나간다. 표준 용어는 '천장'이며 '천정'은 표준이 아니다.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달대·천장틀 설치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19861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달대 간격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450×600mm, 층고 2.8m 이상이면 900mm 간격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천장틀 각재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36×36mm 기준, 함수율 12% 이하, 층고 2.6m에서 450×600mm, 2.8m 이상은 900mm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5307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달대볼트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주변부 단부에서 150mm 이내, 간격 약 900mm, 수직 설치. 천장 깊이 1.5m 이상이면 가로·세로 1.8m 간격으로 흔들림 방지 보강재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5307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천장 높이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합판·OSB·스터드 2,440mm. 국내는 바닥난방으로 약 800mm 올라와 천장 높이를 약 2,330mm로 하는 것이 일반적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848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먹줄과 마감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30mm 각재 먹줄 위에 각재가 박히고 그 밑에 석고보드가 붙어 먹줄 아래가 천장 높이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5307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수평 잡기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수평기(기포가 검은 눈금 안), 레이저·물수평. 벽체 코너 가장 높은 곳에 기준점을 만들고 따라 올라감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마감 품질은 하부구조 골조 → 석고보드 설치 → 석고보드 마감 → 석고보드 도장 단계별 품질에 좌우된다. 달대 위치 변경은 공기 증가·철거 때문에 피하고, 실시설계 단계에서 천장 속 구조물 위치를 정리해 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반자틀 설치 — 부재별 간격과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19861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06436"/>
                <a:gridCol w="3540770"/>
                <a:gridCol w="5547207"/>
              </a:tblGrid>
              <a:tr h="4762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부재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간격·시공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반자돌림대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벽·천장 교차부를 감추는 치장재(몰딩)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구조체·벽에 콘크리트 못·플러그·나사·접착제로 견고히 고정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반자틀(반자대)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반자널의 바탕, 격자형으로 짜서 달대에 못박기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450mm 내외, 이음은 엇갈리게 엇빗 이음, 벽에 접하는 부재는 기둥·샛기둥 중심에서 맞대기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반자틀받이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방향 반자틀 위에 직각으로 대는 가로재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900mm 내외, 라인 방식은 행거로 고정하고 간격 1,600mm 이내, 설비라인을 반자틀받이가 우선 관통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반자널·반자틀·받이 하중을 지탱하는 수직부재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900mm 내외, 하부는 반주먹장으로 따내 끼우고 못, 상부는 달대받이에 옆대어 못박기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444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달대받이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상층 바닥판에 고정해 반자를 지탱하는 가로재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900mm 정도, 앵커볼트에 고정, 90mm 이상 못으로 고정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반자용재 치수 : 반자틀 30×30~45×45mm, 살반자대 30×30·30×36·36×36, 졸대 7×36·9×36, 반자널 두께 살대·우물 6mm 이상, 치받이 12mm 이상. 무거운 마감재(석고보드·단열재)의 무게도 지지할 수 있어야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천장 합판·보드 부착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869441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869441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고정 철물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86944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869441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시방서가 없으면 합판은 못, 섬유판은 못·나사·스테이플. 재질은 강재, 치장 바탕은 전기아연도금, 물 닿는 곳은 스테인리스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9058"/>
            <a:ext cx="2148840" cy="122199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69058"/>
            <a:ext cx="2148840" cy="122199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접착제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369058"/>
            <a:ext cx="8945575" cy="122199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369058"/>
            <a:ext cx="8835847" cy="122199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합판 : 합성고무계 용제형(양면 도포), 초산비닐 에멀션형(한 면 도포)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섬유판 : 목재는 초산비닐 에멀션·합성고무 용제형, 강재는 합성고무·초산비닐 용제형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19068"/>
            <a:ext cx="2148840" cy="122199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19068"/>
            <a:ext cx="2148840" cy="122199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못박기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719068"/>
            <a:ext cx="8945575" cy="122199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719068"/>
            <a:ext cx="8835847" cy="122199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못 길이 = 판 두께 × 3, 간격은 주변 100mm·중간 150mm(못·접착제 병용 시 350~450mm, 연단 약 10mm)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치장널깔기는 숨은 못박기, 합판 이음은 맞댐 이음으로 턱지지 않게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69078"/>
            <a:ext cx="2148840" cy="122199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69078"/>
            <a:ext cx="2148840" cy="122199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작업 요령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069078"/>
            <a:ext cx="8945575" cy="122199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069078"/>
            <a:ext cx="8835847" cy="122199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넓은 합판을 천장에 붙이므로 2인 1조, 접착제 가사시간 준수 후 철물로 고정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절단면이 부정형이면 대패·연마지로 평활하게, 임시 붙임은 덧댐 나무나 임시 못으로 경화까지 보양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커튼박스와 블라인드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408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4381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063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커튼박스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외부에 면한 모든 창 상부에 도면 크기로 설치, 보강재는 구조상 적합하게, 조립 철물은 노출 금지(불가피 시 마감과 같은 색), 접합부는 눈에 띄지 않게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063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대패질 마무리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 : 경사광선에도 거스러미·대패자국 없음 / 중 : 거의 없음 / 하 : 다소 허용하나 톱자국 없음. 뒤틀림은 기준대를 대어 틈 확인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063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커튼레일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아연도금·스테인리스 등 녹슬지 않는 나사못, 나사못 길이의 1/3 이상을 드라이버로 박음, 까치발 간격 500mm 내외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063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가로당김 블라인드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길이는 창대에서 300mm 내외 아래(출입구는 바닥 윗면), 너비는 창 너비의 1.5배 이상, 달줄 2m 이내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0637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암막박스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두께 17.5mm 무절 삼송·미송·라왕, 양면 대패, L자형, 내부 검정 페인트. ㄱ자 철물 두께 5mm·너비 18mm, 상부 박스 500mm·세로박스 1m 간격 고정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14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암막 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길이는 창대 밑 450mm 이상, 양쪽 당김은 중앙 여밈 300mm 이상, 당김끈 직경 4mm 내외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커튼의 종류에 따라 박스 크기·위치·형태가 달라질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등박스 설치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646176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484376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84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64617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천장 상태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64617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등박스 위치·크기, 전기 배선 위치를 검토해 설치 가능 여부 판단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27504"/>
            <a:ext cx="11094415" cy="81076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322576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225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27504"/>
            <a:ext cx="2286000" cy="8107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위치 표시·타공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27504"/>
            <a:ext cx="7939735" cy="8107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등박스가 될 목질 판상재에 설치 위치를 표시하고 직쏘 등으로 절단(곡면 재단 포함)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48000"/>
            <a:ext cx="11094415" cy="646176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3160776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160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48000"/>
            <a:ext cx="2286000" cy="64617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고정틀 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048000"/>
            <a:ext cx="7939735" cy="64617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등박스 판상재가 부착될 천장에 반자틀 같은 목재틀을 설치해 견고하게 고정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03904"/>
            <a:ext cx="11094415" cy="646176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3916680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9166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03904"/>
            <a:ext cx="2286000" cy="64617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등기구 설치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803904"/>
            <a:ext cx="7939735" cy="64617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등박스 고정틀 안의 전기선과 연결·고정하고 정상 작동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59808"/>
            <a:ext cx="11094415" cy="810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4754880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754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59808"/>
            <a:ext cx="2286000" cy="8107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덮개 고정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559808"/>
            <a:ext cx="7939735" cy="8107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목공용 접착제를 미리 도포해 가사시간 안에 부착. 본드만으로는 부족하므로 못·타카로 견고히 고정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80304"/>
            <a:ext cx="11094415" cy="81076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5675376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675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480304"/>
            <a:ext cx="2286000" cy="8107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480304"/>
            <a:ext cx="7939735" cy="8107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규격화된 제품이 아니어서 위치·환경·요구에 맞게 제작. 너무 무거운 등박스나 전선 연결이 어려운 곳은 피함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천장몰딩 종류와 시공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40816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8213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방식별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압축성형 몰딩(내외장, 강도 높고 변형 없음, 대형 제작 어려움) / EPS가공 몰딩(외장, 경량·작업 용이, 내구성 약함) / 중공몰딩(내외장, 마모성 우수, 수작업이라 규격 불량)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크라운 · 마이너스 · 계단 · 엔틱 · 화장실 몰딩. 재질은 MDF·PVC·알루미늄·플라스틱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마이터 쏘 또는 톱으로 코너 기준 45° 가공, 일자 몰딩은 치수대로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2132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절단면은 순간접착제로 연결, 배면에 실리콘과 글루건을 쏘아 부착. 코너부터 먼저 붙이고 약 10초 눌러 고정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실리콘은 굳는 시간을 고려해 약 5시간 이상 양생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5310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부착면 청소 → 인코너용 → 아웃코너용 → 직선 몰딩 고정 → 실리콘 마감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걸레받이와 가공·재단·설치 방법은 같지만 천장 작업이므로 추락·낙하 안전에 유의. 몰딩 선택은 건축주·설계자와 협의한다.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공통 시공 기준과 하자 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04571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04571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현장 여건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04571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04571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작업 전 상세도면을 검토하고, 선행 공사를 완료하며 부착면의 돌출물·요철을 평탄하게 정리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45334"/>
            <a:ext cx="2148840" cy="139827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5334"/>
            <a:ext cx="2148840" cy="139827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부재 가공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545334"/>
            <a:ext cx="8945575" cy="139827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545334"/>
            <a:ext cx="8835847" cy="139827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정확히 절단·가공해 수직·수평을 맞추고 이음·맞춤 부위에 틈이 없게 견고히 고정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이음은 한 곳에 몰리지 않게 엇갈리게, 지나치게 짧은 목재 금지, 필요 이상의 단면 손실 금지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71619"/>
            <a:ext cx="2148840" cy="104571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71619"/>
            <a:ext cx="2148840" cy="104571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품질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071619"/>
            <a:ext cx="8945575" cy="104571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071619"/>
            <a:ext cx="8835847" cy="104571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등급·함수율이 건축법규에 맞는 목재 사용, 품질 규격·육안 등급이 확인되지 않는 합판은 사용 금지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45354"/>
            <a:ext cx="2148840" cy="1045717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45354"/>
            <a:ext cx="2148840" cy="1045717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달대 보강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245354"/>
            <a:ext cx="8945575" cy="1045717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245354"/>
            <a:ext cx="8835847" cy="1045717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달대·반자틀이 처지지 않게 목재로 보강한 뒤 석고보드 마감, 천장 속 구조물(등박스·전기배관·덕트) 위치는 도면에 미리 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7장  천장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달대·커튼박스·등박스·몰딩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p019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374" y="1444752"/>
            <a:ext cx="2314269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수평기 — 기포가 검은 눈금 안이면 수평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p020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446" y="1444752"/>
            <a:ext cx="2422802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달대 보강 및 반자틀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p041_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626" y="1444752"/>
            <a:ext cx="2701119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커튼박스 단면 형태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_p021_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063" y="3931920"/>
            <a:ext cx="2306891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천장 등박스 마감 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7_p057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937" y="3931920"/>
            <a:ext cx="2595820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몰딩 45° 재단 (마이터 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7_p058_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9748" y="3931920"/>
            <a:ext cx="2520875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인코너 몰딩 부착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목재창호 제작설치 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보양·현장정리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LM1403020110 + 0111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목재 창호를 제작·설치하고, 시공 부위를 보양하며, 잔여 자재를 회수한 뒤 현장을 정리·청결히 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23871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35352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5352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창호 제작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35352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창호의 종류와 표현, 목재 치수, 먹매김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974847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974847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창호 제작·설치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74847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이음·맞춤, 조립, 설치, 후속 작업(철물)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514343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514343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시공 후 보양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514343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보양 준비와 공정별 보양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053839"/>
            <a:ext cx="725393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53839"/>
            <a:ext cx="2651760" cy="47548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4  잔여 자재 정리·청소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53839"/>
            <a:ext cx="4602175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재활용·폐기물 처리, 공구 손질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684775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5068823"/>
            <a:ext cx="7253935" cy="38404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068823"/>
            <a:ext cx="7253935" cy="384048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목재 창호 · 창호 제작 · 창호 설치 · 부속 철물 · 보양 · 재활용 및 폐기물 · 잔여 자재 · 시공 후 청소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창호의 분류와 표시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4081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5914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 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종류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914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출입구 · 창용 · 구획용 · 기타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914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재질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목재 · 강재 · 알루미늄 합금 · 합성수지 · 스테인리스 · 기타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85964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개폐 방식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여닫이(연직축) · 미세기(수평축) · 미닫이(레일 1개 수평 이동) · 오르내리기(레일 2개 상하 이동) · 회전식 · 기타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914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 · 방음 · 단열 · 방화창호(방화구획 구성)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914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창호 기호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원을 수평 2등분 — 위쪽 정리번호, 아래쪽 창호 구별 기호. 문 D(ㅁ), 창 W(ㅊ), 셔터 S(ㅅ)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914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울거미 재료 기호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알루미늄 · G 유리 · P 플라스틱 · S 강철 · SS 스테인리스 · W 목재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창호의 기본 기능 : 방범(잠금장치), 가볍고 내구성, 내충격성, 단열·차음, 환기·조작 편의. 방화문은 건축법·소방 관련 법규의 성능 기준을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목재 치수 · 대패 마무리 · 먹매김 용어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71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1119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치수 종류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제재치수(톱켜기 치수) · 마무리치수(톱질·대패질 감안, 창호는 일반적으로 마무리치수) · 정치수(지정치수대로 마무리)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 · 석 · 평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1재(才) = 12자×1치×1치 = 0.00324㎡ / 1석 = 83.33재 / 1㎥ ≒ 300재 ≒ 3.7석 / 1평 = 6자×6자 = 3.24㎡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대패 마무리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 : 경사광선에도 거스러미·자국 없음 / 중 : 거의 없음 / 하 : 다소 허용하되 톱자국 없음 (KASS 13010.5)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119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먹매김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마름질·바심질을 위해 재의 축 방향에 심먹을 치고 가공부(구멍·이음·맞춤자리)에 번호 표시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마름질 · 바심질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마름질 : 치수에 맞게 자르기(선대는 장부 길이를 고려해 3cm, 막이대는 5~10mm 길게) / 바심질 : 대패질 후 장부내기·장부구멍파기·홈파기·면접기, 세우기 순서 번호 기입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 조건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수축 변형이 적고 결이 좋으며 옹이 없는 무결점 건조재. 소나무(적송) 기본, 살·울거미는 거심재 사용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창호 시공도와 제작 전 검토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33637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336378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준비 단계 검토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33637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336378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 간 차이(평면·입면·단면·창호도), 방화문 위치·종류·개폐방식 등 법적 문제, 창호 시방서(재질·성능), 고정·양중·양생 등 시공성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5994"/>
            <a:ext cx="2148840" cy="163813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5994"/>
            <a:ext cx="2148840" cy="163813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시공도 기재 항목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835994"/>
            <a:ext cx="8945575" cy="163813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835994"/>
            <a:ext cx="8835847" cy="163813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설치 장소·위치, 수량, 각부 치수(안목·외형), 형식·형상, 구법·요구 성능, 표면처리·마감, 개폐 방향·방식, 철물 종류, 벽·천장·바닥과의 접합 상세, 유리의 종류·두께·설치방법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02141"/>
            <a:ext cx="2148840" cy="168893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02141"/>
            <a:ext cx="2148840" cy="1688930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제작·검사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602141"/>
            <a:ext cx="8945575" cy="1688930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602141"/>
            <a:ext cx="8835847" cy="168893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주문 생산·현장 실측 후 제작 → 정확한 마킹 → 장부·홈파기 → 가조립 → 조립 → 자체 검사(치수 정밀도·마감, 성적서 제출)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함수율은 창호 뒤틀림의 가장 큰 원인 — 시방서가 없으면 18% 이하 (KCS 41 55 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이음 · 맞춤 · 장부 제작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198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이음 / 맞춤 / 쪽매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부재를 길이 방향으로 잇기 / 직각·경사로 다른 부재와 맞추기 / 옆으로 나란히 대어 넓히기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이음 종류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맞댄이음, 겹친이음, 따내기 이음(주먹장·메뚜기장·엇걸이·빗턱·턱솔이음), 반턱이음, 빗이음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92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가로살·세로살은 반턱맞춤(3분턱·4분턱도 가능), 귀맞춤은 연귀장부끼움 또는 맞댐연귀. 가로살은 후면에서, 세로살은 전면에서 턱 따냄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울거미 조립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선대와 상하막이대는 연귀장부맞춤(뒷면 허리댐 장부맞춤), 장부 마구리에 벌림쐐기 1~2개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92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장부 규격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장부 두께는 울거미 옆 두께의 1/3, 쌍장부는 각 1/5. 촉장부(지름 15mm·길이 130mm 정도)와 강력 접착제 사용 가능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92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문틀 조립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문선과 문미는 연귀 또는 반턱연귀, 문선과 문지방은 장부맞춤. 인방과 같은 두께, 너비는 15~30mm 좁게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2424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풍소란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마주 닿는 선대의 틈을 막는 부재(반턱·제혀로 물림)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07380"/>
            <a:ext cx="11094415" cy="583691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문 종류별 제작 : 플러시문(울거미 + 중간 띠장 10~20cm 간격 + 표면 합판 + 6mm 갓테) · 양판문(윗막이 1~1.5배, 밑막이 1.5~2.5배) · 창호지문(세 살을 울거미에 짜넣기). 문널은 휨 방지를 위해 가로 오림목·거멀띠장을 대고 제작 후 장기간 보양.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창호 조립 — 접착제·부속 자재·허용오차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6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47287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4109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접착제 선택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물이 닿는 외벽·현관 = 페놀수지계 (KS M 3702) / 습도가 약간 높은 곳 = 요소수지계 (KS M 3701) / 일반 = 초산비닐수지 에멀션 (KS M 3700)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109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 길이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박아대는 재 두께의 2.5배 이상, 마구리에는 3배 이상. 보강 철물 두께는 3mm 이상, 너비 20~60mm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4109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부속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꺾쇠(보통·엇꺾쇠·주걱꺾쇠) · 볼트(너트·와셔 세트) · 띠쇠·ㄱ자쇠·감잡이쇠·안장쇠 · 듀벨(전단력 보강, 볼트는 인장력)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109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조립 허용오차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옆두께 +0.5/−1.0, 보임면 나비 ±3.0, 비틀림 2.0, 휨 3.0, 직각도 3.0, 대각선 길이차 2.0mm. 대각선 1,000mm 이하는 1.0mm 이내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4109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조립 요령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문틀·문짝에 접착제를 충분히 도포·압착, 타카핀(MP6-15)을 약 100mm 간격으로 3mm 이상 박기, 합판 문짝은 #200 이상 연마 후 도장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109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철물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스테인리스 또는 방청 처리. 벽체 고정은 두께 1.6×길이 150×폭 40mm 이상 아연도금 철물, 콘크리트는 타격앵커 + 직경 5×길이 100mm 이상 스크류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창호·문틀 설치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70281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512697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1269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설치 전 검사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치수 정밀도·마무리 검사, 변형 없이 쌓아 햇빛·파손·변색·오손 방지, 개구부 기준 먹매김으로 치수·기울기 확인, 개구부 접촉 이면에 방부제 2회 이상 도포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84146"/>
            <a:ext cx="11094415" cy="571753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25971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5971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84146"/>
            <a:ext cx="2286000" cy="571753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가조립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84146"/>
            <a:ext cx="7939735" cy="571753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문틀과 창문을 제자리에 세워 개폐 방향과 미닫이·미서기의 여유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65627"/>
            <a:ext cx="11094415" cy="70281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300672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00672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65627"/>
            <a:ext cx="2286000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우선 설치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65627"/>
            <a:ext cx="7939735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수평·수직 정확히, 마감재 두께·위치 고려. 선틀 높이 1.5m 이하는 양측 2개소, 초과 시 3개소 고정. 타격앵커는 35mm 이상 매입, 상부 틀 중앙 1개소 이상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78174"/>
            <a:ext cx="11094415" cy="987806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396176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96176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78174"/>
            <a:ext cx="2286000" cy="98780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후설치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678174"/>
            <a:ext cx="7939735" cy="98780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가틀(18mm 이상 준내수 1급 합판 등) → 후속 공정(바닥재·벽 마감) → 본틀(섬유포화점 이하, 30mm 정도 라왕 집성목) 고정. 1.5m 이하 양측 3개소, 초과 4개소 이상. 보조틀은 MDF 15mm 이상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75708"/>
            <a:ext cx="11094415" cy="70281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4916805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91680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775708"/>
            <a:ext cx="2286000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조정·충진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775708"/>
            <a:ext cx="7939735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개폐가 원활한지 5~6회 조정, 철물도 수정. 빈 공간은 우레탄폼 등으로 밀실하게 충진, 허용오차 각 부분 ±3mm 이내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88254"/>
            <a:ext cx="11094415" cy="702818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5729351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72935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588254"/>
            <a:ext cx="2286000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보양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588254"/>
            <a:ext cx="7939735" cy="70281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외부 노출 틀에 두께 1.5mm 이상 보양판을 설치하고 공사 마무리까지 유지, 제거 시 흔적 없이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창호 철물 종류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919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86693"/>
                <a:gridCol w="790772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철물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용도·기준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254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보통경첩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가장 많이 사용. 문짝이 크면 3매 사용, 두께 2.5mm 이상, 20만 회 개폐 시 마모량 1mm 이하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피봇힌지 / 플로어힌지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위아래에서 지지, 무거운 방화문 / 자동 닫힘 기능이 더해진 것, 바닥 두께에 주의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254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도어클로저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열린 문을 자동으로 닫음. 문 두께 40mm 이상에 매설형 가능, 상시 개방형 방화문은 온도 퓨즈 필수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자유경첩·래버토리·그래버티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스프링(자유경첩·래버토리) 또는 문짝 자중(그래버티)으로 닫힘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254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자물쇠 / 꽂이쇠 / 걸쇠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모티스 록·실린더 록 등, 카드키·생체인식 / 쌍여닫이 고정(민고두꽂이쇠·오르내리꽂이쇠, 스트로크 18mm 이상) / 도어체인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도어스톱 · 스토퍼 · 에어타이트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 충돌 방지 / 개폐 각도 조절 / 문 닫으면 하부 틈 차단(방음실)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미닫이·미서기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레일(일직선으로 깔기) + 문바퀴(볼 베어링) 또는 도어 행거, 핸들·오목손잡이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오르내리창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도르래·달끈·추·손걸이, 잠금은 크레센트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보양 — 개념과 공정별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18287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보양이란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74396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일정 기간·부위를 외부 영향(온도·습기·풍우·직사광선·오손·하중·파손)으로부터 보호·유지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내부 보양(벽체·바닥·문·문틀·씰) / 외부 보양(입구 윗면·바닥면·측면)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182876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보양재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743964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시기·일정·일기예보, 실내외·경화 필요 여부 구분, 보양 기간(너무 길면 변형)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두께·재질·통기성·자외선 투과성, 인증된 제품. 종류 : 널판, 종이, 거적, PVC(플라베니아), 이중버블시트, 종이롤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55644"/>
            <a:ext cx="5446623" cy="253542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5564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5564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콘크리트·조적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76268"/>
            <a:ext cx="5355183" cy="2096516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콘크리트 : 초기 동해 우려 시 5MPa 이상 압축강도가 나올 때까지 0℃ 이상 관리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조적 : 쌓은 후 12시간 외력 금지, 3일 집중하중 금지, 4℃ 이하는 보온막 24시간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755644"/>
            <a:ext cx="5446623" cy="253542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755644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755644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목공·미장·창호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176268"/>
            <a:ext cx="5355183" cy="2096516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목공 : 습기·일광 차단, 종이 붙임·널대기로 오염·손상 방지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미장 : 여름 습윤 보양, 4℃ 이하 난방. 타일 : 3일간 진동 주의, 줄눈 후 24시간 내 비 우려 시 폴리에틸렌 차단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창호 : 사춤·정밀도 확보, 오염·파손 방지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잔여 자재 · 폐기물 · 현장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71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1119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기준·요점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재사용 자재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목재 : 손상 없고 통풍 좋은 곳 저장, 우수 노출 금지 / 합판 : 습기·온도차 손상 없고 증명서 있는 것 / 철물 : 녹·휨 없는 것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폐기물 재활용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폐목재는 연료·보드용 칩·활성탄·비료로, 폐유리는 컬리트(유리섬유·단열재·타일 원료), 폐콘크리트는 파쇄해 기초·노반·골재로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폐기물 처리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지정 장소에 분류해 처리, 매립지 반출 시 분류·포장 후 반입수수료 영수증 제출, 폐기물 비용은 시공계획 수립 시 공사 경비에 포함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119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정리 3분류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필요한 것 / 불필요한 것(추후 사용 가능성) / 불용품(앞으로도 사용 안 함)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안전보건규칙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제3조 전도 방지 · 제4조 작업장 청결 · 제4조의2 분진 흩날림 방지 · 제5조 오염 바닥 세척 · 제6조 오물 처리 · 제7조 채광·조명 · 제8조 조도(초정밀 750lux · 정밀 300 · 보통 150 · 기타 75)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정리 순서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불필요한 물건 분류 → 적정 보관 수량 → 보관 장소 정비 → 선반·캐비넷 분류 → 즉시 사용 가능한 곳 정돈 → 등록·사용·점검 대장 → 단계별 점검표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공구·장비 점검과 날물 손질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62458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62458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점검 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62458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62458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도구 : 망치·못뽑이·렌치·집게·고무망치 / 공구 : 못총·마이터 쏘·스킬 쏘·왕복톱·충전 드라이버·컴프레서 / 장비 : 지게차·백호·크레인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전기공구는 코드·선·장치 점검, 목재 가루로 인한 고장을 막기 위해 공구 틈까지 청소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24200"/>
            <a:ext cx="2148840" cy="9702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24200"/>
            <a:ext cx="2148840" cy="9702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3124200"/>
            <a:ext cx="8945575" cy="9702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3124200"/>
            <a:ext cx="8835847" cy="9702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숫돌로 날갈이, 뒷날부터 간 다음 앞날. 쓰고 난 끌은 날이 바닥에 닿지 않게 꽂거나 눕혀 보관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22496"/>
            <a:ext cx="2148840" cy="9702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2496"/>
            <a:ext cx="2148840" cy="9702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대패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222496"/>
            <a:ext cx="8945575" cy="9702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222496"/>
            <a:ext cx="8835847" cy="9702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대패날과 대팻집 확인, 어미날과 덧날이 잘 맞는지, 앞날·뒷날·덧날 모두 갈고 대패집은 바닥 수평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20792"/>
            <a:ext cx="2148840" cy="9702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20792"/>
            <a:ext cx="2148840" cy="9702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320792"/>
            <a:ext cx="8945575" cy="9702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320792"/>
            <a:ext cx="8835847" cy="9702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가장 닳은 톱니에 맞춰 줄로 고르게 갈고, 어김쇠로 톱니를 좌우로 엇갈리게, 기름칠 후 보관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8장  목재창호 제작설치 및 보양·현장정리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창호 제작·설치·보양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p035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60" y="1444752"/>
            <a:ext cx="1507897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각종 장부·맞춤 도해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p036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863" y="1444752"/>
            <a:ext cx="2029968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장부와 촉 (촉장부)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p041_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180" y="1660758"/>
            <a:ext cx="3436010" cy="1305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창호 철물 부착 위치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8_p047_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142" y="3931920"/>
            <a:ext cx="2346732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문틀·창틀 설치 상태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8_p058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797" y="3931920"/>
            <a:ext cx="2086100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문틀 보양 (비닐 시트)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_p061_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613" y="3931920"/>
            <a:ext cx="2303145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7316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콘크리트 PE필름 보양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212079"/>
            <a:ext cx="2926080" cy="2926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943600"/>
            <a:ext cx="1463040" cy="14630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6309359"/>
            <a:ext cx="731520" cy="73152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320040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검사 하자보수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D9BC94"/>
                </a:solidFill>
                <a:latin typeface="맑은 고딕"/>
                <a:ea typeface="맑은 고딕"/>
                <a:cs typeface="맑은 고딕"/>
              </a:rPr>
              <a:t>모듈 코드  LM1403020112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685800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학습모듈의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7253935" cy="652271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목공사 결과를 도면·시방서와 비교해 잘못 시공된 부분을 검사하고 하자를 보수한다.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23871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학습 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35352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5352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1  시공결과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35352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시공 완성도 판단, 구조부재별 완성도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883408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883408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2  재작업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883408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재작업 부위 검수와 재작업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331464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331464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3  하자원인 파악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31464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하자 원인 체크리스트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779520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79520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4  하자보수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79520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목재 특성에 따른 하자와 보수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27576"/>
            <a:ext cx="725393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227576"/>
            <a:ext cx="2651760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학습 5  보수·보강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27576"/>
            <a:ext cx="4602175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하자보수 계획에 따른 보수·보강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767072"/>
            <a:ext cx="7253935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핵심 용어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151120"/>
            <a:ext cx="7253935" cy="384048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151120"/>
            <a:ext cx="7253935" cy="384048"/>
          </a:xfrm>
          <a:prstGeom prst="rect">
            <a:avLst/>
          </a:prstGeom>
          <a:noFill/>
        </p:spPr>
        <p:txBody>
          <a:bodyPr wrap="square" lIns="164592" rIns="164592" tIns="91440" bIns="9144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시공 완성도 · 설계도면 및 시방서 · 하자원인 · 하자 체크리스트 · 하자보수 계획 · 보수보강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시공 완성도 판단 — 검토 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131013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131013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시방서·도서 검토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131013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131013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내장용 판재·목재의 등급·표시, 치수(수장재는 도면치수가 마감치수), 함수율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방부처리(KS F 2250, 가압식 KS F 2219, 현장 절단면도 같은 방부제) / 방염처리(합판은 가압식, 묶음마다 공인시험소 검인) / 증기 건조목 증빙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9748"/>
            <a:ext cx="2148840" cy="131013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09748"/>
            <a:ext cx="2148840" cy="131013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재료·견본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809748"/>
            <a:ext cx="8945575" cy="131013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809748"/>
            <a:ext cx="8835847" cy="131013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목재·바탕재·구조재 수종과 품질, 방부·방충 처리재, 집성재 규격, 합판의 수종·등급·치수·색·무늬·수량</a:t>
            </a:r>
          </a:p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설치용 철물의 견본·형상·치수·규격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47896"/>
            <a:ext cx="2148840" cy="9575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47896"/>
            <a:ext cx="2148840" cy="9575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시공도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247896"/>
            <a:ext cx="8945575" cy="9575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4247896"/>
            <a:ext cx="8835847" cy="9575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부위별 가공도, 수장재 가공 시기, 문틀, 목조 간막이(샛기둥 폭·어긋남), 단면 지정치수(마감재는 마감치수·안 보이는 부재는 마무리치수)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33492"/>
            <a:ext cx="2148840" cy="957579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33492"/>
            <a:ext cx="2148840" cy="957579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승인 절차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5333492"/>
            <a:ext cx="8945575" cy="957579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5333492"/>
            <a:ext cx="8835847" cy="957579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모든 시공도면은 설치 전에 승인, 승인된 견본은 꼬리표를 붙여 현장 사무실에 비치, 반입 자재가 견본과 같은지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시공 완성도 점검 체크포인트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40816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476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대상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확인할 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76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기준·함수율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먹매김·바닥높이·바닥 먹매김, 목재 함수율, 콘크리트와의 접합(나무벽돌·인서트 위치)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469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간막이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울거미는 대패 마감, 스터드는 못 고정·간격 45cm 이하, 가새(기둥 3개 나누기 정도)는 샛기둥 쪽에 홈파기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7646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못·바닥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못의 길이, 마루청 붙이기 전 바닥 아래 청소·환기구 설치, 마루널 시공법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469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 처리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합판류 모두 난연처리, 칸막이 벽 천장 안은 석고보드 9mm 양면 못치기로 슬래브 하단까지 틈새 없이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74469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목재 보관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받침목 위 종류별·규격별 적재, 보양재로 습기·직사광선 차단, 방부 목재의 벽체 접촉부 크레오소트 도포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4469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보양·마무리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오염 우려 부분은 종이바름·판자붙이기·폴리에틸렌 보양, 바닥판 흔들림·턱솔 확인, 불필요한 못 제거, 바닥 아래·천장 위 청소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16930"/>
            <a:ext cx="11094415" cy="37414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검사 장비 : 줄자, 레이저 레벨기, 수평기, 측량기, 강도·소음·온도 측정기, 버니어캘리퍼스, 마이크로미터.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구조부재별 완성도와 허용오차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6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495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사항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5495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허용오차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부재 길이 +1.5mm, 부재 맞춤(수직·수평) +0.01mm, 부재 각도 +0.04mm, 면적 1㎡ 당 +2㎟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수직 하중 지지·지붕과 바닥 하중을 기초로 전달, 수평 하중(지진·바람) 저항. 모두 수직, 마감재 설치에 적합하게 평평. 전단벽 실외면에 두께 11mm 이상 OSB·구조용 합판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부재 손상 없음, 단일 부재가 이어지거나 맞춤된 것 금지, 수직재는 원구가 아래로, 수평재 연결은 원구와 말구를 맞대기, 이음 위치 분산·편심 하중 금지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시방서 함수율 이하, 설계도서에 정한 수종, 큰 부재에서 켜낸 섬유 방향 거심재, 울거미 표면에 섬유 방향이 보임, 엇결·옹이·갈램·썩음 없음, 견고한 철물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495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단차(KS F 3126 기준), 접착제 묻음, 걸레받이 연결·실리콘 마감, 스크래치·눌림·찍힘 시 교체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8177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 연결부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기준선·수평에 정확히, 볼트는 알맞은 크기로 안전 고정, 목재 골조의 못은 끝을 구부리고 머리가 마감면에 노출되지 않게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시방서 일반사항과 목조건축구조 설계기준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511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14590"/>
                <a:gridCol w="8379824"/>
              </a:tblGrid>
              <a:tr h="63398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시방서 일반(10010 목공사)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함수율 이하로 건조된 자재, 등급인으로 등급 식별, 하중은 가능한 섬유 방향과 평행하게, 넓은 목재를 조임쇠로 고정할 때 수축·팽윤으로 섬유 직각 방향 응력이 생기지 않게, 수축에 의한 치수 변화는 시공 시 미리 고려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 원칙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공작도 제출·승인 후 시공, 모든 기준선·수평은 감독원 확인 후, 이음·맞춤은 승인, 합목은 나비촉 맞춤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건축구조기준 제8장 0806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단독주택 적용 : 3층 이하 · 바닥면적 3,000㎡ 이하 · 지붕 높이 18m(처마 15m) 이하 · 구조부재 간격 650mm 이하 · 바닥 적재하중 2.5kN/㎡ · 지붕 1.5kN/㎡ 이하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범위 밖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0806에 따르지 않는 목조건축물은 제8장에 따라 구조계산 필요. 방화 설계 성능 기준도 포함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재작업 검토 — 원인 규명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148840" cy="80101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48840" cy="80101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  설계도서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8945575" cy="80101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2344" y="1371600"/>
            <a:ext cx="8835847" cy="80101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사용 부위·재종·품종 지정, 구조재의 휨·처짐, 방충·방부 처리 방법, 목재 단면 치수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00630"/>
            <a:ext cx="2148840" cy="80101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00630"/>
            <a:ext cx="2148840" cy="80101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  시공계획서 검토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300630"/>
            <a:ext cx="8945575" cy="80101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300630"/>
            <a:ext cx="8835847" cy="80101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공사 중 보양 방법, 가공도면·시공도면, 목재 보관 장소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29660"/>
            <a:ext cx="2148840" cy="801014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29660"/>
            <a:ext cx="2148840" cy="801014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  가공 순서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229660"/>
            <a:ext cx="8945575" cy="801014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3229660"/>
            <a:ext cx="8835847" cy="801014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구조재는 먹매김 → 마름질 → 바심질 → 세우기 순, 수장재는 공정에 차질이 없게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58691"/>
            <a:ext cx="2148840" cy="100218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58691"/>
            <a:ext cx="2148840" cy="100218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  바닥 소리·마감 상태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4158691"/>
            <a:ext cx="8945575" cy="100218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4158691"/>
            <a:ext cx="8835847" cy="100218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재료 수축에 의한 처짐·변형, 바닥 하부 설비배관과 바닥판·침목·장선의 마감 상태 / 내부 마감 목재의 불순물 부착·손상·고정 부족에 의한 변형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88889"/>
            <a:ext cx="2148840" cy="1002182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88889"/>
            <a:ext cx="2148840" cy="1002182"/>
          </a:xfrm>
          <a:prstGeom prst="rect">
            <a:avLst/>
          </a:prstGeom>
          <a:noFill/>
        </p:spPr>
        <p:txBody>
          <a:bodyPr wrap="square" lIns="12801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재작업 범위 판단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5288889"/>
            <a:ext cx="8945575" cy="100218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52344" y="5288889"/>
            <a:ext cx="8835847" cy="100218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도면·시방서의 허용오차를 벗어난 부적합 부위만 범위를 정해 재시공, 방부 처리 목재와 염화비닐 파이프는 접촉시키지 않음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목공사 하자 체크리스트 (1) — 설계·시공계획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9194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4137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주의사항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설계도서 확인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용도(구조재·내부마감재·마감바탕재)에 맞는 수종·재질·등급, 간주·보강재 간격, 설비·중량물 설치 부위 보강 여부, 인체에 유해한 화학처리 여부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37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목가공재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목재 함수율·수축 특성·사용 용도, 사용 목재의 승인 여부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가공·조립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휨·뒤틀림 특성을 배려한 용도, 마루널 접합부 이음(삐걱임 방지), 프레임 주변 보강, 문틀 내력 확보, 칸막이 내 설비기구 위치, 조명·공조기구·점검구 바탕 보강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직사일광·고온다습 피하기, 상하 부재 가로 걸쳐 보관, 불 취급 기구·연도에서 15cm 이상 이격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1376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개폐 매끄러움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함수율 15% 이하 건조목 사용, 문지방 하부 패킹·목재 간격 450mm 이내·단부 150mm 이내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95021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 소리 방지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하부 지지 목재 아래 패킹·레벨용 모르타르 금지, 못 길이는 고정 재료 두께의 1.6배 이상, 슬리퍼·장선 접합부와 합판끼리 맞대기에 적정 Gap, 칸막이벽과 바닥 합판 사이 3mm 정도 Gap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68199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칸막이 변형 방지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프레임 주변 보강(수직 보강재는 상부를 보·바닥판에 도달), 선반·분전반·피아노·세면대 등 무거운 물건 부위 보강, 보드류·베니어 이음부에 반드시 바탕재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목공사 하자 체크리스트 (2) — 목재 창호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919471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96565"/>
                <a:gridCol w="8497849"/>
              </a:tblGrid>
              <a:tr h="51119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주의사항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설계도서 검토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창호 일람표와 평면·입면·단면 비교, 철물 종류·물량, 시건방식, 비·습도·물 들어올 우려, 피난 방향·바닥 단차, 마스터키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119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 업체 선정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지정 업체 여부, 경영·공장설비·제품 신뢰도·수주실적 확인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104764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 기준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표층재 두께 4mm 이상, 창호재 자연건조 함수율 18% 이하·인공건조 15% 이하, 문고리·손잡이는 FL+1m 기준(철물 부위 보강), 창호 15kg 이상이면 나비정첩 127mm(주택용 105mm)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시공계획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출입구 틀 충분성, 철물 규격·재료 선정, 손잡이 최소 64mm, 철물과 문 색상, 연소 염려 부분은 유리면에서 150mm 이상 이격 또는 불연재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1119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접착제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페놀수지 · 유리아(요소)수지 · 비닐수지 에멀션 · 벽지용 전분계 — 사용 장소별 선택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779417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작동 원활성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정밀도, 문과 틀·바닥·벽 유격, 플러시 도어 휨, 개폐 상태, 힌지 소요 개수, 커튼레일 위치, 문 아래·중간·위에 공기구멍, 양면 마감재는 같은 재질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목재 특성에 따른 하자와 보수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수축·팽윤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수축률은 생재 치수 대비, 팽윤율은 전건 치수 대비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추재가 춘재보다 비중이 높아 수축이 크고, 연륜이 접선방향이라 접선 &gt; 방사 방향. 비중이 높을수록 수축·팽윤이 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137160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37160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할렬 · 틀어짐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79222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할렬 : 건조응력이 목재 강도를 초과할 때. 표면할렬은 가벼운 대패로 해결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틀어짐 : 굽음·측면굽음·너비굽음·비틀림·마름모꼴, 적절한 쌓기 방법·제재 방법으로 최소화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변색 · 내구성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5254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변색 : 균·추출물이 고온에서 반응, 청변균 반점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내구성 저하 : 균류, 흰개미·목수개미, 박테리아, 화재, 자외선, 마찰, 부식 산화물 접촉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3931920"/>
            <a:ext cx="5446623" cy="235915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3931920"/>
            <a:ext cx="5446623" cy="384048"/>
          </a:xfrm>
          <a:prstGeom prst="rect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3931920"/>
            <a:ext cx="5446623" cy="384048"/>
          </a:xfrm>
          <a:prstGeom prst="rect">
            <a:avLst/>
          </a:prstGeom>
          <a:noFill/>
        </p:spPr>
        <p:txBody>
          <a:bodyPr wrap="square" lIns="137160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성능 개선제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352544"/>
            <a:ext cx="5355183" cy="1920240"/>
          </a:xfrm>
          <a:prstGeom prst="rect">
            <a:avLst/>
          </a:prstGeom>
          <a:noFill/>
        </p:spPr>
        <p:txBody>
          <a:bodyPr wrap="square" lIns="73152" rIns="73152" tIns="54864" anchor="t">
            <a:spAutoFit/>
          </a:bodyPr>
          <a:lstStyle/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방수·방염·방부제 도포 또는 가압 침지. CCA 금지, ACQ 사용 증가</a:t>
            </a:r>
          </a:p>
          <a:p>
            <a:pPr algn="l" marL="254000" indent="-254000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20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표면 도포 개선제는 최소 1년~최대 3년만 유지되므로 지속적 재도포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방부처리 대상 부재와 사용환경 H1~H5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491946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2488"/>
                <a:gridCol w="8851927"/>
              </a:tblGrid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84963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방부 대상 부재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토대·장선·멍에·지붕재, 지면 1m 이내 외부 기둥, 부엌·욕실 목재, 토대·외부기둥·외부벽, 땅·물에 접하는 기초용 목재, 결로 쉬운 곳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H1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건조한 실내(부후·흰개미 우려 없음) — 가구·벽재·천장재·플로어링, 방충·방미 성능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H2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비·눈은 맞지 않지만 결로 발생, 내구성 필요 — 한랭 지역 습윤 환경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H3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야외에서 눈비를 맞는 곳, 부후·흰개미 우려 — 지주목·파고라·야외 의자·외벽재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땅에 묻히거나 접지, 격심한 부후·흰개미(제주·남부) — 조경시설 토대, 매설 목재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H5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땅·물·바닷물 접촉, 극심한 우려 — 냉각탑재·부두 항목·교량 받침목·전주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58140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방부처리법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H2~H5 환경은 가압방부처리가 원칙, 함수율 80% 이상 생재는 확산법 등 간이 처리도 가능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보수·보강 계획 수립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835761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1579168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791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보수와 보강의 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7939735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보수 : 내구성능의 회복·향상 / 보강 : 내하력·강성 등 역학적 성능의 회복·향상. 보수는 상태평가, 보강은 상태평가 + 안전성 평가 결과를 검토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17089"/>
            <a:ext cx="11094415" cy="835761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524658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52465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17089"/>
            <a:ext cx="2286000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수준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17089"/>
            <a:ext cx="7939735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위험도와 경제성을 고려해 ① 현상유지(진행 억제) ② 실용상 지장 없는 성능까지 회복 ③ 기존 수준 이상으로 개선 ④ 개축 중 선택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62579"/>
            <a:ext cx="11094415" cy="835761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3470147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47014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62579"/>
            <a:ext cx="2286000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공법 선정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262579"/>
            <a:ext cx="7939735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결함 발생 원인을 정확히 분석한 뒤 적용성·구조 안전성·경제성을 검토해 가장 적합한 공법과 보수재료 선택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8068"/>
            <a:ext cx="11094415" cy="835761"/>
          </a:xfrm>
          <a:prstGeom prst="rect">
            <a:avLst/>
          </a:prstGeom>
          <a:solidFill>
            <a:srgbClr val="FAF5E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4415637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41563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08068"/>
            <a:ext cx="2286000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우선순위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208068"/>
            <a:ext cx="7939735" cy="83576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보수보다 보강을, 주부재를 보조부재보다 먼저. 부재 중요도와 결함 심각성을 종합 검토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53558"/>
            <a:ext cx="11094415" cy="1137513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5512003"/>
            <a:ext cx="420624" cy="420624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551200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BF6EC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153558"/>
            <a:ext cx="2286000" cy="1137513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유지관리 방안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153558"/>
            <a:ext cx="7939735" cy="1137513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결함·손상 종류와 원인, 점검 요령, 조치 대책을 그림·사진 위주로 정리해 점검 경험이 적은 사람도 활용 가능하게. 전문 업체의 지속적·체계적 관리 권장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9장  검사 하자보수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교재 그림으로 보기 — 목재 특성과 하자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p044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19" y="1444752"/>
            <a:ext cx="281178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침엽수 (구조용재)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p044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957" y="1444752"/>
            <a:ext cx="281178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2978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활엽수 (가구·내장재)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389888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_p045_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180" y="1528868"/>
            <a:ext cx="3436010" cy="15691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7316" y="3264408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목재의 용도별 함수율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9_p046_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978" y="3931920"/>
            <a:ext cx="1657061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판재의 너비굽음(cup) 변형 원리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978" y="3877056"/>
            <a:ext cx="35457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9_p049_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543" y="3931920"/>
            <a:ext cx="1562608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22978" y="5751576"/>
            <a:ext cx="3545738" cy="457200"/>
          </a:xfrm>
          <a:prstGeom prst="rect">
            <a:avLst/>
          </a:prstGeom>
          <a:noFill/>
        </p:spPr>
        <p:txBody>
          <a:bodyPr wrap="square" lIns="73152" rIns="73152" tIns="27432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방부목 사용환경 H1~H5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그림 출처 : NCS 학습모듈 원문 그림 (학습용 발췌)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47472"/>
            <a:ext cx="8229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5601F"/>
                </a:solidFill>
                <a:latin typeface="맑은 고딕"/>
                <a:ea typeface="맑은 고딕"/>
                <a:cs typeface="맑은 고딕"/>
              </a:rPr>
              <a:t>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094415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 i="0">
                <a:solidFill>
                  <a:srgbClr val="3E2723"/>
                </a:solidFill>
                <a:latin typeface="맑은 고딕"/>
                <a:ea typeface="맑은 고딕"/>
                <a:cs typeface="맑은 고딕"/>
              </a:rPr>
              <a:t>출처와 사용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1094415" cy="22860"/>
          </a:xfrm>
          <a:prstGeom prst="rect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4175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54358"/>
                <a:gridCol w="6561213"/>
                <a:gridCol w="3578843"/>
              </a:tblGrid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학습모듈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6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</a:p>
                  </a:txBody>
                  <a:tcPr marL="82296" marR="82296" marT="36576" marB="36576" anchor="ctr">
                    <a:solidFill>
                      <a:srgbClr val="3E2723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건축목공시공 도면 파악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LM1403020101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건축목공시공 현장 안전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LM1403020102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건축목공시공 계획 수립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LM1403020103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건축목공시공 시공 준비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LM1403020104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먹매김 및 바닥 설치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LM1403020105 + 0107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벽 설치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LM1403020108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천장 설치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LM1403020109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08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목재창호 제작설치 및 보양·현장정리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LM1403020110 + 0111</a:t>
                      </a:r>
                    </a:p>
                  </a:txBody>
                  <a:tcPr marL="82296" marR="82296" marT="36576" marB="36576" anchor="ctr">
                    <a:solidFill>
                      <a:srgbClr val="FAF5EA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E27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하자보수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1D1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LM1403020112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75960"/>
            <a:ext cx="11094415" cy="515112"/>
          </a:xfrm>
          <a:prstGeom prst="rect">
            <a:avLst/>
          </a:prstGeom>
          <a:solidFill>
            <a:srgbClr val="F4EBDA"/>
          </a:solidFill>
          <a:ln w="9525">
            <a:solidFill>
              <a:srgbClr val="D8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775960"/>
            <a:ext cx="11094415" cy="515112"/>
          </a:xfrm>
          <a:prstGeom prst="rect">
            <a:avLst/>
          </a:prstGeom>
          <a:noFill/>
        </p:spPr>
        <p:txBody>
          <a:bodyPr wrap="square" lIns="164592" rIns="164592" tIns="82296" bIns="82296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2A1D16"/>
                </a:solidFill>
                <a:latin typeface="맑은 고딕"/>
                <a:ea typeface="맑은 고딕"/>
                <a:cs typeface="맑은 고딕"/>
              </a:rPr>
              <a:t>이 노트는 NCS 학습모듈(건설 · 건축 · 건축시공 · 건축목공시공, 14v2)의 본문을 학습용으로 요약한 것입니다. 법령·KS 규격·요율은 발행 시점(2015~2016년) 기준이므로 실제 시공·견적·자격시험에 쓸 때는 최신 규정을 확인하세요. 원문은 www.ncs.go.kr 에서 내려받을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건축목공시공 NCS 학습모듈 정리노트 · 9개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7A6A5A"/>
                </a:solidFill>
                <a:latin typeface="맑은 고딕"/>
                <a:ea typeface="맑은 고딕"/>
                <a:cs typeface="맑은 고딕"/>
              </a:rPr>
              <a:t>113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
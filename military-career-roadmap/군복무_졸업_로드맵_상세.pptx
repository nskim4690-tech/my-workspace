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amsungcareers.com" TargetMode="External"/><Relationship Id="rId3" Type="http://schemas.openxmlformats.org/officeDocument/2006/relationships/hyperlink" Target="https://www.ssafy.com" TargetMode="External"/><Relationship Id="rId4" Type="http://schemas.openxmlformats.org/officeDocument/2006/relationships/hyperlink" Target="https://boostcamp.connect.or.kr" TargetMode="External"/><Relationship Id="rId5" Type="http://schemas.openxmlformats.org/officeDocument/2006/relationships/hyperlink" Target="https://kakaotechbootcamp.com" TargetMode="External"/><Relationship Id="rId6" Type="http://schemas.openxmlformats.org/officeDocument/2006/relationships/hyperlink" Target="https://techcourse.woowahan.com" TargetMode="External"/><Relationship Id="rId7" Type="http://schemas.openxmlformats.org/officeDocument/2006/relationships/hyperlink" Target="https://www.swmaestro.org" TargetMode="External"/><Relationship Id="rId8" Type="http://schemas.openxmlformats.org/officeDocument/2006/relationships/hyperlink" Target="https://42seoul.kr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saramin.co.kr" TargetMode="External"/><Relationship Id="rId3" Type="http://schemas.openxmlformats.org/officeDocument/2006/relationships/hyperlink" Target="https://www.jobkorea.co.kr" TargetMode="External"/><Relationship Id="rId4" Type="http://schemas.openxmlformats.org/officeDocument/2006/relationships/hyperlink" Target="https://www.wanted.co.kr" TargetMode="External"/><Relationship Id="rId5" Type="http://schemas.openxmlformats.org/officeDocument/2006/relationships/hyperlink" Target="https://linkareer.com" TargetMode="External"/><Relationship Id="rId6" Type="http://schemas.openxmlformats.org/officeDocument/2006/relationships/hyperlink" Target="https://school.programmers.co.kr" TargetMode="External"/><Relationship Id="rId7" Type="http://schemas.openxmlformats.org/officeDocument/2006/relationships/hyperlink" Target="https://www.campuspick.com" TargetMode="External"/><Relationship Id="rId8" Type="http://schemas.openxmlformats.org/officeDocument/2006/relationships/hyperlink" Target="https://www.jobplanet.co.kr" TargetMode="External"/><Relationship Id="rId9" Type="http://schemas.openxmlformats.org/officeDocument/2006/relationships/hyperlink" Target="https://www.rocketpunch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297680"/>
            <a:ext cx="3840480" cy="3840480"/>
          </a:xfrm>
          <a:prstGeom prst="ellipse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394960"/>
            <a:ext cx="2377440" cy="2377440"/>
          </a:xfrm>
          <a:prstGeom prst="ellipse">
            <a:avLst/>
          </a:prstGeom>
          <a:solidFill>
            <a:srgbClr val="2B3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  <a:ea typeface="맑은 고딕"/>
              </a:rPr>
              <a:t>군 복무 ~ 졸업까지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CADCFC"/>
                </a:solidFill>
                <a:latin typeface="Cambria"/>
                <a:ea typeface="맑은 고딕"/>
              </a:rPr>
              <a:t>컴퓨터공학과 진로 로드맵 (상세판)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FB2E0"/>
                </a:solidFill>
                <a:latin typeface="Calibri"/>
                <a:ea typeface="맑은 고딕"/>
              </a:rPr>
              <a:t>인하대학교 컴퓨터공학과  ·  2026.09 잔여 복무 ~ 졸업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FB2E0"/>
                </a:solidFill>
                <a:latin typeface="Calibri"/>
                <a:ea typeface="맑은 고딕"/>
              </a:rPr>
              <a:t>학년별 로드맵 + 인턴십 프로그램 + 분야별 자격증·역량·기업·초봉·선호학력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494C4"/>
                </a:solidFill>
                <a:latin typeface="Calibri"/>
                <a:ea typeface="맑은 고딕"/>
              </a:rPr>
              <a:t>채용 시장 데이터 기반 정리 (2025~2026 조사 기준, 추정치 포함)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  <a:ea typeface="맑은 고딕"/>
              </a:rPr>
              <a:t>전체 로드맵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672080"/>
            <a:ext cx="10515600" cy="5080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37160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잔여 복무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137160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~ 2026.11</a:t>
            </a:r>
          </a:p>
        </p:txBody>
      </p:sp>
      <p:sp>
        <p:nvSpPr>
          <p:cNvPr id="7" name="Oval 6"/>
          <p:cNvSpPr/>
          <p:nvPr/>
        </p:nvSpPr>
        <p:spPr>
          <a:xfrm>
            <a:off x="265176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59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전역 공백기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59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여행 · 알바</a:t>
            </a:r>
          </a:p>
        </p:txBody>
      </p:sp>
      <p:sp>
        <p:nvSpPr>
          <p:cNvPr id="10" name="Oval 9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2학년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전공 기초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3학년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심화 · 인턴</a:t>
            </a:r>
          </a:p>
        </p:txBody>
      </p:sp>
      <p:sp>
        <p:nvSpPr>
          <p:cNvPr id="16" name="Oval 15"/>
          <p:cNvSpPr/>
          <p:nvPr/>
        </p:nvSpPr>
        <p:spPr>
          <a:xfrm>
            <a:off x="8961119" y="242316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4학년 1학기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포트폴리오</a:t>
            </a:r>
          </a:p>
        </p:txBody>
      </p:sp>
      <p:sp>
        <p:nvSpPr>
          <p:cNvPr id="19" name="Oval 18"/>
          <p:cNvSpPr/>
          <p:nvPr/>
        </p:nvSpPr>
        <p:spPr>
          <a:xfrm>
            <a:off x="11064240" y="2423160"/>
            <a:ext cx="548640" cy="54864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  <a:ea typeface="맑은 고딕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78440" y="315468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  <a:ea typeface="맑은 고딕"/>
              </a:rPr>
              <a:t>4학년 2학기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78440" y="3520440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5A6B8C"/>
                </a:solidFill>
                <a:latin typeface="Calibri"/>
                <a:ea typeface="맑은 고딕"/>
              </a:rPr>
              <a:t>본격 취업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  <a:ea typeface="맑은 고딕"/>
              </a:rPr>
              <a:t>이 로드맵에서 추가로 다루는 내용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160520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맑은 고딕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33087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Calibri"/>
                <a:ea typeface="맑은 고딕"/>
              </a:rPr>
              <a:t>학년/시기별 준비 로드맵 (Stage 1~6)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544568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맑은 고딕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1713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Calibri"/>
                <a:ea typeface="맑은 고딕"/>
              </a:rPr>
              <a:t>국내 대표 인턴십 · 채용연계 교육 프로그램 7종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928616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맑은 고딕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901183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Calibri"/>
                <a:ea typeface="맑은 고딕"/>
              </a:rPr>
              <a:t>인턴 · 채용 정보 사이트 8곳 (바로가기 링크)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5312664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맑은 고딕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5285231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Calibri"/>
                <a:ea typeface="맑은 고딕"/>
              </a:rPr>
              <a:t>분야별 상세: 백엔드 / AI·데이터 / 정보보안 / 클라우드·DevOps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696712"/>
            <a:ext cx="256032" cy="25603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맑은 고딕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69279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5A6B8C"/>
                </a:solidFill>
                <a:latin typeface="Calibri"/>
                <a:ea typeface="맑은 고딕"/>
              </a:rPr>
              <a:t>대기업 신입 초봉 스냅샷 + 종합 우선순위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잔여 복무기간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지금 ~ 2026년 11월 전역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088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CS 기본기 복습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자료구조 · 운영체제 · 네트워크 등 책으로 개념 정리 (실습 없이도 가능)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804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644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코딩 감각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118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휴대폰/PC 사용 가능 시 백준·프로그래머스로 간단한 문제 풀이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520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6360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정보처리기사 필기 (선택)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8348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일정이 맞으면 필기만 시도 — 실기는 전역 후 환경에서 준비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172200"/>
            <a:ext cx="11064240" cy="18288"/>
          </a:xfrm>
          <a:prstGeom prst="rect">
            <a:avLst/>
          </a:prstGeom>
          <a:solidFill>
            <a:srgbClr val="E3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B8C"/>
                </a:solidFill>
                <a:latin typeface="Calibri"/>
                <a:ea typeface="맑은 고딕"/>
              </a:rPr>
              <a:t>목표는 '새로운 공부'가 아니라 '감을 잃지 않는 것'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전역 ~ 복학 공백기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여행 · 아르바이트 계획 중 (약 2~3개월)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088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자격증 · 스펙은 잠시 보류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정보처리기사 등 시험 일정이 이 기간과 맞지 않음 — 다음 학기 방학으로 미루기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804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644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하루 30분~1시간, 코딩 감각만 유지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118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여행 중에도 가능한 수준으로 가볍게. 목표는 실력 향상이 아니라 복학 워밍업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520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6360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여행 · 알바에 집중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8348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사회 복귀 리프레시 시간으로 활용. 무리한 계획보다 충분한 재충전이 우선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172200"/>
            <a:ext cx="11064240" cy="18288"/>
          </a:xfrm>
          <a:prstGeom prst="rect">
            <a:avLst/>
          </a:prstGeom>
          <a:solidFill>
            <a:srgbClr val="E3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6B8C"/>
                </a:solidFill>
                <a:latin typeface="Calibri"/>
                <a:ea typeface="맑은 고딕"/>
              </a:rPr>
              <a:t>이 시기를 억지로 채우려 하지 않는 것이 오히려 전략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2학년 — 전공 기초 + 코딩 습관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가장 중요한 기반을 만드는 시기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088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전공 기초 탄탄히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자료구조 · 알고리즘 · 이산수학 · 객체지향프로그래밍 — 개념을 코드로 짤 수 있는지가 핵심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804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644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코딩테스트 입문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118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백준 · 프로그래머스로 매주 꾸준히 (Bronze → Silver). 3~4학년에 몰아서 하면 늦음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520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6360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동아리 · 깃허브 습관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8348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알고리즘 스터디 등 동료 만들기 + 작은 프로젝트라도 깃허브에 커밋하는 습관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3학년 — 심화 + 분야 결정 + 인턴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가장 바쁘고 가장 중요한 학년 (인턴십 목록 9p 참고)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3741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전공 심화 + 분야 1개 특화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운영체제 · 네트워크 · DB · 소프트웨어공학 + 백엔드/AI데이터/보안/클라우드 중 방향 설정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6611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215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자격증 1~2개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268979"/>
            <a:ext cx="100584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정보처리기사, SQLD, AWS 자격증 중 선택 — 분야별 상세는 11~14p 참고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19480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502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방학 인턴십 적극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97680"/>
            <a:ext cx="100584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3학년 인턴 경험이 4학년 취업 성패를 가르는 경우가 많음. 광탈해도 계속 지원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22350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9789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포트폴리오 프로젝트 착수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326380"/>
            <a:ext cx="100584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배포까지 완료한 프로젝트 1개 — 자격증보다 채용에 직접적 영향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4학년 1학기 — 포트폴리오 완성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채용연계형 인턴 총력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088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캡스톤 디자인 = 포트폴리오 핵심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학점용이 아니라 이력서에 바로 쓸 수 있는 완성도로 마무리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804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644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코딩테스트 심화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118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대기업 공채 기출 수준(삼성 SW역량테스트, 카카오/네이버 코테)까지 끌어올리기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520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6360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채용연계형 인턴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8348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이 시기 인턴 경험이 하반기 공채에 결정적으로 유리하게 작용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STAGE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4학년 2학기 — 본격 취업 시즌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실전 지원 · 최종 정리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3088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8928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자소서 · 이력서 · 포트폴리오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프로젝트 경험을 숫자와 결과로 설명할 수 있게 정리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804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26440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기술면접 준비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611879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CS 전공 지식 + 프로젝트 경험을 논리적으로 설명하는 연습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505205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636007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  <a:ea typeface="맑은 고딕"/>
              </a:rPr>
              <a:t>하반기 공채 · 상시채용 총력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8348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인턴 경험이 있다면 전환형 채용부터 우선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INTERNSHIP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인턴십 · 채용연계 교육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3학년부터 방학마다 지원 대상으로 체크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4727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/>
                <a:gridCol w="1737360"/>
                <a:gridCol w="1965960"/>
                <a:gridCol w="4919472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프로그램 (클릭 시 이동)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유형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시기(예시)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특징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2"/>
                        </a:rPr>
                        <a:t>삼성전자 DS/DX 대학생 인턴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체험형 인턴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지원 3~4월 · 실습 7~8월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계열사 실무 체험, 직무적성검사(GSAT)+면접 절차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3"/>
                        </a:rPr>
                        <a:t>SSAFY (삼성청년SW·AI아카데미)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교육형(취업연계)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연 2회 모집(상/하반기)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1년 무료 SW교육, 협력사 채용 연계 다수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4"/>
                        </a:rPr>
                        <a:t>네이버 부스트캠프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교육형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연 1~2회 기수 모집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웹/AI 트랙, 실무형 프로젝트 중심 무료 교육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5"/>
                        </a:rPr>
                        <a:t>카카오테크 부트캠프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교육형(취업연계)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연 1~2회 모집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국비지원, 카카오 계열 채용 연계 프로그램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6"/>
                        </a:rPr>
                        <a:t>우아한테크코스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교육형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연 1회(하반기 모집)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5주 프리코스 + 10개월 정규과정, 배민 실무 학습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7"/>
                        </a:rPr>
                        <a:t>SW마에스트로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정부지원 최상급 교육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연 1회(상반기 모집)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과기정통부 주관, 최정예 개발자 양성 · 우수 스타트업 연계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15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8"/>
                        </a:rPr>
                        <a:t>42Seoul (이노베이션아카데미)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무료 교육(비학위)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상시 모집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학벌 무관, 동료학습 기반 프로젝트형 코딩 교육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B8C"/>
                </a:solidFill>
                <a:latin typeface="Calibri"/>
                <a:ea typeface="맑은 고딕"/>
              </a:rPr>
              <a:t>모집 시기는 매년 변동 — 지원 학기 초 공식 홈페이지에서 최신 일정 확인 필수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인턴 · 채용 정보 사이트 모음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사이트명을 클릭하면 바로 이동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11091672" cy="4700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83484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사이트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용도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2"/>
                        </a:rPr>
                        <a:t>사람인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신입 · 인턴 채용 통합 검색, 국내 최대 채용 포털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3"/>
                        </a:rPr>
                        <a:t>잡코리아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신입 · 인턴 채용 통합 검색, 대기업·중견기업 다수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4"/>
                        </a:rPr>
                        <a:t>원티드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IT · 스타트업 특화, 예상 연봉 정보 공개 채용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5"/>
                        </a:rPr>
                        <a:t>링커리어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대학생 인턴 · 공모전 · 대외활동 특화 플랫폼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6"/>
                        </a:rPr>
                        <a:t>프로그래머스 스쿨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코딩테스트 연습 + 기업 채용 연계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7"/>
                        </a:rPr>
                        <a:t>캠퍼스픽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대학생 대외활동 · 인턴 정보 모음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8"/>
                        </a:rPr>
                        <a:t>잡플래닛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기업 리뷰 · 실제 연봉 정보 확인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300" b="1" u="sng">
                          <a:solidFill>
                            <a:srgbClr val="1155CC"/>
                          </a:solidFill>
                          <a:latin typeface="Calibri"/>
                          <a:ea typeface="맑은 고딕"/>
                          <a:hlinkClick r:id="rId9"/>
                        </a:rPr>
                        <a:t>로켓펀치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스타트업 채용 정보 특화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FIELD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백엔드 개발자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가장 견고한 채용 축 — 자격증보다 실무 역량이 핵심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4890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9125712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내용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자격증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정보처리기사, SQLD (필수는 아니지만 서류 가산점)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필요 역량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Java/Spring 또는 Node.js/Python, RDB·NoSQL, REST API 설계, Git 협업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취업 시 필요한 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코딩테스트 통과 실력, 배포까지 완료한 프로젝트, 기술면접 대응력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대표 기업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네이버, 카카오, 쿠팡, 우아한형제들(배민), 토스, 라인, 당근마켓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신입 초봉 수준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4,500만원 ~ 6,500만원 (스타트업~대기업, 기업별 편차 큼)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113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선호 학력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학사면 충분 — 대학원 불필요, 실무 역량이 학력보다 중요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FIELD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AI ·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생성형 AI 붐으로 신입 공고 5년간 +162% 증가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4890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9125712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내용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자격증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ADsP(데이터분석 준전문가), 빅데이터분석기사, SQLD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필요 역량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Python, PyTorch/TensorFlow, LLM · RAG 활용 경험, 통계 · 수학 기초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취업 시 필요한 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캐글 · 논문 · 프로젝트 등 정량적 성과물, 생성형 AI 최신 트렌드 이해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대표 기업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네이버, 카카오, 업스테이지, 뤼튼테크놀로지스, LG AI연구원, 삼성SDS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신입 초봉 수준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ML엔지니어 약 4,500~6,500만원 / 데이터사이언티스트 약 3,300~4,500만원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113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선호 학력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학사도 가능하나 R&amp;D·연구 직무는 석사 이상 우대 비중이 높음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FIELD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정보보안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장기 성장률 +28.5% 전망 — 보안 인력 부족 지속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4890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9125712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내용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자격증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정보보안기사 · 산업기사, CPPG, (경력 후) CISSP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필요 역량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네트워크 · 시스템 보안, 모의해킹, Splunk 등 SIEM(관제) 툴 활용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취업 시 필요한 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CTF 참가 경험, 보안 프로젝트 · 동아리 활동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대표 기업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안랩, 이스트시큐리티, SK쉴더스, 금융권 보안팀, 공공 · 국방 보안기관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신입 초봉 수준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4,000만원 ~ 5,000만원대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113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선호 학력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학사면 충분 — 자격증 · 실무 경험이 학력보다 중요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FIELD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클라우드 · 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클라우드 전환 지속으로 안정적 수요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11091672" cy="48907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9125712"/>
              </a:tblGrid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구분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내용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자격증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AWS SAA/DevOps, CKA(쿠버네티스), Azure · GCP 자격증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필요 역량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Docker · Kubernetes, CI/CD 파이프라인, Terraform 등 IaC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취업 시 필요한 것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배포 자동화 구축 경험, 인프라 프로젝트 포트폴리오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대표 기업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네이버클라우드, NHN클라우드, 카카오엔터프라이즈, 메가존클라우드, 베스핀글로벌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신입 초봉 수준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4,000만원 ~ 5,500만원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1134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선호 학력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학사면 충분 — 자격증 · 실습 경험 위주로 평가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mbria"/>
                <a:ea typeface="맑은 고딕"/>
              </a:rPr>
              <a:t>2026년 기준 유망 분야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9FB2E0"/>
                </a:solidFill>
                <a:latin typeface="Calibri"/>
                <a:ea typeface="맑은 고딕"/>
              </a:rPr>
              <a:t>채용 데이터가 가리키는 견고한 수요처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2514600" cy="2743200"/>
          </a:xfrm>
          <a:prstGeom prst="roundRect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F2A900"/>
                </a:solidFill>
                <a:latin typeface="Cambria"/>
                <a:ea typeface="맑은 고딕"/>
              </a:rPr>
              <a:t>1위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6207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AI 엔지니어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92424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  <a:ea typeface="맑은 고딕"/>
              </a:rPr>
              <a:t>2026년 유망 직종 1순위, 전 산업으로 수요 확대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783080"/>
            <a:ext cx="2514600" cy="2743200"/>
          </a:xfrm>
          <a:prstGeom prst="roundRect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20574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F2A900"/>
                </a:solidFill>
                <a:latin typeface="Cambria"/>
                <a:ea typeface="맑은 고딕"/>
              </a:rPr>
              <a:t>+33.5%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79" y="286207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데이터 사이언티스트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392424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  <a:ea typeface="맑은 고딕"/>
              </a:rPr>
              <a:t>장기 성장률 전망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783080"/>
            <a:ext cx="2514600" cy="2743200"/>
          </a:xfrm>
          <a:prstGeom prst="roundRect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F2A900"/>
                </a:solidFill>
                <a:latin typeface="Cambria"/>
                <a:ea typeface="맑은 고딕"/>
              </a:rPr>
              <a:t>+28.5%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6207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정보보안 분석가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92424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  <a:ea typeface="맑은 고딕"/>
              </a:rPr>
              <a:t>보안 인력 부족 지속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783080"/>
            <a:ext cx="2514600" cy="2743200"/>
          </a:xfrm>
          <a:prstGeom prst="roundRect">
            <a:avLst/>
          </a:prstGeom>
          <a:solidFill>
            <a:srgbClr val="24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057400"/>
            <a:ext cx="2240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500" b="1" i="0">
                <a:solidFill>
                  <a:srgbClr val="F2A900"/>
                </a:solidFill>
                <a:latin typeface="Cambria"/>
                <a:ea typeface="맑은 고딕"/>
              </a:rPr>
              <a:t>수요 1위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862072"/>
            <a:ext cx="2240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  <a:ea typeface="맑은 고딕"/>
              </a:rPr>
              <a:t>백엔드 · 풀스택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392424"/>
            <a:ext cx="21488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0" i="0">
                <a:solidFill>
                  <a:srgbClr val="CADCFC"/>
                </a:solidFill>
                <a:latin typeface="Calibri"/>
                <a:ea typeface="맑은 고딕"/>
              </a:rPr>
              <a:t>AI 다음으로 가장 견고한 채용 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9FB2E0"/>
                </a:solidFill>
                <a:latin typeface="Calibri"/>
                <a:ea typeface="맑은 고딕"/>
              </a:rPr>
              <a:t>핵심 역량 변화: 단순 코딩 능력 → AI 리터러시 · 데이터 이해력 · 문제 정의 능력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8494C4"/>
                </a:solidFill>
                <a:latin typeface="Calibri"/>
                <a:ea typeface="맑은 고딕"/>
              </a:rPr>
              <a:t>2025~2026년 채용공고 절반 이상에 'LLM 경험', 'RAG 구축', 'GenAI 활용' 문구 포함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Calibri"/>
                <a:ea typeface="맑은 고딕"/>
              </a:rPr>
              <a:t>SALARY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1E2761"/>
                </a:solidFill>
                <a:latin typeface="Cambria"/>
                <a:ea typeface="맑은 고딕"/>
              </a:rPr>
              <a:t>대기업 신입 초봉 스냅샷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5A6B8C"/>
                </a:solidFill>
                <a:latin typeface="Calibri"/>
                <a:ea typeface="맑은 고딕"/>
              </a:rPr>
              <a:t>2025~2026 시장 조사 기준 — 성과급 포함 추정치, 참고용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91672" cy="3858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3291840"/>
                <a:gridCol w="478231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기업 · 그룹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신입 초봉 (약)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  <a:ea typeface="맑은 고딕"/>
                        </a:rPr>
                        <a:t>비고</a:t>
                      </a:r>
                    </a:p>
                  </a:txBody>
                  <a:tcPr marL="109728" marR="109728" marT="54864" marB="54864" anchor="ctr"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SK하이닉스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1억원 이상 (성과급 포함)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반도체 특수 케이스, 업계 최고 수준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삼성전자 DS/DX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6,000만원 ~ 9,000만원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성과급(OPI) 비중이 큼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SK텔레콤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8,000만원대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통신 대기업 상위권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네이버 · 카카오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5,000만원 ~ 6,000만원대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IT 플랫폼 대표 기업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쿠팡 · 토스 등 유니콘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6,500만원 ~ 9,000만원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스톡옵션 포함 시 1억원 이상 사례도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E2761"/>
                          </a:solidFill>
                          <a:latin typeface="Calibri"/>
                          <a:ea typeface="맑은 고딕"/>
                        </a:rPr>
                        <a:t>중견 · 스타트업 평균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약 3,500만원 ~ 4,500만원대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A6B8C"/>
                          </a:solidFill>
                          <a:latin typeface="Calibri"/>
                          <a:ea typeface="맑은 고딕"/>
                        </a:rPr>
                        <a:t>기업 규모 · 투자단계에 따라 편차 큼</a:t>
                      </a:r>
                    </a:p>
                  </a:txBody>
                  <a:tcPr marL="109728" marR="109728" marT="54864" marB="54864" anchor="ctr">
                    <a:solidFill>
                      <a:srgbClr val="EEF2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5A6B8C"/>
                </a:solidFill>
                <a:latin typeface="Calibri"/>
                <a:ea typeface="맑은 고딕"/>
              </a:rPr>
              <a:t>실제 금액은 기업 · 직무 · 성과급 정책에 따라 크게 달라짐 — 채용 시 잡플래닛 등에서 최신 정보 재확인 권장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mbria"/>
                <a:ea typeface="맑은 고딕"/>
              </a:rPr>
              <a:t>종합 우선순위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A6B8C"/>
                </a:solidFill>
                <a:latin typeface="Calibri"/>
                <a:ea typeface="맑은 고딕"/>
              </a:rPr>
              <a:t>시간이 부족하면 이 순서대로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2763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Calibri"/>
                <a:ea typeface="맑은 고딕"/>
              </a:rPr>
              <a:t>코딩테스트 실력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0253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가장 오래 걸리고 가장 확실한 무기. 2학년부터 꾸준히 누적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587751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Calibri"/>
                <a:ea typeface="맑은 고딕"/>
              </a:rPr>
              <a:t>포트폴리오 프로젝트 1~2개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96265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자격증보다 채용에 직접적 영향 — 배포까지 완료한 경험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49039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4787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Calibri"/>
                <a:ea typeface="맑은 고딕"/>
              </a:rPr>
              <a:t>인턴십 경험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2277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3학년 방학부터 반복 지원. 붙기 전까지 광탈은 정상 과정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091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50799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Calibri"/>
                <a:ea typeface="맑은 고딕"/>
              </a:rPr>
              <a:t>자격증 (분야별 상세 11~14p)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8289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필수는 아니지만 있으면 서류에서 마이너스 없음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692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  <a:ea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4681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Calibri"/>
                <a:ea typeface="맑은 고딕"/>
              </a:rPr>
              <a:t>CS 전공 지식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843016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5A6B8C"/>
                </a:solidFill>
                <a:latin typeface="Calibri"/>
                <a:ea typeface="맑은 고딕"/>
              </a:rPr>
              <a:t>코딩테스트 + 기술면접 모두에 직결 — 수업 자체가 준비 과정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
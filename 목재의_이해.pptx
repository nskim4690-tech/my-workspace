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2468879"/>
            <a:ext cx="6583680" cy="65836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2926079"/>
            <a:ext cx="5669280" cy="56692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3383279"/>
            <a:ext cx="4754880" cy="47548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3840479"/>
            <a:ext cx="3840480" cy="38404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0" y="4297679"/>
            <a:ext cx="2926080" cy="29260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0" y="4754879"/>
            <a:ext cx="2011680" cy="2011680"/>
          </a:xfrm>
          <a:prstGeom prst="ellipse">
            <a:avLst/>
          </a:prstGeom>
          <a:noFill/>
          <a:ln w="19050">
            <a:solidFill>
              <a:srgbClr val="6E5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0" y="5212079"/>
            <a:ext cx="1097280" cy="1097280"/>
          </a:xfrm>
          <a:prstGeom prst="ellipse">
            <a:avLst/>
          </a:prstGeom>
          <a:noFill/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97312" y="5650992"/>
            <a:ext cx="219456" cy="219456"/>
          </a:xfrm>
          <a:prstGeom prst="ellipse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57200"/>
            <a:ext cx="12801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4400" b="0" i="0">
                <a:solidFill>
                  <a:srgbClr val="2A1D16"/>
                </a:solidFill>
                <a:latin typeface="Calibri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8778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5400" b="1" i="0">
                <a:solidFill>
                  <a:srgbClr val="FBF6EC"/>
                </a:solidFill>
                <a:latin typeface="Cambria"/>
              </a:rPr>
              <a:t>목재의 이해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37560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800" b="0" i="0">
                <a:solidFill>
                  <a:srgbClr val="D9BC94"/>
                </a:solidFill>
                <a:latin typeface="Calibri"/>
              </a:rPr>
              <a:t>나무에서 목재로 — 구조와 성질, 수분, 건조, 가공까지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0" i="0">
                <a:solidFill>
                  <a:srgbClr val="8D6E4B"/>
                </a:solidFill>
                <a:latin typeface="Calibri"/>
              </a:rPr>
              <a:t>중학교 과학·기술 눈높이 자료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목차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600200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목재란 무엇인가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41448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2441448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441448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441448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나무의 구조 — 수관·수간·뿌리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282696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3282696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03</a:t>
            </a:r>
          </a:p>
        </p:txBody>
      </p:sp>
      <p:sp>
        <p:nvSpPr>
          <p:cNvPr id="14" name="Oval 13"/>
          <p:cNvSpPr/>
          <p:nvPr/>
        </p:nvSpPr>
        <p:spPr>
          <a:xfrm>
            <a:off x="1316736" y="3438144"/>
            <a:ext cx="384048" cy="384048"/>
          </a:xfrm>
          <a:prstGeom prst="ellipse">
            <a:avLst/>
          </a:prstGeom>
          <a:noFill/>
          <a:ln w="1651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3545" y="3514953"/>
            <a:ext cx="230428" cy="230428"/>
          </a:xfrm>
          <a:prstGeom prst="ellipse">
            <a:avLst/>
          </a:prstGeom>
          <a:noFill/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54993" y="3576401"/>
            <a:ext cx="107533" cy="107533"/>
          </a:xfrm>
          <a:prstGeom prst="ellipse">
            <a:avLst/>
          </a:prstGeom>
          <a:noFill/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89557" y="3610965"/>
            <a:ext cx="38404" cy="38404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3282696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수간의 단면 구조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123944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4123944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123944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123944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침엽수와 활엽수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65192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965192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965192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965192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목재의 밀도와 비중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97879" y="1600200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1" y="1600200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19" y="1600200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79" y="1600200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목재와 수분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97879" y="2441448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62471" y="2441448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19" y="2441448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79" y="2441448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목재의 치수 변화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97879" y="3282696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62471" y="3282696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19" y="3282696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79" y="3282696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치수 변화 대처법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897879" y="4123944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62471" y="4123944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19" y="4123944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69479" y="4123944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 건조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97879" y="4965192"/>
            <a:ext cx="5120640" cy="694944"/>
          </a:xfrm>
          <a:prstGeom prst="roundRect">
            <a:avLst>
              <a:gd name="adj" fmla="val 14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62471" y="4965192"/>
            <a:ext cx="64008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2200" b="1" i="0">
                <a:solidFill>
                  <a:srgbClr val="8D6E4B"/>
                </a:solidFill>
                <a:latin typeface="Cambria"/>
              </a:rPr>
              <a:t>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19" y="4965192"/>
            <a:ext cx="548640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79" y="4965192"/>
            <a:ext cx="3611879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 절삭과 휨가공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01  목재의 식물학적 기원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목재란 무엇인가?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12064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목재는 살아 있는 나무의 줄기(수간)를 이루는 세포 조직이에요.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나무는 뿌리에서 물과 양분을 빨아올리고, 잎에서 햇빛과 이산화탄소로 광합성을 하여 스스로 몸을 만드는 세포(목질부)를 조금씩 쌓아 올려요.</a:t>
            </a:r>
          </a:p>
          <a:p>
            <a:pPr algn="l">
              <a:lnSpc>
                <a:spcPct val="130000"/>
              </a:lnSpc>
              <a:spcAft>
                <a:spcPts val="1200"/>
              </a:spcAft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그래서 목재 한 조각에는 그 나무가 살아온 시간과 환경이 그대로 기록되어 있어요.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55448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59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나무가 자라는 원리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23317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400" b="0" i="0">
                <a:solidFill>
                  <a:srgbClr val="2A1D16"/>
                </a:solidFill>
                <a:latin typeface="Calibri"/>
              </a:rPr>
              <a:t>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233172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햇빛</a:t>
            </a:r>
          </a:p>
        </p:txBody>
      </p:sp>
      <p:sp>
        <p:nvSpPr>
          <p:cNvPr id="10" name="Oval 9"/>
          <p:cNvSpPr/>
          <p:nvPr/>
        </p:nvSpPr>
        <p:spPr>
          <a:xfrm>
            <a:off x="6400800" y="32461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461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400" b="0" i="0">
                <a:solidFill>
                  <a:srgbClr val="2A1D16"/>
                </a:solidFill>
                <a:latin typeface="Calibri"/>
              </a:rPr>
              <a:t>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324612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이산화탄소</a:t>
            </a:r>
          </a:p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(잎에서 흡수)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4160520"/>
            <a:ext cx="731520" cy="7315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416052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4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4160520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물·양분</a:t>
            </a:r>
          </a:p>
          <a:p>
            <a:pPr algn="l"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(뿌리에서 흡수)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281159" y="3291839"/>
            <a:ext cx="822960" cy="548640"/>
          </a:xfrm>
          <a:prstGeom prst="rightArrow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195559" y="2971800"/>
            <a:ext cx="1234440" cy="1188720"/>
          </a:xfrm>
          <a:prstGeom prst="roundRect">
            <a:avLst>
              <a:gd name="adj" fmla="val 12000"/>
            </a:avLst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95559" y="3017520"/>
            <a:ext cx="1234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2600" b="0" i="0">
                <a:solidFill>
                  <a:srgbClr val="2A1D16"/>
                </a:solidFill>
                <a:latin typeface="Calibri"/>
              </a:rPr>
              <a:t>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59" y="3611880"/>
            <a:ext cx="1234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목질 세포</a:t>
            </a:r>
          </a:p>
          <a:p>
            <a:pPr algn="ctr">
              <a:buNone/>
            </a:pPr>
            <a:r>
              <a:rPr sz="1050" b="1" i="0">
                <a:solidFill>
                  <a:srgbClr val="FFFFFF"/>
                </a:solidFill>
                <a:latin typeface="Calibri"/>
              </a:rPr>
              <a:t>생성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212080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0" i="1">
                <a:solidFill>
                  <a:srgbClr val="8D6E4B"/>
                </a:solidFill>
                <a:latin typeface="Calibri"/>
              </a:rPr>
              <a:t>→ 이렇게 만들어진 세포가 매년 켜켜이 쌓여 '나이테'가 되고, 나무의 몸통(목재)을 이룹니다.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02  목재의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나무의 구조 — 수관 · 수간 · 뿌리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17320"/>
            <a:ext cx="3474720" cy="182880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051560"/>
            <a:ext cx="2011680" cy="1371600"/>
          </a:xfrm>
          <a:prstGeom prst="ellipse">
            <a:avLst/>
          </a:prstGeom>
          <a:solidFill>
            <a:srgbClr val="82A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94560" y="1554480"/>
            <a:ext cx="1737360" cy="1188720"/>
          </a:xfrm>
          <a:prstGeom prst="ellipse">
            <a:avLst/>
          </a:prstGeom>
          <a:solidFill>
            <a:srgbClr val="82AF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057400" y="3063240"/>
            <a:ext cx="640080" cy="1965960"/>
          </a:xfrm>
          <a:prstGeom prst="rect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H="1">
            <a:off x="1253891" y="5029200"/>
            <a:ext cx="1123549" cy="78671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1691640" y="5029200"/>
            <a:ext cx="685800" cy="118784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139264" y="5029200"/>
            <a:ext cx="238176" cy="1350762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77440" y="5029200"/>
            <a:ext cx="238175" cy="1350762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377440" y="5029200"/>
            <a:ext cx="685800" cy="118784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377440" y="5029200"/>
            <a:ext cx="1123548" cy="78671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2240280" y="4892040"/>
            <a:ext cx="274320" cy="27432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457200" y="5029200"/>
            <a:ext cx="3840480" cy="0"/>
          </a:xfrm>
          <a:prstGeom prst="line">
            <a:avLst/>
          </a:prstGeom>
          <a:ln w="1905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377440" y="1737360"/>
            <a:ext cx="2286000" cy="0"/>
          </a:xfrm>
          <a:prstGeom prst="line">
            <a:avLst/>
          </a:prstGeom>
          <a:ln w="12700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2340864" y="1700784"/>
            <a:ext cx="73152" cy="73152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880360" y="3931920"/>
            <a:ext cx="1783080" cy="0"/>
          </a:xfrm>
          <a:prstGeom prst="line">
            <a:avLst/>
          </a:prstGeom>
          <a:ln w="12700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2843784" y="3895344"/>
            <a:ext cx="73152" cy="73152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2377440" y="5394960"/>
            <a:ext cx="2286000" cy="411480"/>
          </a:xfrm>
          <a:prstGeom prst="line">
            <a:avLst/>
          </a:prstGeom>
          <a:ln w="12700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340864" y="5358384"/>
            <a:ext cx="73152" cy="73152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663440" y="1417320"/>
            <a:ext cx="6675120" cy="14173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152704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45601F"/>
                </a:solidFill>
                <a:latin typeface="Cambria"/>
              </a:rPr>
              <a:t>수관 (樹冠)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1920240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2A1D16"/>
                </a:solidFill>
                <a:latin typeface="Calibri"/>
              </a:rPr>
              <a:t>가지와 잎이 모여있는 나무의 윗부분. 햇빛을 받아 광합성을 해요.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246120"/>
            <a:ext cx="6675120" cy="14173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37760" y="335584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8D6E4B"/>
                </a:solidFill>
                <a:latin typeface="Cambria"/>
              </a:rPr>
              <a:t>수간 (樹幹)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3749039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2A1D16"/>
                </a:solidFill>
                <a:latin typeface="Calibri"/>
              </a:rPr>
              <a:t>줄기, 즉 우리가 '목재'로 사용하는 부분. 물과 양분의 통로이자 몸을 지탱해요.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5212080"/>
            <a:ext cx="6675120" cy="14173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5321808"/>
            <a:ext cx="6217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8D6E4B"/>
                </a:solidFill>
                <a:latin typeface="Cambria"/>
              </a:rPr>
              <a:t>뿌리 (根)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715000"/>
            <a:ext cx="6217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2A1D16"/>
                </a:solidFill>
                <a:latin typeface="Calibri"/>
              </a:rPr>
              <a:t>땅속에서 물과 무기양분을 흡수하고, 나무를 지면에 고정시켜요.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03  목재의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수간의 단면 구조 — 나이테 들여다보기</a:t>
            </a:r>
          </a:p>
        </p:txBody>
      </p:sp>
      <p:sp>
        <p:nvSpPr>
          <p:cNvPr id="4" name="Oval 3"/>
          <p:cNvSpPr/>
          <p:nvPr/>
        </p:nvSpPr>
        <p:spPr>
          <a:xfrm>
            <a:off x="1188720" y="1828800"/>
            <a:ext cx="4206240" cy="4206240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53312" y="1993391"/>
            <a:ext cx="3877056" cy="3877056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08760" y="2148839"/>
            <a:ext cx="3566160" cy="3566160"/>
          </a:xfrm>
          <a:prstGeom prst="ellipse">
            <a:avLst/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00200" y="2240279"/>
            <a:ext cx="3383280" cy="3383280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55648" y="2395727"/>
            <a:ext cx="3072384" cy="3072384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911095" y="2551175"/>
            <a:ext cx="2761488" cy="2761488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066543" y="2706623"/>
            <a:ext cx="2450592" cy="2450592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21991" y="2862071"/>
            <a:ext cx="2139696" cy="2139696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77439" y="3017519"/>
            <a:ext cx="1828800" cy="1828800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32887" y="3172967"/>
            <a:ext cx="1517904" cy="1517904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88335" y="3328415"/>
            <a:ext cx="1207008" cy="1207008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843784" y="3483863"/>
            <a:ext cx="896112" cy="896112"/>
          </a:xfrm>
          <a:prstGeom prst="ellipse">
            <a:avLst/>
          </a:prstGeom>
          <a:noFill/>
          <a:ln w="9525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103120" y="2743200"/>
            <a:ext cx="2377440" cy="2377440"/>
          </a:xfrm>
          <a:prstGeom prst="ellipse">
            <a:avLst/>
          </a:prstGeom>
          <a:solidFill>
            <a:srgbClr val="B893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194560" y="2834639"/>
            <a:ext cx="2194560" cy="2194560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350008" y="2990087"/>
            <a:ext cx="1883664" cy="1883664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505456" y="3145536"/>
            <a:ext cx="1572768" cy="1572768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660904" y="3300984"/>
            <a:ext cx="1261872" cy="1261872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16352" y="3456432"/>
            <a:ext cx="950975" cy="950975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71800" y="3611880"/>
            <a:ext cx="640079" cy="640079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127248" y="3767328"/>
            <a:ext cx="329183" cy="329183"/>
          </a:xfrm>
          <a:prstGeom prst="ellipse">
            <a:avLst/>
          </a:prstGeom>
          <a:noFill/>
          <a:ln w="9525">
            <a:solidFill>
              <a:srgbClr val="9C76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218688" y="3858768"/>
            <a:ext cx="146304" cy="146304"/>
          </a:xfrm>
          <a:prstGeom prst="ellipse">
            <a:avLst/>
          </a:prstGeom>
          <a:solidFill>
            <a:srgbClr val="4A37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00800" y="1444752"/>
            <a:ext cx="201168" cy="201168"/>
          </a:xfrm>
          <a:prstGeom prst="ellipse">
            <a:avLst/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32588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수피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164592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바깥쪽 껍질. 나무를 보호해요.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0" y="2340864"/>
            <a:ext cx="201168" cy="201168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222199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형성층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254203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세포가 새로 만들어지는 얇은 층.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3236976"/>
            <a:ext cx="201168" cy="201168"/>
          </a:xfrm>
          <a:prstGeom prst="ellipse">
            <a:avLst/>
          </a:prstGeom>
          <a:solidFill>
            <a:srgbClr val="C9A6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0" y="311810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변재 (백태)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343814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최근에 만들어진 부분. 물이 이동하며 색이 연해요.</a:t>
            </a:r>
          </a:p>
        </p:txBody>
      </p:sp>
      <p:sp>
        <p:nvSpPr>
          <p:cNvPr id="34" name="Oval 33"/>
          <p:cNvSpPr/>
          <p:nvPr/>
        </p:nvSpPr>
        <p:spPr>
          <a:xfrm>
            <a:off x="6400800" y="4133087"/>
            <a:ext cx="201168" cy="201168"/>
          </a:xfrm>
          <a:prstGeom prst="ellipse">
            <a:avLst/>
          </a:prstGeom>
          <a:solidFill>
            <a:srgbClr val="9C76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4014215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심재 (속재)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4334255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오래되어 색이 짙고 단단한 중심부. 강도가 높아요.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0" y="5029200"/>
            <a:ext cx="201168" cy="201168"/>
          </a:xfrm>
          <a:prstGeom prst="ellipse">
            <a:avLst/>
          </a:prstGeom>
          <a:solidFill>
            <a:srgbClr val="B995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66560" y="491032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나이테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52303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봄·여름과 가을·겨울 생장 속도 차이로 생기는 무늬. 나무의 나이를 알려줘요.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04  목재의 분류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침엽수와 활엽수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5257800" cy="42976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" y="1920240"/>
            <a:ext cx="914400" cy="914400"/>
          </a:xfrm>
          <a:prstGeom prst="ellips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3400" b="0" i="0">
                <a:solidFill>
                  <a:srgbClr val="2A1D16"/>
                </a:solidFill>
                <a:latin typeface="Calibri"/>
              </a:rPr>
              <a:t>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3611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45601F"/>
                </a:solidFill>
                <a:latin typeface="Cambria"/>
              </a:rPr>
              <a:t>침엽수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7A6A5A"/>
                </a:solidFill>
                <a:latin typeface="Calibri"/>
              </a:rPr>
              <a:t>바늘잎나무 · 소프트우드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452628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잎이 바늘처럼 뾰족해요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줄기가 곧고 높이 자라요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조직이 단순하고 가벼워요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예: 소나무, 잣나무, 전나무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45601F"/>
                </a:solidFill>
                <a:latin typeface="Calibri"/>
              </a:rPr>
              <a:t>→ 건축재, 종이 펄프에 많이 사용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600200"/>
            <a:ext cx="5257800" cy="429768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55079" y="1920240"/>
            <a:ext cx="914400" cy="91440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79" y="1920240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3400" b="0" i="0">
                <a:solidFill>
                  <a:srgbClr val="2A1D16"/>
                </a:solidFill>
                <a:latin typeface="Calibri"/>
              </a:rPr>
              <a:t>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920240"/>
            <a:ext cx="36118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2400" b="1" i="0">
                <a:solidFill>
                  <a:srgbClr val="8D6E4B"/>
                </a:solidFill>
                <a:latin typeface="Cambria"/>
              </a:rPr>
              <a:t>활엽수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42316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7A6A5A"/>
                </a:solidFill>
                <a:latin typeface="Calibri"/>
              </a:rPr>
              <a:t>넓은잎나무 · 하드우드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4526280" cy="2560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잎이 넓고 평평해요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가지가 옆으로 넓게 퍼져요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조직이 치밀하고 단단해요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400" b="0">
                <a:solidFill>
                  <a:srgbClr val="2A1D16"/>
                </a:solidFill>
                <a:latin typeface="Calibri"/>
              </a:rPr>
              <a:t>예: 참나무, 단풍나무, 자작나무</a:t>
            </a:r>
          </a:p>
          <a:p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00" b="1">
                <a:solidFill>
                  <a:srgbClr val="8D6E4B"/>
                </a:solidFill>
                <a:latin typeface="Calibri"/>
              </a:rPr>
              <a:t>→ 가구, 마루판에 많이 사용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05  목재의 밀도와 비중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목재의 밀도와 비중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1206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200"/>
              </a:spcAft>
              <a:buNone/>
            </a:pPr>
            <a:r>
              <a:rPr sz="1450" b="1" i="0">
                <a:solidFill>
                  <a:srgbClr val="45601F"/>
                </a:solidFill>
                <a:latin typeface="Calibri"/>
              </a:rPr>
              <a:t>밀도</a:t>
            </a:r>
            <a:r>
              <a:rPr sz="1450" b="0" i="0">
                <a:solidFill>
                  <a:srgbClr val="2A1D16"/>
                </a:solidFill>
                <a:latin typeface="Calibri"/>
              </a:rPr>
              <a:t>란 같은 부피에 들어있는 무게예요. (밀도 = 질량 ÷ 부피)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buNone/>
            </a:pPr>
            <a:r>
              <a:rPr sz="1450" b="1" i="0">
                <a:solidFill>
                  <a:srgbClr val="45601F"/>
                </a:solidFill>
                <a:latin typeface="Calibri"/>
              </a:rPr>
              <a:t>비중</a:t>
            </a:r>
            <a:r>
              <a:rPr sz="1450" b="0" i="0">
                <a:solidFill>
                  <a:srgbClr val="2A1D16"/>
                </a:solidFill>
                <a:latin typeface="Calibri"/>
              </a:rPr>
              <a:t>은 목재의 밀도를 물의 밀도와 비교한 값이에요. 비중이 1보다 작으면 물에 뜨고, 크면 가라앉아요.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buNone/>
            </a:pPr>
            <a:r>
              <a:rPr sz="1450" b="0" i="0">
                <a:solidFill>
                  <a:srgbClr val="2A1D16"/>
                </a:solidFill>
                <a:latin typeface="Calibri"/>
              </a:rPr>
              <a:t>같은 나무 종류라도 심재·변재, 자란 속도에 따라 밀도가 달라질 수 있어요.</a:t>
            </a:r>
          </a:p>
          <a:p>
            <a:pPr algn="l">
              <a:lnSpc>
                <a:spcPct val="125000"/>
              </a:lnSpc>
              <a:spcAft>
                <a:spcPts val="1200"/>
              </a:spcAft>
              <a:buNone/>
            </a:pPr>
            <a:r>
              <a:rPr sz="1450" b="0" i="0">
                <a:solidFill>
                  <a:srgbClr val="2A1D16"/>
                </a:solidFill>
                <a:latin typeface="Calibri"/>
              </a:rPr>
              <a:t>일반적으로 </a:t>
            </a:r>
            <a:r>
              <a:rPr sz="1450" b="1" i="0">
                <a:solidFill>
                  <a:srgbClr val="2A1D16"/>
                </a:solidFill>
                <a:latin typeface="Calibri"/>
              </a:rPr>
              <a:t>밀도가 높을수록 단단하고 강도가 높은</a:t>
            </a:r>
            <a:r>
              <a:rPr sz="1450" b="0" i="0">
                <a:solidFill>
                  <a:srgbClr val="2A1D16"/>
                </a:solidFill>
                <a:latin typeface="Calibri"/>
              </a:rPr>
              <a:t> 경향이 있어요.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55448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59" y="17373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나무마다 다른 '뜨는 정도'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331720"/>
            <a:ext cx="4937760" cy="2011680"/>
          </a:xfrm>
          <a:prstGeom prst="roundRect">
            <a:avLst>
              <a:gd name="adj" fmla="val 6000"/>
            </a:avLst>
          </a:prstGeom>
          <a:solidFill>
            <a:srgbClr val="CF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400800" y="2880360"/>
            <a:ext cx="4937760" cy="0"/>
          </a:xfrm>
          <a:prstGeom prst="line">
            <a:avLst/>
          </a:prstGeom>
          <a:ln w="19050">
            <a:solidFill>
              <a:srgbClr val="8FBEDD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10528" y="2386584"/>
            <a:ext cx="914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3E7CB1"/>
                </a:solidFill>
                <a:latin typeface="Calibri"/>
              </a:rPr>
              <a:t>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6570" y="242316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D9BC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9409" y="4453128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2A1D16"/>
                </a:solidFill>
                <a:latin typeface="Calibri"/>
              </a:rPr>
              <a:t>발사나무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9409" y="4700016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비중 약 0.15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43900" y="265176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6740" y="4453128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2A1D16"/>
                </a:solidFill>
                <a:latin typeface="Calibri"/>
              </a:rPr>
              <a:t>소나무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6740" y="4700016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비중 약 0.45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41230" y="2834640"/>
            <a:ext cx="1051560" cy="548640"/>
          </a:xfrm>
          <a:prstGeom prst="roundRect">
            <a:avLst>
              <a:gd name="adj" fmla="val 12000"/>
            </a:avLst>
          </a:prstGeom>
          <a:solidFill>
            <a:srgbClr val="6E5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04069" y="4453128"/>
            <a:ext cx="1325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2A1D16"/>
                </a:solidFill>
                <a:latin typeface="Calibri"/>
              </a:rPr>
              <a:t>참나무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4069" y="4700016"/>
            <a:ext cx="13258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비중 약 0.75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020056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0" i="1">
                <a:solidFill>
                  <a:srgbClr val="8D6E4B"/>
                </a:solidFill>
                <a:latin typeface="Calibri"/>
              </a:rPr>
              <a:t>※ 비중이 낮을수록(발사나무) 물 위로 많이 뜨고, 높을수록(참나무) 물에 깊이 잠겨요. (수치는 예시)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06  목재와 수분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목재와 수분 — 함수율 이야기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51206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목재는 스펀지처럼 물을 빨아들이고 내보내는 성질(흡습성)이 있어요.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  <a:buNone/>
            </a:pPr>
            <a:r>
              <a:rPr sz="1500" b="0" i="0">
                <a:solidFill>
                  <a:srgbClr val="2A1D16"/>
                </a:solidFill>
                <a:latin typeface="Calibri"/>
              </a:rPr>
              <a:t>목재 속 수분의 양을 </a:t>
            </a:r>
            <a:r>
              <a:rPr sz="1500" b="1" i="0">
                <a:solidFill>
                  <a:srgbClr val="45601F"/>
                </a:solidFill>
                <a:latin typeface="Calibri"/>
              </a:rPr>
              <a:t>함수율</a:t>
            </a:r>
            <a:r>
              <a:rPr sz="1500" b="0" i="0">
                <a:solidFill>
                  <a:srgbClr val="2A1D16"/>
                </a:solidFill>
                <a:latin typeface="Calibri"/>
              </a:rPr>
              <a:t>이라고 해요.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926080"/>
            <a:ext cx="5120640" cy="31089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5601F"/>
                </a:solidFill>
                <a:latin typeface="Cambria"/>
              </a:rPr>
              <a:t>나무 세포 속 물의 두 얼굴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03320"/>
            <a:ext cx="1554480" cy="146304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8D6E4B"/>
                </a:solidFill>
                <a:latin typeface="Calibri"/>
              </a:rPr>
              <a:t>자유수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4206240"/>
            <a:ext cx="548640" cy="548640"/>
          </a:xfrm>
          <a:prstGeom prst="ellipse">
            <a:avLst/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25880" y="420624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0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3703320"/>
            <a:ext cx="1554480" cy="1463040"/>
          </a:xfrm>
          <a:prstGeom prst="roundRect">
            <a:avLst>
              <a:gd name="adj" fmla="val 12000"/>
            </a:avLst>
          </a:prstGeom>
          <a:noFill/>
          <a:ln w="317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3840480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8D6E4B"/>
                </a:solidFill>
                <a:latin typeface="Calibri"/>
              </a:rPr>
              <a:t>결합수</a:t>
            </a:r>
          </a:p>
        </p:txBody>
      </p:sp>
      <p:sp>
        <p:nvSpPr>
          <p:cNvPr id="13" name="Oval 12"/>
          <p:cNvSpPr/>
          <p:nvPr/>
        </p:nvSpPr>
        <p:spPr>
          <a:xfrm>
            <a:off x="2788920" y="4617720"/>
            <a:ext cx="320040" cy="320040"/>
          </a:xfrm>
          <a:prstGeom prst="ellipse">
            <a:avLst/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200400" y="4617720"/>
            <a:ext cx="320040" cy="320040"/>
          </a:xfrm>
          <a:prstGeom prst="ellipse">
            <a:avLst/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11879" y="4617720"/>
            <a:ext cx="320040" cy="320040"/>
          </a:xfrm>
          <a:prstGeom prst="ellipse">
            <a:avLst/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57800"/>
            <a:ext cx="448055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50" b="1" i="0">
                <a:solidFill>
                  <a:srgbClr val="2A1D16"/>
                </a:solidFill>
                <a:latin typeface="Calibri"/>
              </a:rPr>
              <a:t>자유수 : </a:t>
            </a:r>
            <a:r>
              <a:rPr sz="1150" b="0" i="0">
                <a:solidFill>
                  <a:srgbClr val="2A1D16"/>
                </a:solidFill>
                <a:latin typeface="Calibri"/>
              </a:rPr>
              <a:t>세포 사이 빈 공간에 고인 물 → 먼저 쉽게 빠져나가요</a:t>
            </a:r>
          </a:p>
          <a:p>
            <a:pPr algn="l">
              <a:lnSpc>
                <a:spcPct val="115000"/>
              </a:lnSpc>
              <a:buNone/>
            </a:pPr>
            <a:r>
              <a:rPr sz="1150" b="1" i="0">
                <a:solidFill>
                  <a:srgbClr val="2A1D16"/>
                </a:solidFill>
                <a:latin typeface="Calibri"/>
              </a:rPr>
              <a:t>결합수 : </a:t>
            </a:r>
            <a:r>
              <a:rPr sz="1150" b="0" i="0">
                <a:solidFill>
                  <a:srgbClr val="2A1D16"/>
                </a:solidFill>
                <a:latin typeface="Calibri"/>
              </a:rPr>
              <a:t>세포벽 속에 붙어있는 물 → 빠지면 목재가 수축해요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16002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A1D16"/>
                </a:solidFill>
                <a:latin typeface="Cambria"/>
              </a:rPr>
              <a:t>섬유포화점(FSP)이란?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057400"/>
            <a:ext cx="5669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0" i="0">
                <a:solidFill>
                  <a:srgbClr val="7A6A5A"/>
                </a:solidFill>
                <a:latin typeface="Calibri"/>
              </a:rPr>
              <a:t>자유수가 모두 빠지고 결합수만 남는 순간의 함수율(보통 약 28~30%). 이 지점을 지나야 목재의 크기가 실제로 변하기 시작해요.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3154680"/>
            <a:ext cx="5394960" cy="502920"/>
          </a:xfrm>
          <a:prstGeom prst="roundRect">
            <a:avLst>
              <a:gd name="adj" fmla="val 50000"/>
            </a:avLst>
          </a:prstGeom>
          <a:solidFill>
            <a:srgbClr val="AFD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35040" y="3154680"/>
            <a:ext cx="1726387" cy="502920"/>
          </a:xfrm>
          <a:prstGeom prst="roundRect">
            <a:avLst>
              <a:gd name="adj" fmla="val 5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761427" y="3017520"/>
            <a:ext cx="0" cy="777240"/>
          </a:xfrm>
          <a:prstGeom prst="line">
            <a:avLst/>
          </a:prstGeom>
          <a:ln w="19050">
            <a:solidFill>
              <a:srgbClr val="3E2723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0" y="3749039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0%</a:t>
            </a:r>
          </a:p>
          <a:p>
            <a:pPr algn="l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(전건)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1347" y="3749039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1" i="0">
                <a:solidFill>
                  <a:srgbClr val="3E2723"/>
                </a:solidFill>
                <a:latin typeface="Calibri"/>
              </a:rPr>
              <a:t>약 28~30%</a:t>
            </a:r>
          </a:p>
          <a:p>
            <a:pPr algn="ctr">
              <a:buNone/>
            </a:pPr>
            <a:r>
              <a:rPr sz="1050" b="1" i="0">
                <a:solidFill>
                  <a:srgbClr val="3E2723"/>
                </a:solidFill>
                <a:latin typeface="Calibri"/>
              </a:rPr>
              <a:t>(섬유포화점)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3749039"/>
            <a:ext cx="1005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100%↑</a:t>
            </a:r>
          </a:p>
          <a:p>
            <a:pPr algn="r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(생나무)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788920"/>
            <a:ext cx="172638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8D6E4B"/>
                </a:solidFill>
                <a:latin typeface="Calibri"/>
              </a:rPr>
              <a:t>치수 변화 없음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9326" y="2788920"/>
            <a:ext cx="323697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3E7CB1"/>
                </a:solidFill>
                <a:latin typeface="Calibri"/>
              </a:rPr>
              <a:t>치수 변화 시작 (자유수 증감)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34840"/>
            <a:ext cx="5669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0" i="1">
                <a:solidFill>
                  <a:srgbClr val="45601F"/>
                </a:solidFill>
                <a:latin typeface="Calibri"/>
              </a:rPr>
              <a:t>핵심: 목재는 함수율이 섬유포화점 아래로 내려갈 때부터 수축하고, 올라갈 때 팽창해요.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35040" y="5029200"/>
            <a:ext cx="5669280" cy="1051560"/>
          </a:xfrm>
          <a:prstGeom prst="roundRect">
            <a:avLst>
              <a:gd name="adj" fmla="val 12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63640" y="514807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8D6E4B"/>
                </a:solidFill>
                <a:latin typeface="Cambria"/>
              </a:rPr>
              <a:t>평형함수율(EMC)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486400"/>
            <a:ext cx="5212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buNone/>
            </a:pPr>
            <a:r>
              <a:rPr sz="1100" b="0" i="0">
                <a:solidFill>
                  <a:srgbClr val="2A1D16"/>
                </a:solidFill>
                <a:latin typeface="Calibri"/>
              </a:rPr>
              <a:t>목재를 공기 중에 오래 두면 주변 온·습도와 균형을 이루는 함수율에 도달해요. 여름엔 습해서 높아지고, 겨울엔 건조해서 낮아져요.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07  목재의 치수 변화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목재의 치수 변화 — 방향마다 다르게 줄어들어요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2A1D16"/>
                </a:solidFill>
                <a:latin typeface="Calibri"/>
              </a:rPr>
              <a:t>나무는 세포가 나이테 방향으로 배열되어 있어서, 방향에 따라 수축·팽창하는 정도가 크게 달라요.</a:t>
            </a:r>
          </a:p>
        </p:txBody>
      </p:sp>
      <p:sp>
        <p:nvSpPr>
          <p:cNvPr id="5" name="Oval 4"/>
          <p:cNvSpPr/>
          <p:nvPr/>
        </p:nvSpPr>
        <p:spPr>
          <a:xfrm>
            <a:off x="1463040" y="2468879"/>
            <a:ext cx="3474720" cy="3474720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64208" y="2670048"/>
            <a:ext cx="3072384" cy="3072384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65376" y="2871215"/>
            <a:ext cx="2670048" cy="2670048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66543" y="3072383"/>
            <a:ext cx="2267712" cy="2267712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67712" y="3273551"/>
            <a:ext cx="1865376" cy="1865376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468880" y="3474720"/>
            <a:ext cx="1463040" cy="1463040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0048" y="3675887"/>
            <a:ext cx="1060704" cy="1060704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71215" y="3877055"/>
            <a:ext cx="658368" cy="658368"/>
          </a:xfrm>
          <a:prstGeom prst="ellipse">
            <a:avLst/>
          </a:prstGeom>
          <a:noFill/>
          <a:ln w="11430">
            <a:solidFill>
              <a:srgbClr val="B995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40" y="2468879"/>
            <a:ext cx="3474720" cy="3474720"/>
          </a:xfrm>
          <a:prstGeom prst="ellipse">
            <a:avLst/>
          </a:prstGeom>
          <a:noFill/>
          <a:ln w="254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 flipV="1">
            <a:off x="3200400" y="2468879"/>
            <a:ext cx="0" cy="1737361"/>
          </a:xfrm>
          <a:prstGeom prst="line">
            <a:avLst/>
          </a:prstGeom>
          <a:ln w="3810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Isosceles Triangle 14"/>
          <p:cNvSpPr/>
          <p:nvPr/>
        </p:nvSpPr>
        <p:spPr>
          <a:xfrm>
            <a:off x="3081528" y="2350008"/>
            <a:ext cx="237744" cy="237744"/>
          </a:xfrm>
          <a:prstGeom prst="triangle">
            <a:avLst/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4000500" y="2820426"/>
            <a:ext cx="117737" cy="75006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118237" y="2895432"/>
            <a:ext cx="110751" cy="84983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228988" y="2980415"/>
            <a:ext cx="102924" cy="94312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331912" y="3074727"/>
            <a:ext cx="94312" cy="102924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426224" y="3177651"/>
            <a:ext cx="84983" cy="110751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11207" y="3288402"/>
            <a:ext cx="75006" cy="117737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86213" y="3406139"/>
            <a:ext cx="64460" cy="123827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50673" y="3529966"/>
            <a:ext cx="53423" cy="128973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704096" y="3658939"/>
            <a:ext cx="41978" cy="133138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746074" y="3792077"/>
            <a:ext cx="30215" cy="136291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76289" y="3928368"/>
            <a:ext cx="18221" cy="138405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94510" y="4066773"/>
            <a:ext cx="6090" cy="139467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4794510" y="4206240"/>
            <a:ext cx="6090" cy="139466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4776289" y="4345706"/>
            <a:ext cx="18221" cy="138405"/>
          </a:xfrm>
          <a:prstGeom prst="line">
            <a:avLst/>
          </a:prstGeom>
          <a:ln w="381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Isosceles Triangle 29"/>
          <p:cNvSpPr/>
          <p:nvPr/>
        </p:nvSpPr>
        <p:spPr>
          <a:xfrm rot="11400000">
            <a:off x="4675705" y="4383527"/>
            <a:ext cx="201168" cy="201168"/>
          </a:xfrm>
          <a:prstGeom prst="triangl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20640" y="4096511"/>
            <a:ext cx="2011680" cy="219456"/>
          </a:xfrm>
          <a:prstGeom prst="rect">
            <a:avLst/>
          </a:prstGeom>
          <a:solidFill>
            <a:srgbClr val="D9BC94"/>
          </a:solidFill>
          <a:ln w="1270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6126480" y="4206240"/>
            <a:ext cx="1005840" cy="0"/>
          </a:xfrm>
          <a:prstGeom prst="line">
            <a:avLst/>
          </a:prstGeom>
          <a:ln w="31750">
            <a:solidFill>
              <a:srgbClr val="3E27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7040880" y="4114800"/>
            <a:ext cx="182880" cy="182880"/>
          </a:xfrm>
          <a:prstGeom prst="triangl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5120640" y="4206240"/>
            <a:ext cx="1005840" cy="0"/>
          </a:xfrm>
          <a:prstGeom prst="line">
            <a:avLst/>
          </a:prstGeom>
          <a:ln w="31750">
            <a:solidFill>
              <a:srgbClr val="3E27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6200000">
            <a:off x="5029200" y="4114800"/>
            <a:ext cx="182880" cy="182880"/>
          </a:xfrm>
          <a:prstGeom prst="triangl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0" y="4434840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00" b="0" i="0">
                <a:solidFill>
                  <a:srgbClr val="3E2723"/>
                </a:solidFill>
                <a:latin typeface="Calibri"/>
              </a:rPr>
              <a:t>길이(섬유)방향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514600" y="2011679"/>
            <a:ext cx="1371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3E7CB1"/>
                </a:solidFill>
                <a:latin typeface="Calibri"/>
              </a:rPr>
              <a:t>방사방향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49040" y="2788920"/>
            <a:ext cx="1463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접선방향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196596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함수율 1% 변할 때 수축·팽창 정도 (상대적 크기)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256032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libri"/>
              </a:rPr>
              <a:t>길이(섬유)방향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32519" y="2587751"/>
            <a:ext cx="3017520" cy="310896"/>
          </a:xfrm>
          <a:prstGeom prst="roundRect">
            <a:avLst>
              <a:gd name="adj" fmla="val 2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732519" y="2587751"/>
            <a:ext cx="181051" cy="310896"/>
          </a:xfrm>
          <a:prstGeom prst="roundRect">
            <a:avLst>
              <a:gd name="adj" fmla="val 20000"/>
            </a:avLst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32519" y="2926079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거의 변하지 않음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3520439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libri"/>
              </a:rPr>
              <a:t>방사방향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19" y="3547871"/>
            <a:ext cx="3017520" cy="310896"/>
          </a:xfrm>
          <a:prstGeom prst="roundRect">
            <a:avLst>
              <a:gd name="adj" fmla="val 2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732519" y="3547871"/>
            <a:ext cx="1357884" cy="310896"/>
          </a:xfrm>
          <a:prstGeom prst="roundRect">
            <a:avLst>
              <a:gd name="adj" fmla="val 20000"/>
            </a:avLst>
          </a:prstGeom>
          <a:solidFill>
            <a:srgbClr val="3E7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732519" y="38862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중간 정도 변함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9440" y="4480560"/>
            <a:ext cx="17373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1" i="0">
                <a:solidFill>
                  <a:srgbClr val="2A1D16"/>
                </a:solidFill>
                <a:latin typeface="Calibri"/>
              </a:rPr>
              <a:t>접선방향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19" y="4507992"/>
            <a:ext cx="3017520" cy="310896"/>
          </a:xfrm>
          <a:prstGeom prst="roundRect">
            <a:avLst>
              <a:gd name="adj" fmla="val 2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732519" y="4507992"/>
            <a:ext cx="3017520" cy="310896"/>
          </a:xfrm>
          <a:prstGeom prst="roundRect">
            <a:avLst>
              <a:gd name="adj" fmla="val 20000"/>
            </a:avLst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732519" y="4846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가장 많이 변함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576072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50" b="0" i="1">
                <a:solidFill>
                  <a:srgbClr val="8D6E4B"/>
                </a:solidFill>
                <a:latin typeface="Calibri"/>
              </a:rPr>
              <a:t>그래서 판재는 폭 방향(접선방향)으로 휘거나 갈라지기 쉬워요.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08  치수 변화 대처법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치수 변화, 이렇게 대비해요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00200"/>
            <a:ext cx="3535680" cy="19659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828800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234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충분히 건조 후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14600"/>
            <a:ext cx="3032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사용 환경의 평형함수율에 맞게 목재를 미리 건조시켜 변형을 줄여요.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920" y="1600200"/>
            <a:ext cx="3535680" cy="19659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41520" y="1828800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1520" y="1828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8760" y="1828800"/>
            <a:ext cx="234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도장(코팅) 처리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8952" y="2514600"/>
            <a:ext cx="3032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페인트·오일 등으로 표면을 덮어 수분 출입 속도를 늦춰요.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8640" y="1600200"/>
            <a:ext cx="3535680" cy="19659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397240" y="1828800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7240" y="1828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74480" y="1828800"/>
            <a:ext cx="234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결 방향을 고려한 설계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4672" y="2514600"/>
            <a:ext cx="3032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판재를 붙일 때 나이테 방향을 엇갈리게 배치해 뒤틀림을 줄여요.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86200"/>
            <a:ext cx="3535680" cy="19659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5800" y="4114800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14800"/>
            <a:ext cx="234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여유 공간(유격) 두기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800600"/>
            <a:ext cx="3032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이음새·틀 사이에 수축·팽창할 틈을 미리 남겨둬요.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12920" y="3886200"/>
            <a:ext cx="3535680" cy="19659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41520" y="4114800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4152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8760" y="4114800"/>
            <a:ext cx="234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안정된 환경 유지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8952" y="4800600"/>
            <a:ext cx="3032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실내 온·습도를 급격히 바꾸지 않도록 관리해요.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68640" y="3886200"/>
            <a:ext cx="3535680" cy="19659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397240" y="4114800"/>
            <a:ext cx="640080" cy="64008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97240" y="41148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200" b="0" i="0">
                <a:solidFill>
                  <a:srgbClr val="2A1D16"/>
                </a:solidFill>
                <a:latin typeface="Calibri"/>
              </a:rPr>
              <a:t>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74480" y="4114800"/>
            <a:ext cx="234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습도·함수율 측정하기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24672" y="4800600"/>
            <a:ext cx="3032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습도계·함수율계로 목재와 주변 환경을 주기적으로 확인해요.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09  목재 건조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목재 건조 — 왜, 어떻게 말릴까?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247120" cy="23774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>
              <a:buNone/>
            </a:pPr>
            <a:r>
              <a:rPr sz="1150" b="1" i="0">
                <a:solidFill>
                  <a:srgbClr val="8D6E4B"/>
                </a:solidFill>
                <a:latin typeface="Calibri"/>
              </a:rPr>
              <a:t>생재</a:t>
            </a:r>
            <a:r>
              <a:rPr sz="1150" b="0" i="0">
                <a:solidFill>
                  <a:srgbClr val="7A6A5A"/>
                </a:solidFill>
                <a:latin typeface="Calibri"/>
              </a:rPr>
              <a:t> (갓 벤 나무, 함수율 높음)  →  </a:t>
            </a:r>
            <a:r>
              <a:rPr sz="1150" b="1" i="0">
                <a:solidFill>
                  <a:srgbClr val="8D6E4B"/>
                </a:solidFill>
                <a:latin typeface="Calibri"/>
              </a:rPr>
              <a:t>기건재</a:t>
            </a:r>
            <a:r>
              <a:rPr sz="1150" b="0" i="0">
                <a:solidFill>
                  <a:srgbClr val="7A6A5A"/>
                </a:solidFill>
                <a:latin typeface="Calibri"/>
              </a:rPr>
              <a:t> (자연 건조로 대기와 균형)  →  </a:t>
            </a:r>
            <a:r>
              <a:rPr sz="1150" b="1" i="0">
                <a:solidFill>
                  <a:srgbClr val="8D6E4B"/>
                </a:solidFill>
                <a:latin typeface="Calibri"/>
              </a:rPr>
              <a:t>인공건조재</a:t>
            </a:r>
            <a:r>
              <a:rPr sz="1150" b="0" i="0">
                <a:solidFill>
                  <a:srgbClr val="7A6A5A"/>
                </a:solidFill>
                <a:latin typeface="Calibri"/>
              </a:rPr>
              <a:t> (건조실에서 목표 함수율까지 건조)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27632"/>
            <a:ext cx="5120640" cy="1892807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건조하는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572000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A1D16"/>
                </a:solidFill>
                <a:latin typeface="Calibri"/>
              </a:rPr>
              <a:t>치수를 안정시켜 뒤틀림·갈라짐 방지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A1D16"/>
                </a:solidFill>
                <a:latin typeface="Calibri"/>
              </a:rPr>
              <a:t>강도와 접착력을 높임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A1D16"/>
                </a:solidFill>
                <a:latin typeface="Calibri"/>
              </a:rPr>
              <a:t>곰팡이·부패·해충 피해 예방</a:t>
            </a:r>
          </a:p>
          <a:p>
            <a:pPr algn="l" indent="-182880" marL="182880">
              <a:lnSpc>
                <a:spcPct val="115000"/>
              </a:lnSpc>
              <a:spcAft>
                <a:spcPts val="600"/>
              </a:spcAft>
              <a:buFont typeface="Arial"/>
              <a:buChar char="•"/>
            </a:pPr>
            <a:r>
              <a:rPr sz="1250">
                <a:solidFill>
                  <a:srgbClr val="2A1D16"/>
                </a:solidFill>
                <a:latin typeface="Calibri"/>
              </a:rPr>
              <a:t>무게를 줄여 다루기 쉽게 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627632"/>
            <a:ext cx="5760720" cy="1892807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764792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300" b="1" i="0">
                <a:solidFill>
                  <a:srgbClr val="2A1D16"/>
                </a:solidFill>
                <a:latin typeface="Cambria"/>
              </a:rPr>
              <a:t>건조 과정의 함수율 변화(개념도)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92240" y="2176272"/>
            <a:ext cx="0" cy="1143000"/>
          </a:xfrm>
          <a:prstGeom prst="line">
            <a:avLst/>
          </a:prstGeom>
          <a:ln w="15875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92240" y="3319272"/>
            <a:ext cx="4754879" cy="0"/>
          </a:xfrm>
          <a:prstGeom prst="line">
            <a:avLst/>
          </a:prstGeom>
          <a:ln w="15875">
            <a:solidFill>
              <a:srgbClr val="7A6A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492240" y="3067812"/>
            <a:ext cx="855878" cy="228600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7348118" y="2747772"/>
            <a:ext cx="1046074" cy="320040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8394192" y="2462022"/>
            <a:ext cx="1188719" cy="285750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582911" y="2267711"/>
            <a:ext cx="1664208" cy="194311"/>
          </a:xfrm>
          <a:prstGeom prst="line">
            <a:avLst/>
          </a:prstGeom>
          <a:ln w="31750">
            <a:solidFill>
              <a:srgbClr val="3E7CB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989320" y="203911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함수율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3374136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50" b="0" i="0">
                <a:solidFill>
                  <a:srgbClr val="7A6A5A"/>
                </a:solidFill>
                <a:latin typeface="Calibri"/>
              </a:rPr>
              <a:t>시간 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94760"/>
            <a:ext cx="5349240" cy="26517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4069080"/>
            <a:ext cx="777240" cy="7772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3000" b="0" i="0">
                <a:solidFill>
                  <a:srgbClr val="2A1D16"/>
                </a:solidFill>
                <a:latin typeface="Calibri"/>
              </a:rPr>
              <a:t>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160520"/>
            <a:ext cx="3886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A1D16"/>
                </a:solidFill>
                <a:latin typeface="Cambria"/>
              </a:rPr>
              <a:t>천연건조 (자연건조)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029200"/>
            <a:ext cx="4617720" cy="12344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그늘지고 통풍 좋은 곳에 쌓아 자연 바람으로 건조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비용이 적게 들지만 시간이 오래 걸림(수개월~수년)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계절·날씨 영향을 많이 받음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79" y="3794760"/>
            <a:ext cx="5349240" cy="2651760"/>
          </a:xfrm>
          <a:prstGeom prst="roundRect">
            <a:avLst>
              <a:gd name="adj" fmla="val 10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629399" y="4069080"/>
            <a:ext cx="777240" cy="777240"/>
          </a:xfrm>
          <a:prstGeom prst="ellipse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399" y="406908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3000" b="0" i="0">
                <a:solidFill>
                  <a:srgbClr val="2A1D16"/>
                </a:solidFill>
                <a:latin typeface="Calibri"/>
              </a:rPr>
              <a:t>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4160520"/>
            <a:ext cx="3886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600" b="1" i="0">
                <a:solidFill>
                  <a:srgbClr val="2A1D16"/>
                </a:solidFill>
                <a:latin typeface="Cambria"/>
              </a:rPr>
              <a:t>인공건조 (건조실)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029200"/>
            <a:ext cx="4617720" cy="1234439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건조실에서 온도·습도·바람을 조절해 강제로 건조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짧은 시간(며칠~수 주)에 균일하게 건조 가능</a:t>
            </a:r>
          </a:p>
          <a:p>
            <a:pPr algn="l" indent="-182880" marL="182880">
              <a:lnSpc>
                <a:spcPct val="115000"/>
              </a:lnSpc>
              <a:spcAft>
                <a:spcPts val="8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장비 비용이 들지만 품질 관리가 쉬움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10  목재 절삭과 휨가공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목재 절삭 — 결 방향이 핵심이에요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2A1D16"/>
                </a:solidFill>
                <a:latin typeface="Calibri"/>
              </a:rPr>
              <a:t>목재는 섬유(나뭇결)가 한 방향으로 길게 배열되어 있어, 자르거나 대패질할 때 결 방향에 따라 잘리는 느낌과 표면이 크게 달라져요.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45601F"/>
                </a:solidFill>
                <a:latin typeface="Cambria"/>
              </a:rPr>
              <a:t>순결 방향 절삭 (결을 따라)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D9BC94"/>
          </a:solidFill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249936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48640" y="271272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" y="292608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8640" y="313944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48640" y="335280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1965960"/>
            <a:ext cx="5669280" cy="0"/>
          </a:xfrm>
          <a:prstGeom prst="line">
            <a:avLst/>
          </a:prstGeom>
          <a:ln w="3175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Isosceles Triangle 12"/>
          <p:cNvSpPr/>
          <p:nvPr/>
        </p:nvSpPr>
        <p:spPr>
          <a:xfrm rot="5400000">
            <a:off x="5879592" y="1856231"/>
            <a:ext cx="219456" cy="219456"/>
          </a:xfrm>
          <a:prstGeom prst="triangle">
            <a:avLst/>
          </a:prstGeom>
          <a:solidFill>
            <a:srgbClr val="45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대패가 매끄럽게 지나가며 깨끗한 면이 나와요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B23A2E"/>
                </a:solidFill>
                <a:latin typeface="Cambria"/>
              </a:rPr>
              <a:t>역결 방향 절삭 (결을 거슬러)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286000"/>
            <a:ext cx="5394960" cy="1280160"/>
          </a:xfrm>
          <a:prstGeom prst="roundRect">
            <a:avLst>
              <a:gd name="adj" fmla="val 5000"/>
            </a:avLst>
          </a:prstGeom>
          <a:solidFill>
            <a:srgbClr val="D9BC94"/>
          </a:solidFill>
          <a:ln w="19050">
            <a:solidFill>
              <a:srgbClr val="8D6E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400800" y="249936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400800" y="271272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400800" y="292608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400800" y="313944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400800" y="3352800"/>
            <a:ext cx="5212080" cy="0"/>
          </a:xfrm>
          <a:prstGeom prst="line">
            <a:avLst/>
          </a:prstGeom>
          <a:ln w="12700">
            <a:solidFill>
              <a:srgbClr val="B893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949440" y="2423160"/>
            <a:ext cx="274320" cy="1005840"/>
          </a:xfrm>
          <a:prstGeom prst="line">
            <a:avLst/>
          </a:prstGeom>
          <a:ln w="190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8092440" y="2423160"/>
            <a:ext cx="274320" cy="1005840"/>
          </a:xfrm>
          <a:prstGeom prst="line">
            <a:avLst/>
          </a:prstGeom>
          <a:ln w="190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235440" y="2423160"/>
            <a:ext cx="274320" cy="1005840"/>
          </a:xfrm>
          <a:prstGeom prst="line">
            <a:avLst/>
          </a:prstGeom>
          <a:ln w="190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378440" y="2423160"/>
            <a:ext cx="274320" cy="1005840"/>
          </a:xfrm>
          <a:prstGeom prst="line">
            <a:avLst/>
          </a:prstGeom>
          <a:ln w="190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172200" y="1965960"/>
            <a:ext cx="5669280" cy="0"/>
          </a:xfrm>
          <a:prstGeom prst="line">
            <a:avLst/>
          </a:prstGeom>
          <a:ln w="31750">
            <a:solidFill>
              <a:srgbClr val="B23A2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5400000">
            <a:off x="11731752" y="1856231"/>
            <a:ext cx="219456" cy="219456"/>
          </a:xfrm>
          <a:prstGeom prst="triangle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65760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150" b="0" i="0">
                <a:solidFill>
                  <a:srgbClr val="7A6A5A"/>
                </a:solidFill>
                <a:latin typeface="Calibri"/>
              </a:rPr>
              <a:t>나뭇결이 뜯기며 표면이 거칠어지고 갈라지기 쉬워요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846320"/>
            <a:ext cx="11247120" cy="14173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98348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1" i="0">
                <a:solidFill>
                  <a:srgbClr val="2A1D16"/>
                </a:solidFill>
                <a:latin typeface="Cambria"/>
              </a:rPr>
              <a:t>절삭 가공의 기본 원칙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10607040" cy="8686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 indent="-182880" marL="18288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톱질·대패질은 결 방향을 확인하고 순결 방향으로 진행해요</a:t>
            </a:r>
          </a:p>
          <a:p>
            <a:pPr algn="l" indent="-182880" marL="18288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날카로운 도구를 사용하고, 힘을 일정하게 유지해요</a:t>
            </a:r>
          </a:p>
          <a:p>
            <a:pPr algn="l" indent="-182880" marL="182880">
              <a:lnSpc>
                <a:spcPct val="110000"/>
              </a:lnSpc>
              <a:spcAft>
                <a:spcPts val="500"/>
              </a:spcAft>
              <a:buFont typeface="Arial"/>
              <a:buChar char="•"/>
            </a:pPr>
            <a:r>
              <a:rPr sz="1200">
                <a:solidFill>
                  <a:srgbClr val="2A1D16"/>
                </a:solidFill>
                <a:latin typeface="Calibri"/>
              </a:rPr>
              <a:t>톱밥이 많이 날리거나 표면이 거칠면 결 방향을 바꿔봐요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200" b="1" i="0">
                <a:solidFill>
                  <a:srgbClr val="45601F"/>
                </a:solidFill>
                <a:latin typeface="Calibri"/>
              </a:rPr>
              <a:t>10  목재 절삭과 휨가공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000" b="1" i="0">
                <a:solidFill>
                  <a:srgbClr val="2A1D16"/>
                </a:solidFill>
                <a:latin typeface="Cambria"/>
              </a:rPr>
              <a:t>목재 휨가공 — 곧은 나무를 곡선으로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400" b="0" i="0">
                <a:solidFill>
                  <a:srgbClr val="2A1D16"/>
                </a:solidFill>
                <a:latin typeface="Calibri"/>
              </a:rPr>
              <a:t>목재는 원래 곧게 자라지만, 두 가지 방법을 이용하면 아름다운 곡선 형태로 가공할 수 있어요.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349240" cy="41605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① 증기 휨 (스팀 벤딩)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8892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4630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2600" b="0" i="0">
                <a:solidFill>
                  <a:srgbClr val="2A1D16"/>
                </a:solidFill>
                <a:latin typeface="Calibri"/>
              </a:rPr>
              <a:t>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39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50" b="0" i="0">
                <a:solidFill>
                  <a:srgbClr val="7A6A5A"/>
                </a:solidFill>
                <a:latin typeface="Calibri"/>
              </a:rPr>
              <a:t>찜통(증기)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423160" y="3108960"/>
            <a:ext cx="548640" cy="457200"/>
          </a:xfrm>
          <a:prstGeom prst="rightArrow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200400"/>
            <a:ext cx="1645920" cy="0"/>
          </a:xfrm>
          <a:prstGeom prst="line">
            <a:avLst/>
          </a:prstGeom>
          <a:ln w="50800">
            <a:solidFill>
              <a:srgbClr val="3E272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063240" y="338328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가열 전 (곧은 목재)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3378918" y="4287857"/>
            <a:ext cx="43182" cy="95305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2100" y="4200231"/>
            <a:ext cx="57178" cy="87626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3479278" y="4122322"/>
            <a:ext cx="69842" cy="77909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549120" y="4055945"/>
            <a:ext cx="80881" cy="66377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630001" y="4002644"/>
            <a:ext cx="90037" cy="53301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720038" y="3963660"/>
            <a:ext cx="97097" cy="38984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3817135" y="3939901"/>
            <a:ext cx="101898" cy="23759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919033" y="3931920"/>
            <a:ext cx="104327" cy="7981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23360" y="3931920"/>
            <a:ext cx="104326" cy="7981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127686" y="3939901"/>
            <a:ext cx="101898" cy="23759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229584" y="3963660"/>
            <a:ext cx="97097" cy="38984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326681" y="4002644"/>
            <a:ext cx="90037" cy="53301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416718" y="4055945"/>
            <a:ext cx="80881" cy="66377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497599" y="4122322"/>
            <a:ext cx="69842" cy="77909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67441" y="4200231"/>
            <a:ext cx="57178" cy="87626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24619" y="4287857"/>
            <a:ext cx="43182" cy="95305"/>
          </a:xfrm>
          <a:prstGeom prst="line">
            <a:avLst/>
          </a:prstGeom>
          <a:ln w="50800">
            <a:solidFill>
              <a:srgbClr val="4560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063240" y="50292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가열 후 틀에 고정해 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440680"/>
            <a:ext cx="470915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뜨거운 수증기로 목재 섬유를 부드럽게 만든 뒤, 틀(거푸집)에 고정해 원하는 곡선으로 굽혀요.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식으면서 굳어 곡선 모양이 유지돼요.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예: 의자 등받이, 배의 선체 골격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79" y="2011680"/>
            <a:ext cx="5349240" cy="4160520"/>
          </a:xfrm>
          <a:prstGeom prst="roundRect">
            <a:avLst>
              <a:gd name="adj" fmla="val 9000"/>
            </a:avLst>
          </a:prstGeom>
          <a:solidFill>
            <a:srgbClr val="F1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399" y="2194560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500" b="1" i="0">
                <a:solidFill>
                  <a:srgbClr val="45601F"/>
                </a:solidFill>
                <a:latin typeface="Cambria"/>
              </a:rPr>
              <a:t>② 적층 휨 (라미네이션)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20840" y="2880360"/>
            <a:ext cx="1554479" cy="0"/>
          </a:xfrm>
          <a:prstGeom prst="line">
            <a:avLst/>
          </a:prstGeom>
          <a:ln w="508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720840" y="3026664"/>
            <a:ext cx="1554479" cy="0"/>
          </a:xfrm>
          <a:prstGeom prst="line">
            <a:avLst/>
          </a:prstGeom>
          <a:ln w="508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720840" y="3172968"/>
            <a:ext cx="1554479" cy="0"/>
          </a:xfrm>
          <a:prstGeom prst="line">
            <a:avLst/>
          </a:prstGeom>
          <a:ln w="508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720840" y="3319272"/>
            <a:ext cx="1554479" cy="0"/>
          </a:xfrm>
          <a:prstGeom prst="line">
            <a:avLst/>
          </a:prstGeom>
          <a:ln w="508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720840" y="3611880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얇은 나무판(베니어) 여러 장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8503919" y="3017520"/>
            <a:ext cx="548640" cy="457200"/>
          </a:xfrm>
          <a:prstGeom prst="rightArrow">
            <a:avLst/>
          </a:prstGeom>
          <a:solidFill>
            <a:srgbClr val="8D6E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 flipV="1">
            <a:off x="9391415" y="2870172"/>
            <a:ext cx="69288" cy="101628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9460703" y="2780007"/>
            <a:ext cx="83662" cy="90165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9544365" y="2703318"/>
            <a:ext cx="96165" cy="76689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9640530" y="2641818"/>
            <a:ext cx="106521" cy="6150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9747051" y="2596881"/>
            <a:ext cx="114497" cy="4493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861548" y="2569511"/>
            <a:ext cx="119916" cy="2737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9981464" y="2560320"/>
            <a:ext cx="122655" cy="9191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0104119" y="2560320"/>
            <a:ext cx="122656" cy="9191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0226775" y="2569511"/>
            <a:ext cx="119916" cy="2737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346691" y="2596881"/>
            <a:ext cx="114497" cy="4493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10461188" y="2641818"/>
            <a:ext cx="106521" cy="6150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10567709" y="2703318"/>
            <a:ext cx="96165" cy="76689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0663874" y="2780007"/>
            <a:ext cx="83662" cy="90165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747536" y="2870172"/>
            <a:ext cx="69288" cy="101628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9320145" y="2800574"/>
            <a:ext cx="76217" cy="11179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9396362" y="2701392"/>
            <a:ext cx="92027" cy="99182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9488389" y="2617034"/>
            <a:ext cx="105782" cy="84358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9594171" y="2549384"/>
            <a:ext cx="117173" cy="6765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711344" y="2499953"/>
            <a:ext cx="125947" cy="49431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9837291" y="2469846"/>
            <a:ext cx="131907" cy="30107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9969198" y="2459736"/>
            <a:ext cx="134921" cy="1011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10104119" y="2459736"/>
            <a:ext cx="134922" cy="1011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10239041" y="2469846"/>
            <a:ext cx="131907" cy="30107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370948" y="2499953"/>
            <a:ext cx="125947" cy="49431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0496895" y="2549384"/>
            <a:ext cx="117173" cy="6765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0614068" y="2617034"/>
            <a:ext cx="105782" cy="84358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0719850" y="2701392"/>
            <a:ext cx="92027" cy="99182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10811877" y="2800574"/>
            <a:ext cx="76217" cy="111789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9248874" y="2730975"/>
            <a:ext cx="83146" cy="121953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9332020" y="2622777"/>
            <a:ext cx="100394" cy="108198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9432414" y="2530750"/>
            <a:ext cx="115398" cy="9202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9547812" y="2456950"/>
            <a:ext cx="127825" cy="7380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675637" y="2403026"/>
            <a:ext cx="137396" cy="53924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13033" y="2370182"/>
            <a:ext cx="143900" cy="32844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56933" y="2359152"/>
            <a:ext cx="147186" cy="1103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0104119" y="2359152"/>
            <a:ext cx="147187" cy="1103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0251306" y="2370182"/>
            <a:ext cx="143900" cy="32844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10395206" y="2403026"/>
            <a:ext cx="137396" cy="53924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10532602" y="2456950"/>
            <a:ext cx="127825" cy="73800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0660427" y="2530750"/>
            <a:ext cx="115398" cy="92027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0775825" y="2622777"/>
            <a:ext cx="100394" cy="108198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876219" y="2730975"/>
            <a:ext cx="83146" cy="121952"/>
          </a:xfrm>
          <a:prstGeom prst="line">
            <a:avLst/>
          </a:prstGeom>
          <a:ln w="38100">
            <a:solidFill>
              <a:srgbClr val="8D6E4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9177604" y="2661376"/>
            <a:ext cx="90075" cy="132116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9267679" y="2544161"/>
            <a:ext cx="108759" cy="11721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9376438" y="2444466"/>
            <a:ext cx="125015" cy="9969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9501453" y="2364516"/>
            <a:ext cx="138477" cy="7995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9639930" y="2306098"/>
            <a:ext cx="148846" cy="58418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9788776" y="2270517"/>
            <a:ext cx="155891" cy="35581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9944667" y="2258568"/>
            <a:ext cx="159452" cy="11949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10104119" y="2258568"/>
            <a:ext cx="159453" cy="11949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263572" y="2270517"/>
            <a:ext cx="155891" cy="35581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10419463" y="2306098"/>
            <a:ext cx="148846" cy="58418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10568309" y="2364516"/>
            <a:ext cx="138477" cy="79950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10706786" y="2444466"/>
            <a:ext cx="125015" cy="9969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10831801" y="2544161"/>
            <a:ext cx="108759" cy="11721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10940560" y="2661376"/>
            <a:ext cx="90075" cy="132115"/>
          </a:xfrm>
          <a:prstGeom prst="line">
            <a:avLst/>
          </a:prstGeom>
          <a:ln w="38100">
            <a:solidFill>
              <a:srgbClr val="D9BC9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098280" y="5074920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1000" b="0" i="0">
                <a:solidFill>
                  <a:srgbClr val="7A6A5A"/>
                </a:solidFill>
                <a:latin typeface="Calibri"/>
              </a:rPr>
              <a:t>접착제로 겹겹이 붙이며 곡선 틀에서 압착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675119" y="5440680"/>
            <a:ext cx="4709159" cy="5486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얇게 켠 나무판(베니어)에 접착제를 발라 여러 장 겹친 뒤, 곡선 틀에 넣고 압력을 가해 붙여요.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0" i="0">
                <a:solidFill>
                  <a:srgbClr val="2A1D16"/>
                </a:solidFill>
                <a:latin typeface="Calibri"/>
              </a:rPr>
              <a:t>휘어진 상태로 굳어 튼튼하고 형태가 잘 유지돼요.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  <a:buNone/>
            </a:pPr>
            <a:r>
              <a:rPr sz="1150" b="1" i="0">
                <a:solidFill>
                  <a:srgbClr val="45601F"/>
                </a:solidFill>
                <a:latin typeface="Calibri"/>
              </a:rPr>
              <a:t>예: 곡선 의자, 곡면 가구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2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3200" b="1" i="0">
                <a:solidFill>
                  <a:srgbClr val="FBF6EC"/>
                </a:solidFill>
                <a:latin typeface="Cambria"/>
              </a:rPr>
              <a:t>핵심 정리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188720"/>
            <a:ext cx="502920" cy="50292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700" b="0" i="0">
                <a:solidFill>
                  <a:srgbClr val="2A1D16"/>
                </a:solidFill>
                <a:latin typeface="Calibri"/>
              </a:rPr>
              <a:t>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170432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FBF6EC"/>
                </a:solidFill>
                <a:latin typeface="Calibri"/>
              </a:rPr>
              <a:t>목재는 나무의 수간(줄기) 조직이며, 수관·수간·뿌리가 각자의 역할을 해요.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901952"/>
            <a:ext cx="502920" cy="50292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6092" y="1997964"/>
            <a:ext cx="310896" cy="310896"/>
          </a:xfrm>
          <a:prstGeom prst="ellipse">
            <a:avLst/>
          </a:prstGeom>
          <a:noFill/>
          <a:ln w="16510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98271" y="2060143"/>
            <a:ext cx="186537" cy="186537"/>
          </a:xfrm>
          <a:prstGeom prst="ellipse">
            <a:avLst/>
          </a:prstGeom>
          <a:noFill/>
          <a:ln w="12700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8014" y="2109886"/>
            <a:ext cx="87050" cy="87050"/>
          </a:xfrm>
          <a:prstGeom prst="ellipse">
            <a:avLst/>
          </a:prstGeom>
          <a:noFill/>
          <a:ln w="12700">
            <a:solidFill>
              <a:srgbClr val="3E27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5995" y="2137867"/>
            <a:ext cx="31089" cy="31089"/>
          </a:xfrm>
          <a:prstGeom prst="ellipse">
            <a:avLst/>
          </a:prstGeom>
          <a:solidFill>
            <a:srgbClr val="3E27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1883664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FBF6EC"/>
                </a:solidFill>
                <a:latin typeface="Calibri"/>
              </a:rPr>
              <a:t>수간 단면에는 수피·형성층·변재·심재와 나이테가 순서대로 나타나요.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2615184"/>
            <a:ext cx="502920" cy="50292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6151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700" b="0" i="0">
                <a:solidFill>
                  <a:srgbClr val="2A1D16"/>
                </a:solidFill>
                <a:latin typeface="Calibri"/>
              </a:rPr>
              <a:t>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2596896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FBF6EC"/>
                </a:solidFill>
                <a:latin typeface="Calibri"/>
              </a:rPr>
              <a:t>밀도·비중이 높을수록 대체로 더 단단하고 무거운 목재예요.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28415"/>
            <a:ext cx="502920" cy="50292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28415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700" b="0" i="0">
                <a:solidFill>
                  <a:srgbClr val="2A1D16"/>
                </a:solidFill>
                <a:latin typeface="Calibri"/>
              </a:rPr>
              <a:t>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310127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FBF6EC"/>
                </a:solidFill>
                <a:latin typeface="Calibri"/>
              </a:rPr>
              <a:t>목재는 흡습성이 있어 함수율(자유수·결합수)이 변하며, 섬유포화점 아래에서 치수가 변해요.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041648"/>
            <a:ext cx="502920" cy="50292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416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700" b="0" i="0">
                <a:solidFill>
                  <a:srgbClr val="2A1D16"/>
                </a:solidFill>
                <a:latin typeface="Calibri"/>
              </a:rPr>
              <a:t>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023360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FBF6EC"/>
                </a:solidFill>
                <a:latin typeface="Calibri"/>
              </a:rPr>
              <a:t>수축·팽창은 길이&lt;방사&lt;접선 방향 순으로 커지므로 설계와 가공 시 고려해야 해요.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4754880"/>
            <a:ext cx="502920" cy="50292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75488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700" b="0" i="0">
                <a:solidFill>
                  <a:srgbClr val="2A1D16"/>
                </a:solidFill>
                <a:latin typeface="Calibri"/>
              </a:rPr>
              <a:t>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4736592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FBF6EC"/>
                </a:solidFill>
                <a:latin typeface="Calibri"/>
              </a:rPr>
              <a:t>건조는 치수 안정과 강도 향상을 위해 필수이며, 천연건조와 인공건조로 나뉘어요.</a:t>
            </a:r>
          </a:p>
        </p:txBody>
      </p:sp>
      <p:sp>
        <p:nvSpPr>
          <p:cNvPr id="24" name="Oval 23"/>
          <p:cNvSpPr/>
          <p:nvPr/>
        </p:nvSpPr>
        <p:spPr>
          <a:xfrm>
            <a:off x="640080" y="5468112"/>
            <a:ext cx="502920" cy="502920"/>
          </a:xfrm>
          <a:prstGeom prst="ellipse">
            <a:avLst/>
          </a:prstGeom>
          <a:solidFill>
            <a:srgbClr val="6E9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5468112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buNone/>
            </a:pPr>
            <a:r>
              <a:rPr sz="1700" b="0" i="0">
                <a:solidFill>
                  <a:srgbClr val="2A1D16"/>
                </a:solidFill>
                <a:latin typeface="Calibri"/>
              </a:rPr>
              <a:t>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449824"/>
            <a:ext cx="103327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buNone/>
            </a:pPr>
            <a:r>
              <a:rPr sz="1250" b="0" i="0">
                <a:solidFill>
                  <a:srgbClr val="FBF6EC"/>
                </a:solidFill>
                <a:latin typeface="Calibri"/>
              </a:rPr>
              <a:t>절삭은 결 방향(순결)을 따라야 매끄럽고, 휨가공은 증기휨·적층휨으로 곡선을 만들어요.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목재의 이해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buNone/>
            </a:pPr>
            <a:r>
              <a:rPr sz="900" b="0" i="0">
                <a:solidFill>
                  <a:srgbClr val="7A6A5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